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63" r:id="rId3"/>
    <p:sldId id="257" r:id="rId4"/>
    <p:sldId id="266" r:id="rId5"/>
    <p:sldId id="267" r:id="rId6"/>
    <p:sldId id="268" r:id="rId7"/>
    <p:sldId id="265" r:id="rId8"/>
    <p:sldId id="270" r:id="rId9"/>
    <p:sldId id="258" r:id="rId10"/>
    <p:sldId id="259" r:id="rId11"/>
    <p:sldId id="260" r:id="rId12"/>
    <p:sldId id="261" r:id="rId13"/>
    <p:sldId id="264" r:id="rId14"/>
    <p:sldId id="271" r:id="rId15"/>
    <p:sldId id="269" r:id="rId16"/>
    <p:sldId id="274" r:id="rId17"/>
    <p:sldId id="275" r:id="rId18"/>
    <p:sldId id="276" r:id="rId19"/>
    <p:sldId id="283" r:id="rId20"/>
    <p:sldId id="278" r:id="rId21"/>
    <p:sldId id="280" r:id="rId22"/>
    <p:sldId id="281" r:id="rId23"/>
    <p:sldId id="284" r:id="rId24"/>
    <p:sldId id="285" r:id="rId25"/>
    <p:sldId id="279" r:id="rId26"/>
    <p:sldId id="286" r:id="rId27"/>
    <p:sldId id="289" r:id="rId28"/>
    <p:sldId id="288" r:id="rId29"/>
    <p:sldId id="290" r:id="rId30"/>
    <p:sldId id="291" r:id="rId31"/>
    <p:sldId id="292" r:id="rId32"/>
    <p:sldId id="293" r:id="rId33"/>
    <p:sldId id="294" r:id="rId3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83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289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43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773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830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55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0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523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284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5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40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9/11/2025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3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B65DF-619F-97CD-138A-2D382CC9B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96" b="16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2F9B1C2-7D20-4F91-A660-197C98B9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39445"/>
            <a:ext cx="6114985" cy="229832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46DAC-55E7-0C61-F562-6744A953C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19" y="2100845"/>
            <a:ext cx="4670234" cy="1975527"/>
          </a:xfrm>
        </p:spPr>
        <p:txBody>
          <a:bodyPr anchor="ctr">
            <a:normAutofit/>
          </a:bodyPr>
          <a:lstStyle/>
          <a:p>
            <a:pPr algn="l"/>
            <a:r>
              <a:rPr lang="es-MX" sz="6600" dirty="0"/>
              <a:t>SPSS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9C4E6E-ECA4-40E5-A54E-13E92B678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4237771"/>
            <a:ext cx="6114982" cy="809351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C50E6-833E-3D7C-1CE0-08D45AB5A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19" y="4372379"/>
            <a:ext cx="4670233" cy="540135"/>
          </a:xfrm>
        </p:spPr>
        <p:txBody>
          <a:bodyPr anchor="ctr">
            <a:normAutofit/>
          </a:bodyPr>
          <a:lstStyle/>
          <a:p>
            <a:pPr algn="l">
              <a:lnSpc>
                <a:spcPct val="91000"/>
              </a:lnSpc>
            </a:pPr>
            <a:r>
              <a:rPr lang="es-MX" sz="900" dirty="0"/>
              <a:t>Tecnológico de Monterrey</a:t>
            </a:r>
          </a:p>
          <a:p>
            <a:pPr algn="l">
              <a:lnSpc>
                <a:spcPct val="91000"/>
              </a:lnSpc>
            </a:pPr>
            <a:r>
              <a:rPr lang="es-MX" sz="900" dirty="0"/>
              <a:t>EGADE Business </a:t>
            </a:r>
            <a:r>
              <a:rPr lang="es-MX" sz="900" dirty="0" err="1"/>
              <a:t>School</a:t>
            </a:r>
            <a:endParaRPr lang="es-MX" sz="900" dirty="0"/>
          </a:p>
        </p:txBody>
      </p:sp>
    </p:spTree>
    <p:extLst>
      <p:ext uri="{BB962C8B-B14F-4D97-AF65-F5344CB8AC3E}">
        <p14:creationId xmlns:p14="http://schemas.microsoft.com/office/powerpoint/2010/main" val="2617496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nside view of a red umbrella">
            <a:extLst>
              <a:ext uri="{FF2B5EF4-FFF2-40B4-BE49-F238E27FC236}">
                <a16:creationId xmlns:a16="http://schemas.microsoft.com/office/drawing/2014/main" id="{6C76D28E-31C3-82CC-A550-68F43B3CE9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65" b="786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2F9B1C2-7D20-4F91-A660-197C98B9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39445"/>
            <a:ext cx="6114985" cy="229832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98CDC0-1925-F951-8176-D9CB3A3E3EE2}"/>
              </a:ext>
            </a:extLst>
          </p:cNvPr>
          <p:cNvSpPr txBox="1"/>
          <p:nvPr/>
        </p:nvSpPr>
        <p:spPr>
          <a:xfrm>
            <a:off x="960119" y="2100845"/>
            <a:ext cx="4670234" cy="1975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cap="all" spc="120">
                <a:latin typeface="+mj-lt"/>
                <a:ea typeface="+mj-ea"/>
                <a:cs typeface="+mj-cs"/>
              </a:rPr>
              <a:t>Principles: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600" cap="all" spc="120">
              <a:latin typeface="+mj-lt"/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9C4E6E-ECA4-40E5-A54E-13E92B678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4237771"/>
            <a:ext cx="6114982" cy="809351"/>
          </a:xfrm>
          <a:prstGeom prst="rect">
            <a:avLst/>
          </a:prstGeom>
          <a:solidFill>
            <a:schemeClr val="tx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64F347-2029-AA7A-7A6F-C23E6537ED60}"/>
              </a:ext>
            </a:extLst>
          </p:cNvPr>
          <p:cNvSpPr txBox="1"/>
          <p:nvPr/>
        </p:nvSpPr>
        <p:spPr>
          <a:xfrm>
            <a:off x="6114984" y="1939445"/>
            <a:ext cx="57601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 err="1"/>
              <a:t>Customer</a:t>
            </a:r>
            <a:r>
              <a:rPr lang="es-MX" sz="1200" dirty="0"/>
              <a:t> produce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 err="1"/>
              <a:t>Patterns</a:t>
            </a:r>
            <a:r>
              <a:rPr lang="es-MX" sz="1200" dirty="0"/>
              <a:t> in </a:t>
            </a:r>
            <a:r>
              <a:rPr lang="es-MX" sz="1200" dirty="0" err="1"/>
              <a:t>customers</a:t>
            </a:r>
            <a:r>
              <a:rPr lang="es-MX" sz="1200" dirty="0"/>
              <a:t>’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3600" dirty="0" err="1"/>
              <a:t>All</a:t>
            </a:r>
            <a:r>
              <a:rPr lang="es-MX" sz="3600" dirty="0"/>
              <a:t>/</a:t>
            </a:r>
            <a:r>
              <a:rPr lang="es-MX" sz="3600" dirty="0" err="1"/>
              <a:t>some</a:t>
            </a:r>
            <a:r>
              <a:rPr lang="es-MX" sz="3600" dirty="0"/>
              <a:t> </a:t>
            </a:r>
            <a:r>
              <a:rPr lang="es-MX" sz="3600" dirty="0" err="1"/>
              <a:t>customers</a:t>
            </a:r>
            <a:r>
              <a:rPr lang="es-MX" sz="3600" dirty="0"/>
              <a:t>’ </a:t>
            </a:r>
            <a:r>
              <a:rPr lang="es-MX" sz="3600" dirty="0" err="1"/>
              <a:t>differ</a:t>
            </a:r>
            <a:endParaRPr lang="es-MX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dirty="0" err="1"/>
              <a:t>Customers</a:t>
            </a:r>
            <a:r>
              <a:rPr lang="es-MX" sz="1200" dirty="0"/>
              <a:t> are </a:t>
            </a:r>
            <a:r>
              <a:rPr lang="es-MX" sz="1200" dirty="0" err="1"/>
              <a:t>not</a:t>
            </a:r>
            <a:r>
              <a:rPr lang="es-MX" sz="1200" dirty="0"/>
              <a:t> </a:t>
            </a:r>
            <a:r>
              <a:rPr lang="es-MX" sz="1200" dirty="0" err="1"/>
              <a:t>irrational</a:t>
            </a:r>
            <a:r>
              <a:rPr lang="es-MX" sz="1200" dirty="0"/>
              <a:t>, </a:t>
            </a:r>
            <a:r>
              <a:rPr lang="es-MX" sz="1200" dirty="0" err="1"/>
              <a:t>but</a:t>
            </a:r>
            <a:r>
              <a:rPr lang="es-MX" sz="1200" dirty="0"/>
              <a:t> </a:t>
            </a:r>
            <a:r>
              <a:rPr lang="es-MX" sz="1200" dirty="0" err="1"/>
              <a:t>reasonable</a:t>
            </a:r>
            <a:endParaRPr lang="es-MX" sz="1200" dirty="0"/>
          </a:p>
        </p:txBody>
      </p:sp>
    </p:spTree>
    <p:extLst>
      <p:ext uri="{BB962C8B-B14F-4D97-AF65-F5344CB8AC3E}">
        <p14:creationId xmlns:p14="http://schemas.microsoft.com/office/powerpoint/2010/main" val="4217720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D9CC6-E0C3-7C77-FED4-60AFF2F4FA59}"/>
              </a:ext>
            </a:extLst>
          </p:cNvPr>
          <p:cNvSpPr txBox="1"/>
          <p:nvPr/>
        </p:nvSpPr>
        <p:spPr>
          <a:xfrm>
            <a:off x="960438" y="2587625"/>
            <a:ext cx="4500737" cy="3594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1000"/>
              </a:lnSpc>
              <a:spcAft>
                <a:spcPts val="600"/>
              </a:spcAft>
            </a:pPr>
            <a:r>
              <a:rPr lang="en-US" sz="4400" spc="50" dirty="0"/>
              <a:t>Compare means</a:t>
            </a:r>
          </a:p>
        </p:txBody>
      </p:sp>
      <p:pic>
        <p:nvPicPr>
          <p:cNvPr id="8" name="Picture 7" descr="White arrows painted on the asphalt">
            <a:extLst>
              <a:ext uri="{FF2B5EF4-FFF2-40B4-BE49-F238E27FC236}">
                <a16:creationId xmlns:a16="http://schemas.microsoft.com/office/drawing/2014/main" id="{AA5B51AD-BF4F-FC9B-81AD-21881AF6B7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29" r="21066" b="-1"/>
          <a:stretch>
            <a:fillRect/>
          </a:stretch>
        </p:blipFill>
        <p:spPr>
          <a:xfrm>
            <a:off x="6094474" y="10"/>
            <a:ext cx="609752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356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BD70-467B-0B4A-8C65-D02720DC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80057E-D2F4-596F-3EFD-D6F3E2C1768C}"/>
              </a:ext>
            </a:extLst>
          </p:cNvPr>
          <p:cNvSpPr txBox="1"/>
          <p:nvPr/>
        </p:nvSpPr>
        <p:spPr>
          <a:xfrm>
            <a:off x="4491990" y="2124640"/>
            <a:ext cx="74637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/>
              <a:t>For</a:t>
            </a:r>
            <a:r>
              <a:rPr lang="es-MX" sz="2000" dirty="0"/>
              <a:t> </a:t>
            </a:r>
            <a:r>
              <a:rPr lang="es-MX" sz="2000" dirty="0" err="1"/>
              <a:t>pricing</a:t>
            </a:r>
            <a:r>
              <a:rPr lang="es-MX" sz="2000" dirty="0"/>
              <a:t> </a:t>
            </a:r>
            <a:r>
              <a:rPr lang="es-MX" sz="2000" dirty="0" err="1"/>
              <a:t>strategies</a:t>
            </a:r>
            <a:r>
              <a:rPr lang="es-MX" sz="2000" dirty="0"/>
              <a:t>, Santa Fe Grill </a:t>
            </a:r>
            <a:r>
              <a:rPr lang="es-MX" sz="2000" dirty="0" err="1"/>
              <a:t>wants</a:t>
            </a:r>
            <a:r>
              <a:rPr lang="es-MX" sz="2000" dirty="0"/>
              <a:t> </a:t>
            </a:r>
            <a:r>
              <a:rPr lang="es-MX" sz="2000" dirty="0" err="1"/>
              <a:t>to</a:t>
            </a:r>
            <a:r>
              <a:rPr lang="es-MX" sz="2000" dirty="0"/>
              <a:t> </a:t>
            </a:r>
            <a:r>
              <a:rPr lang="es-MX" sz="2000" dirty="0" err="1"/>
              <a:t>know</a:t>
            </a:r>
            <a:r>
              <a:rPr lang="es-MX" sz="2000" dirty="0"/>
              <a:t> </a:t>
            </a:r>
            <a:r>
              <a:rPr lang="es-MX" sz="2000" dirty="0" err="1"/>
              <a:t>if</a:t>
            </a:r>
            <a:r>
              <a:rPr lang="es-MX" sz="2000" dirty="0"/>
              <a:t> </a:t>
            </a:r>
            <a:r>
              <a:rPr lang="es-MX" sz="2000" dirty="0" err="1"/>
              <a:t>their</a:t>
            </a:r>
            <a:r>
              <a:rPr lang="es-MX" sz="2000" dirty="0"/>
              <a:t> </a:t>
            </a:r>
            <a:r>
              <a:rPr lang="es-MX" sz="2000" dirty="0" err="1"/>
              <a:t>clients</a:t>
            </a:r>
            <a:r>
              <a:rPr lang="es-MX" sz="2000" dirty="0"/>
              <a:t> </a:t>
            </a:r>
            <a:r>
              <a:rPr lang="es-MX" sz="2000" dirty="0" err="1"/>
              <a:t>earn</a:t>
            </a:r>
            <a:r>
              <a:rPr lang="es-MX" sz="2000" dirty="0"/>
              <a:t> more tan 60,000 USD</a:t>
            </a:r>
          </a:p>
        </p:txBody>
      </p:sp>
      <p:pic>
        <p:nvPicPr>
          <p:cNvPr id="4" name="Picture 3" descr="A logo for a restaurant&#10;&#10;AI-generated content may be incorrect.">
            <a:extLst>
              <a:ext uri="{FF2B5EF4-FFF2-40B4-BE49-F238E27FC236}">
                <a16:creationId xmlns:a16="http://schemas.microsoft.com/office/drawing/2014/main" id="{BD7A06D9-711E-8A16-EF84-A9B0243D9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5" r="10660"/>
          <a:stretch>
            <a:fillRect/>
          </a:stretch>
        </p:blipFill>
        <p:spPr>
          <a:xfrm>
            <a:off x="1143000" y="470297"/>
            <a:ext cx="345186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4A5BA0B-2553-5872-1B99-532893BB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67" y="2042919"/>
            <a:ext cx="9069066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765215-08E3-EA3D-2C1F-9DCCD1EEAC82}"/>
              </a:ext>
            </a:extLst>
          </p:cNvPr>
          <p:cNvSpPr txBox="1"/>
          <p:nvPr/>
        </p:nvSpPr>
        <p:spPr>
          <a:xfrm>
            <a:off x="4791802" y="1371600"/>
            <a:ext cx="2527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err="1">
                <a:latin typeface="Helvetica" panose="020B0604020202020204" pitchFamily="34" charset="0"/>
                <a:cs typeface="Helvetica" panose="020B0604020202020204" pitchFamily="34" charset="0"/>
              </a:rPr>
              <a:t>Income</a:t>
            </a:r>
            <a:endParaRPr lang="es-MX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es-MX" dirty="0">
                <a:latin typeface="Helvetica" panose="020B0604020202020204" pitchFamily="34" charset="0"/>
                <a:cs typeface="Helvetica" panose="020B0604020202020204" pitchFamily="34" charset="0"/>
              </a:rPr>
              <a:t>Santa Fe </a:t>
            </a:r>
            <a:r>
              <a:rPr lang="es-MX" dirty="0" err="1">
                <a:latin typeface="Helvetica" panose="020B0604020202020204" pitchFamily="34" charset="0"/>
                <a:cs typeface="Helvetica" panose="020B0604020202020204" pitchFamily="34" charset="0"/>
              </a:rPr>
              <a:t>Grill’s</a:t>
            </a:r>
            <a:r>
              <a:rPr lang="es-MX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MX" dirty="0" err="1">
                <a:latin typeface="Helvetica" panose="020B0604020202020204" pitchFamily="34" charset="0"/>
                <a:cs typeface="Helvetica" panose="020B0604020202020204" pitchFamily="34" charset="0"/>
              </a:rPr>
              <a:t>Clients</a:t>
            </a:r>
            <a:endParaRPr lang="es-MX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AEB67-635B-AB04-166F-2F1A6F4A86E4}"/>
              </a:ext>
            </a:extLst>
          </p:cNvPr>
          <p:cNvSpPr txBox="1"/>
          <p:nvPr/>
        </p:nvSpPr>
        <p:spPr>
          <a:xfrm rot="16200000">
            <a:off x="862076" y="2892087"/>
            <a:ext cx="10294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Frequency</a:t>
            </a:r>
            <a:endParaRPr lang="es-MX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CDF226-0D53-9E8C-3C2F-DC0696B2CCDC}"/>
              </a:ext>
            </a:extLst>
          </p:cNvPr>
          <p:cNvCxnSpPr/>
          <p:nvPr/>
        </p:nvCxnSpPr>
        <p:spPr>
          <a:xfrm flipV="1">
            <a:off x="4069080" y="1725930"/>
            <a:ext cx="0" cy="283464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D1D4DC-F066-F65C-6D96-7D3986A62D4D}"/>
              </a:ext>
            </a:extLst>
          </p:cNvPr>
          <p:cNvSpPr txBox="1"/>
          <p:nvPr/>
        </p:nvSpPr>
        <p:spPr>
          <a:xfrm>
            <a:off x="3373216" y="4560570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60,000 USD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191A1-D792-5859-668D-69C47CABB1CE}"/>
              </a:ext>
            </a:extLst>
          </p:cNvPr>
          <p:cNvSpPr txBox="1"/>
          <p:nvPr/>
        </p:nvSpPr>
        <p:spPr>
          <a:xfrm>
            <a:off x="468630" y="258425"/>
            <a:ext cx="78966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Do </a:t>
            </a:r>
            <a:r>
              <a:rPr lang="es-MX" sz="2400" dirty="0" err="1"/>
              <a:t>their</a:t>
            </a:r>
            <a:r>
              <a:rPr lang="es-MX" sz="2400" dirty="0"/>
              <a:t> </a:t>
            </a:r>
            <a:r>
              <a:rPr lang="es-MX" sz="2400" dirty="0" err="1"/>
              <a:t>client’s</a:t>
            </a:r>
            <a:r>
              <a:rPr lang="es-MX" sz="2400" dirty="0"/>
              <a:t> </a:t>
            </a:r>
            <a:r>
              <a:rPr lang="es-MX" sz="2400" dirty="0" err="1"/>
              <a:t>earn</a:t>
            </a:r>
            <a:r>
              <a:rPr lang="es-MX" sz="2400" dirty="0"/>
              <a:t>, </a:t>
            </a:r>
            <a:r>
              <a:rPr lang="es-MX" sz="2400" dirty="0" err="1"/>
              <a:t>on</a:t>
            </a:r>
            <a:r>
              <a:rPr lang="es-MX" sz="2400" dirty="0"/>
              <a:t> </a:t>
            </a:r>
            <a:r>
              <a:rPr lang="es-MX" sz="2400" dirty="0" err="1"/>
              <a:t>average</a:t>
            </a:r>
            <a:r>
              <a:rPr lang="es-MX" sz="2400" dirty="0"/>
              <a:t>, more </a:t>
            </a:r>
            <a:r>
              <a:rPr lang="es-MX" sz="2400" dirty="0" err="1"/>
              <a:t>than</a:t>
            </a:r>
            <a:r>
              <a:rPr lang="es-MX" sz="2400" dirty="0"/>
              <a:t> 60,000 USD?</a:t>
            </a:r>
          </a:p>
          <a:p>
            <a:r>
              <a:rPr lang="es-MX" sz="2400" dirty="0" err="1"/>
              <a:t>Hard</a:t>
            </a:r>
            <a:r>
              <a:rPr lang="es-MX" sz="2400" dirty="0"/>
              <a:t> </a:t>
            </a:r>
            <a:r>
              <a:rPr lang="es-MX" sz="2400" dirty="0" err="1"/>
              <a:t>to</a:t>
            </a:r>
            <a:r>
              <a:rPr lang="es-MX" sz="2400" dirty="0"/>
              <a:t> </a:t>
            </a:r>
            <a:r>
              <a:rPr lang="es-MX" sz="2400" dirty="0" err="1"/>
              <a:t>tell</a:t>
            </a:r>
            <a:r>
              <a:rPr lang="es-MX" sz="2400" dirty="0"/>
              <a:t>, </a:t>
            </a:r>
            <a:r>
              <a:rPr lang="es-MX" sz="2400" dirty="0" err="1"/>
              <a:t>too</a:t>
            </a:r>
            <a:r>
              <a:rPr lang="es-MX" sz="2400" dirty="0"/>
              <a:t> </a:t>
            </a:r>
            <a:r>
              <a:rPr lang="es-MX" sz="2400" dirty="0" err="1"/>
              <a:t>noisy</a:t>
            </a:r>
            <a:r>
              <a:rPr lang="es-MX" sz="2400" dirty="0"/>
              <a:t> …</a:t>
            </a:r>
          </a:p>
          <a:p>
            <a:r>
              <a:rPr lang="es-MX" sz="2400" dirty="0"/>
              <a:t>… </a:t>
            </a:r>
            <a:r>
              <a:rPr lang="es-MX" sz="2400" dirty="0" err="1"/>
              <a:t>we</a:t>
            </a:r>
            <a:r>
              <a:rPr lang="es-MX" sz="2400" dirty="0"/>
              <a:t> </a:t>
            </a:r>
            <a:r>
              <a:rPr lang="es-MX" sz="2400" dirty="0" err="1"/>
              <a:t>need</a:t>
            </a:r>
            <a:r>
              <a:rPr lang="es-MX" sz="2400" dirty="0"/>
              <a:t> </a:t>
            </a:r>
            <a:r>
              <a:rPr lang="es-MX" sz="2400" dirty="0" err="1"/>
              <a:t>stats</a:t>
            </a:r>
            <a:r>
              <a:rPr lang="es-MX" sz="2400" dirty="0"/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3CCE4-315B-B2CE-BFAB-CB282B442081}"/>
              </a:ext>
            </a:extLst>
          </p:cNvPr>
          <p:cNvSpPr txBox="1"/>
          <p:nvPr/>
        </p:nvSpPr>
        <p:spPr>
          <a:xfrm>
            <a:off x="0" y="6087878"/>
            <a:ext cx="284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Note:</a:t>
            </a:r>
          </a:p>
          <a:p>
            <a:r>
              <a:rPr lang="es-MX" dirty="0"/>
              <a:t>No </a:t>
            </a:r>
            <a:r>
              <a:rPr lang="es-MX" dirty="0" err="1"/>
              <a:t>outliers</a:t>
            </a:r>
            <a:r>
              <a:rPr lang="es-MX" dirty="0"/>
              <a:t>: &gt;300,000 USD</a:t>
            </a:r>
          </a:p>
        </p:txBody>
      </p:sp>
    </p:spTree>
    <p:extLst>
      <p:ext uri="{BB962C8B-B14F-4D97-AF65-F5344CB8AC3E}">
        <p14:creationId xmlns:p14="http://schemas.microsoft.com/office/powerpoint/2010/main" val="162680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B4A11-46D4-EE93-CA84-EFC206593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84" b="128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4823F-DD4D-C801-D8A7-9E91F2B59741}"/>
              </a:ext>
            </a:extLst>
          </p:cNvPr>
          <p:cNvSpPr txBox="1"/>
          <p:nvPr/>
        </p:nvSpPr>
        <p:spPr>
          <a:xfrm>
            <a:off x="961644" y="4675366"/>
            <a:ext cx="10268712" cy="8462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cap="all" spc="1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 SPSS: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cap="all" spc="1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Data-&gt;Select cases-&gt; if condition met -&gt; x35&lt;300,000 and x_s4 = </a:t>
            </a:r>
            <a:r>
              <a:rPr lang="en-US" sz="2600" cap="all" spc="12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santa</a:t>
            </a:r>
            <a:r>
              <a:rPr lang="en-US" sz="2600" cap="all" spc="1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Fe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cap="all" spc="1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Analyze -&gt; Compare Means and Proportions -&gt; One-Sample T Test …</a:t>
            </a:r>
          </a:p>
        </p:txBody>
      </p:sp>
    </p:spTree>
    <p:extLst>
      <p:ext uri="{BB962C8B-B14F-4D97-AF65-F5344CB8AC3E}">
        <p14:creationId xmlns:p14="http://schemas.microsoft.com/office/powerpoint/2010/main" val="379399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02E103-7777-29EA-C755-C5892A05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7" y="879262"/>
            <a:ext cx="10498084" cy="3391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B33497-DD26-1067-9BC2-E16A6DE82FA5}"/>
              </a:ext>
            </a:extLst>
          </p:cNvPr>
          <p:cNvSpPr txBox="1"/>
          <p:nvPr/>
        </p:nvSpPr>
        <p:spPr>
          <a:xfrm>
            <a:off x="6534977" y="1391478"/>
            <a:ext cx="5961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No! </a:t>
            </a:r>
            <a:r>
              <a:rPr lang="es-MX" sz="2400" dirty="0" err="1"/>
              <a:t>They</a:t>
            </a:r>
            <a:r>
              <a:rPr lang="es-MX" sz="2400" dirty="0"/>
              <a:t> do </a:t>
            </a:r>
            <a:r>
              <a:rPr lang="es-MX" sz="2400" dirty="0" err="1"/>
              <a:t>not</a:t>
            </a:r>
            <a:r>
              <a:rPr lang="es-MX" sz="2400" dirty="0"/>
              <a:t> </a:t>
            </a:r>
            <a:r>
              <a:rPr lang="es-MX" sz="2400" dirty="0" err="1"/>
              <a:t>earn</a:t>
            </a:r>
            <a:r>
              <a:rPr lang="es-MX" sz="2400" dirty="0"/>
              <a:t> more </a:t>
            </a:r>
            <a:r>
              <a:rPr lang="es-MX" sz="2400" dirty="0" err="1"/>
              <a:t>than</a:t>
            </a:r>
            <a:r>
              <a:rPr lang="es-MX" sz="2400" dirty="0"/>
              <a:t> 60,000 USD … </a:t>
            </a:r>
            <a:r>
              <a:rPr lang="es-MX" sz="2400" dirty="0" err="1"/>
              <a:t>see</a:t>
            </a:r>
            <a:r>
              <a:rPr lang="es-MX" sz="2400" dirty="0"/>
              <a:t> p </a:t>
            </a:r>
            <a:r>
              <a:rPr lang="es-MX" sz="2400" dirty="0" err="1"/>
              <a:t>value</a:t>
            </a: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091351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EC943-BA16-F6C8-6B3C-1B7F8548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AF49B7E-84C0-0D56-C641-BD5BCC40D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1449D99-455C-A6DF-0AAF-2687803B6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A7B7E1-32A9-6CE5-A649-316991D1A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4" name="Picture 3" descr="Binoculars looking out on island lighthouse">
            <a:extLst>
              <a:ext uri="{FF2B5EF4-FFF2-40B4-BE49-F238E27FC236}">
                <a16:creationId xmlns:a16="http://schemas.microsoft.com/office/drawing/2014/main" id="{4134FA47-666F-331E-2CD5-7B2E84BFB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7" r="26822" b="-1"/>
          <a:stretch>
            <a:fillRect/>
          </a:stretch>
        </p:blipFill>
        <p:spPr>
          <a:xfrm>
            <a:off x="20" y="10"/>
            <a:ext cx="4657324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5FFDCE-3CC7-A158-5144-3B4484C623C3}"/>
              </a:ext>
            </a:extLst>
          </p:cNvPr>
          <p:cNvSpPr txBox="1"/>
          <p:nvPr/>
        </p:nvSpPr>
        <p:spPr>
          <a:xfrm>
            <a:off x="5300810" y="2587624"/>
            <a:ext cx="6700690" cy="38931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Task 4</a:t>
            </a: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Imagine some Chief Marketing Office, without statistics, said that indeed the clients earned more than 60,000 USD, because “I have 30 years of experience”.</a:t>
            </a: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pc="50" dirty="0">
              <a:solidFill>
                <a:prstClr val="black"/>
              </a:solidFill>
              <a:latin typeface="Franklin Gothic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List a potential list of consequences for pricing strategies, and their positive or negative effects on Santa Fe grill, when the statistical reality is not &gt;60,000 USD.</a:t>
            </a: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pc="50" dirty="0">
              <a:solidFill>
                <a:prstClr val="black"/>
              </a:solidFill>
              <a:latin typeface="Franklin Gothic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Your answer (in-person):</a:t>
            </a: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Your AI agent answer: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75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137C15-6DA0-6326-575F-BF06A6CC8D41}"/>
              </a:ext>
            </a:extLst>
          </p:cNvPr>
          <p:cNvSpPr txBox="1"/>
          <p:nvPr/>
        </p:nvSpPr>
        <p:spPr>
          <a:xfrm>
            <a:off x="4594860" y="1444044"/>
            <a:ext cx="75516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/>
              <a:t>For</a:t>
            </a:r>
            <a:r>
              <a:rPr lang="es-MX" sz="2000" dirty="0"/>
              <a:t> marketing </a:t>
            </a:r>
            <a:r>
              <a:rPr lang="es-MX" sz="2000" dirty="0" err="1"/>
              <a:t>strategies</a:t>
            </a:r>
            <a:r>
              <a:rPr lang="es-MX" sz="2000" dirty="0"/>
              <a:t>, Santa Fe Grill </a:t>
            </a:r>
            <a:r>
              <a:rPr lang="es-MX" sz="2000" dirty="0" err="1"/>
              <a:t>wants</a:t>
            </a:r>
            <a:r>
              <a:rPr lang="es-MX" sz="2000" dirty="0"/>
              <a:t> </a:t>
            </a:r>
            <a:r>
              <a:rPr lang="es-MX" sz="2000" dirty="0" err="1"/>
              <a:t>to</a:t>
            </a:r>
            <a:r>
              <a:rPr lang="es-MX" sz="2000" dirty="0"/>
              <a:t> compare </a:t>
            </a:r>
            <a:r>
              <a:rPr lang="es-MX" sz="2000" dirty="0" err="1"/>
              <a:t>their</a:t>
            </a:r>
            <a:r>
              <a:rPr lang="es-MX" sz="2000" dirty="0"/>
              <a:t> </a:t>
            </a:r>
            <a:r>
              <a:rPr lang="es-MX" sz="2000" dirty="0" err="1"/>
              <a:t>clients</a:t>
            </a:r>
            <a:r>
              <a:rPr lang="es-MX" sz="2000" dirty="0"/>
              <a:t> </a:t>
            </a:r>
            <a:r>
              <a:rPr lang="es-MX" sz="2000" dirty="0" err="1"/>
              <a:t>to</a:t>
            </a:r>
            <a:r>
              <a:rPr lang="es-MX" sz="2000" dirty="0"/>
              <a:t> </a:t>
            </a:r>
            <a:r>
              <a:rPr lang="es-MX" sz="2000" dirty="0" err="1"/>
              <a:t>the</a:t>
            </a:r>
            <a:r>
              <a:rPr lang="es-MX" sz="2000" dirty="0"/>
              <a:t> </a:t>
            </a:r>
            <a:r>
              <a:rPr lang="es-MX" sz="2000" dirty="0" err="1"/>
              <a:t>competition</a:t>
            </a:r>
            <a:endParaRPr lang="es-MX" sz="2000" dirty="0"/>
          </a:p>
          <a:p>
            <a:endParaRPr lang="es-MX" sz="2000" dirty="0"/>
          </a:p>
          <a:p>
            <a:r>
              <a:rPr lang="es-MX" sz="2000" dirty="0" err="1"/>
              <a:t>Let’s</a:t>
            </a:r>
            <a:r>
              <a:rPr lang="es-MX" sz="2000" dirty="0"/>
              <a:t> </a:t>
            </a:r>
            <a:r>
              <a:rPr lang="es-MX" sz="2000" dirty="0" err="1"/>
              <a:t>check</a:t>
            </a:r>
            <a:r>
              <a:rPr lang="es-MX" sz="2000" dirty="0"/>
              <a:t> </a:t>
            </a:r>
            <a:r>
              <a:rPr lang="es-MX" sz="2000" dirty="0" err="1"/>
              <a:t>income</a:t>
            </a:r>
            <a:endParaRPr lang="es-MX" sz="2000" dirty="0"/>
          </a:p>
        </p:txBody>
      </p:sp>
      <p:pic>
        <p:nvPicPr>
          <p:cNvPr id="4" name="Picture 3" descr="A logo for a restaurant&#10;&#10;AI-generated content may be incorrect.">
            <a:extLst>
              <a:ext uri="{FF2B5EF4-FFF2-40B4-BE49-F238E27FC236}">
                <a16:creationId xmlns:a16="http://schemas.microsoft.com/office/drawing/2014/main" id="{D83D5CF6-F3B6-4076-1FF6-1070DDC9A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5" r="10660"/>
          <a:stretch>
            <a:fillRect/>
          </a:stretch>
        </p:blipFill>
        <p:spPr>
          <a:xfrm>
            <a:off x="1143000" y="470297"/>
            <a:ext cx="3451860" cy="4324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474064-CA5A-A0FC-6CC5-D507C6CFB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47" y="2877879"/>
            <a:ext cx="5863590" cy="172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23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A402B8-E0ED-DD68-0781-DD945ACB6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16" y="452038"/>
            <a:ext cx="9793067" cy="57253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A4CF23-74B7-4D74-997C-B94BABE132C1}"/>
              </a:ext>
            </a:extLst>
          </p:cNvPr>
          <p:cNvSpPr txBox="1"/>
          <p:nvPr/>
        </p:nvSpPr>
        <p:spPr>
          <a:xfrm>
            <a:off x="84249" y="95922"/>
            <a:ext cx="33463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Clear </a:t>
            </a:r>
            <a:r>
              <a:rPr lang="es-MX" sz="2400" dirty="0" err="1"/>
              <a:t>difference</a:t>
            </a:r>
            <a:r>
              <a:rPr lang="es-MX" sz="2400" dirty="0"/>
              <a:t>?</a:t>
            </a:r>
          </a:p>
          <a:p>
            <a:r>
              <a:rPr lang="es-MX" sz="2400" dirty="0" err="1"/>
              <a:t>Hard</a:t>
            </a:r>
            <a:r>
              <a:rPr lang="es-MX" sz="2400" dirty="0"/>
              <a:t> </a:t>
            </a:r>
            <a:r>
              <a:rPr lang="es-MX" sz="2400" dirty="0" err="1"/>
              <a:t>to</a:t>
            </a:r>
            <a:r>
              <a:rPr lang="es-MX" sz="2400" dirty="0"/>
              <a:t> </a:t>
            </a:r>
            <a:r>
              <a:rPr lang="es-MX" sz="2400" dirty="0" err="1"/>
              <a:t>tell</a:t>
            </a:r>
            <a:r>
              <a:rPr lang="es-MX" sz="2400" dirty="0"/>
              <a:t>, </a:t>
            </a:r>
            <a:r>
              <a:rPr lang="es-MX" sz="2400" dirty="0" err="1"/>
              <a:t>too</a:t>
            </a:r>
            <a:r>
              <a:rPr lang="es-MX" sz="2400" dirty="0"/>
              <a:t> </a:t>
            </a:r>
            <a:r>
              <a:rPr lang="es-MX" sz="2400" dirty="0" err="1"/>
              <a:t>noisy</a:t>
            </a:r>
            <a:r>
              <a:rPr lang="es-MX" sz="2400" dirty="0"/>
              <a:t> … </a:t>
            </a:r>
          </a:p>
          <a:p>
            <a:r>
              <a:rPr lang="es-MX" sz="2400" dirty="0"/>
              <a:t>… </a:t>
            </a:r>
            <a:r>
              <a:rPr lang="es-MX" sz="2400" dirty="0" err="1"/>
              <a:t>we</a:t>
            </a:r>
            <a:r>
              <a:rPr lang="es-MX" sz="2400" dirty="0"/>
              <a:t> </a:t>
            </a:r>
            <a:r>
              <a:rPr lang="es-MX" sz="2400" dirty="0" err="1"/>
              <a:t>need</a:t>
            </a:r>
            <a:r>
              <a:rPr lang="es-MX" sz="2400" dirty="0"/>
              <a:t> </a:t>
            </a:r>
            <a:r>
              <a:rPr lang="es-MX" sz="2400" dirty="0" err="1"/>
              <a:t>Stats</a:t>
            </a:r>
            <a:r>
              <a:rPr lang="es-MX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96256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F5501B-DE42-A4CE-BE39-A4F4AA5B9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9BBD51-7D67-5CA7-C099-4E7DC7307C09}"/>
              </a:ext>
            </a:extLst>
          </p:cNvPr>
          <p:cNvSpPr txBox="1"/>
          <p:nvPr/>
        </p:nvSpPr>
        <p:spPr>
          <a:xfrm>
            <a:off x="961644" y="4675366"/>
            <a:ext cx="10765536" cy="8462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cap="all" spc="1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MAKE FAVORITE MEXICAN RESTAURANT A NOMINAL VARIABLE. THEN Do …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600" cap="all" spc="12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cap="all" spc="1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 SPSS: Analyze -&gt; Compare Means and Proportions -&gt; Independent Samples T Test …</a:t>
            </a:r>
          </a:p>
        </p:txBody>
      </p:sp>
    </p:spTree>
    <p:extLst>
      <p:ext uri="{BB962C8B-B14F-4D97-AF65-F5344CB8AC3E}">
        <p14:creationId xmlns:p14="http://schemas.microsoft.com/office/powerpoint/2010/main" val="196217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945440-E67D-B720-A668-91552CD69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72" y="1068621"/>
            <a:ext cx="8211696" cy="1200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0BE538-33FC-9699-E125-7B65DD86A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72" y="2438262"/>
            <a:ext cx="5306165" cy="990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B9601D-B2AA-753E-2155-979047503072}"/>
              </a:ext>
            </a:extLst>
          </p:cNvPr>
          <p:cNvSpPr txBox="1"/>
          <p:nvPr/>
        </p:nvSpPr>
        <p:spPr>
          <a:xfrm>
            <a:off x="537210" y="342900"/>
            <a:ext cx="714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The</a:t>
            </a:r>
            <a:r>
              <a:rPr lang="es-MX" dirty="0"/>
              <a:t> test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significant</a:t>
            </a:r>
            <a:r>
              <a:rPr lang="es-MX" dirty="0"/>
              <a:t> (p&lt;0.05)  … </a:t>
            </a:r>
            <a:r>
              <a:rPr lang="es-MX" dirty="0" err="1"/>
              <a:t>Clients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competition</a:t>
            </a:r>
            <a:r>
              <a:rPr lang="es-MX" dirty="0"/>
              <a:t> </a:t>
            </a:r>
            <a:r>
              <a:rPr lang="es-MX" dirty="0" err="1"/>
              <a:t>earn</a:t>
            </a:r>
            <a:r>
              <a:rPr lang="es-MX" dirty="0"/>
              <a:t> more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54EBD3-48B3-A100-F7DA-C21BC17FBE10}"/>
              </a:ext>
            </a:extLst>
          </p:cNvPr>
          <p:cNvCxnSpPr/>
          <p:nvPr/>
        </p:nvCxnSpPr>
        <p:spPr>
          <a:xfrm flipH="1" flipV="1">
            <a:off x="2926080" y="651510"/>
            <a:ext cx="1131570" cy="914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3A8484-5DE1-5090-0B32-3DD3E9D441E3}"/>
              </a:ext>
            </a:extLst>
          </p:cNvPr>
          <p:cNvCxnSpPr/>
          <p:nvPr/>
        </p:nvCxnSpPr>
        <p:spPr>
          <a:xfrm flipH="1" flipV="1">
            <a:off x="4998720" y="3474720"/>
            <a:ext cx="1131570" cy="914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B067654-C524-57D8-ABD6-E63DFFBFD40F}"/>
              </a:ext>
            </a:extLst>
          </p:cNvPr>
          <p:cNvSpPr txBox="1"/>
          <p:nvPr/>
        </p:nvSpPr>
        <p:spPr>
          <a:xfrm>
            <a:off x="6096000" y="4235072"/>
            <a:ext cx="4981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effect</a:t>
            </a:r>
            <a:r>
              <a:rPr lang="es-MX" dirty="0"/>
              <a:t> </a:t>
            </a:r>
            <a:r>
              <a:rPr lang="es-MX" dirty="0" err="1"/>
              <a:t>size</a:t>
            </a:r>
            <a:r>
              <a:rPr lang="es-MX" dirty="0"/>
              <a:t> </a:t>
            </a:r>
            <a:r>
              <a:rPr lang="es-MX" dirty="0" err="1"/>
              <a:t>is</a:t>
            </a:r>
            <a:r>
              <a:rPr lang="es-MX" dirty="0"/>
              <a:t> </a:t>
            </a:r>
            <a:r>
              <a:rPr lang="es-MX" dirty="0" err="1"/>
              <a:t>small</a:t>
            </a:r>
            <a:r>
              <a:rPr lang="es-MX" dirty="0"/>
              <a:t> … </a:t>
            </a:r>
            <a:r>
              <a:rPr lang="es-MX" dirty="0" err="1"/>
              <a:t>but</a:t>
            </a:r>
            <a:r>
              <a:rPr lang="es-MX" dirty="0"/>
              <a:t> </a:t>
            </a:r>
            <a:r>
              <a:rPr lang="es-MX" dirty="0" err="1"/>
              <a:t>not</a:t>
            </a:r>
            <a:r>
              <a:rPr lang="es-MX" dirty="0"/>
              <a:t> </a:t>
            </a:r>
            <a:r>
              <a:rPr lang="es-MX" dirty="0" err="1"/>
              <a:t>too</a:t>
            </a:r>
            <a:r>
              <a:rPr lang="es-MX" dirty="0"/>
              <a:t> </a:t>
            </a:r>
            <a:r>
              <a:rPr lang="es-MX" dirty="0" err="1"/>
              <a:t>much</a:t>
            </a:r>
            <a:r>
              <a:rPr lang="es-MX" dirty="0"/>
              <a:t> more</a:t>
            </a:r>
          </a:p>
        </p:txBody>
      </p:sp>
    </p:spTree>
    <p:extLst>
      <p:ext uri="{BB962C8B-B14F-4D97-AF65-F5344CB8AC3E}">
        <p14:creationId xmlns:p14="http://schemas.microsoft.com/office/powerpoint/2010/main" val="2884809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5EFA61-F0F8-4F4A-B750-81EE924F1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inoculars looking out on island lighthouse">
            <a:extLst>
              <a:ext uri="{FF2B5EF4-FFF2-40B4-BE49-F238E27FC236}">
                <a16:creationId xmlns:a16="http://schemas.microsoft.com/office/drawing/2014/main" id="{21EA32B1-2BA4-701F-D330-B9A4F17D55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7" r="26822" b="-1"/>
          <a:stretch>
            <a:fillRect/>
          </a:stretch>
        </p:blipFill>
        <p:spPr>
          <a:xfrm>
            <a:off x="20" y="10"/>
            <a:ext cx="4657324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331597-CB57-4E4C-8AC1-1BDA98ECF72F}"/>
              </a:ext>
            </a:extLst>
          </p:cNvPr>
          <p:cNvSpPr txBox="1"/>
          <p:nvPr/>
        </p:nvSpPr>
        <p:spPr>
          <a:xfrm>
            <a:off x="5300810" y="2587625"/>
            <a:ext cx="5927577" cy="35941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1000"/>
              </a:lnSpc>
              <a:spcAft>
                <a:spcPts val="600"/>
              </a:spcAft>
            </a:pPr>
            <a:r>
              <a:rPr lang="en-US" sz="2400" spc="50" dirty="0"/>
              <a:t>Task 5</a:t>
            </a:r>
            <a:endParaRPr lang="en-US" spc="50" dirty="0"/>
          </a:p>
          <a:p>
            <a:pPr>
              <a:lnSpc>
                <a:spcPct val="101000"/>
              </a:lnSpc>
              <a:spcAft>
                <a:spcPts val="600"/>
              </a:spcAft>
            </a:pPr>
            <a:r>
              <a:rPr lang="en-US" spc="50" dirty="0"/>
              <a:t>In SPSS, compare clients from both restaurants on their mean response on three other questions you find interesting (not income). Use a t-test for independent samples.</a:t>
            </a:r>
          </a:p>
          <a:p>
            <a:pPr>
              <a:lnSpc>
                <a:spcPct val="101000"/>
              </a:lnSpc>
              <a:spcAft>
                <a:spcPts val="600"/>
              </a:spcAft>
            </a:pPr>
            <a:endParaRPr lang="en-US" spc="50" dirty="0"/>
          </a:p>
          <a:p>
            <a:pPr>
              <a:lnSpc>
                <a:spcPct val="101000"/>
              </a:lnSpc>
              <a:spcAft>
                <a:spcPts val="600"/>
              </a:spcAft>
            </a:pPr>
            <a:r>
              <a:rPr lang="en-US" spc="50" dirty="0"/>
              <a:t>Interpret the results. The p value, the effect size, and the direction of the effect</a:t>
            </a:r>
          </a:p>
          <a:p>
            <a:pPr>
              <a:lnSpc>
                <a:spcPct val="101000"/>
              </a:lnSpc>
              <a:spcAft>
                <a:spcPts val="600"/>
              </a:spcAft>
            </a:pPr>
            <a:endParaRPr lang="en-US" spc="50" dirty="0"/>
          </a:p>
          <a:p>
            <a:r>
              <a:rPr lang="en-US" dirty="0"/>
              <a:t>Your answer (in-person):</a:t>
            </a:r>
          </a:p>
          <a:p>
            <a:endParaRPr lang="en-US" dirty="0"/>
          </a:p>
          <a:p>
            <a:r>
              <a:rPr lang="en-US" dirty="0"/>
              <a:t>Your AI agent answer:</a:t>
            </a:r>
            <a:endParaRPr lang="en-US" spc="50" dirty="0"/>
          </a:p>
          <a:p>
            <a:pPr marL="342900" indent="-342900">
              <a:lnSpc>
                <a:spcPct val="101000"/>
              </a:lnSpc>
              <a:spcAft>
                <a:spcPts val="600"/>
              </a:spcAft>
              <a:buAutoNum type="arabicParenR"/>
            </a:pPr>
            <a:endParaRPr lang="en-US" spc="50" dirty="0"/>
          </a:p>
        </p:txBody>
      </p:sp>
    </p:spTree>
    <p:extLst>
      <p:ext uri="{BB962C8B-B14F-4D97-AF65-F5344CB8AC3E}">
        <p14:creationId xmlns:p14="http://schemas.microsoft.com/office/powerpoint/2010/main" val="1712835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3F1C-A8AC-8920-B55E-089FD4F3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9A7E79-F5A4-19C6-2EF9-F0EE027AB32D}"/>
              </a:ext>
            </a:extLst>
          </p:cNvPr>
          <p:cNvSpPr txBox="1"/>
          <p:nvPr/>
        </p:nvSpPr>
        <p:spPr>
          <a:xfrm>
            <a:off x="4640379" y="2198424"/>
            <a:ext cx="7551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/>
              <a:t>For</a:t>
            </a:r>
            <a:r>
              <a:rPr lang="es-MX" sz="2000" dirty="0"/>
              <a:t> </a:t>
            </a:r>
            <a:r>
              <a:rPr lang="es-MX" sz="2000" dirty="0" err="1"/>
              <a:t>family</a:t>
            </a:r>
            <a:r>
              <a:rPr lang="es-MX" sz="2000" dirty="0"/>
              <a:t> marketing </a:t>
            </a:r>
            <a:r>
              <a:rPr lang="es-MX" sz="2000" dirty="0" err="1"/>
              <a:t>strategies</a:t>
            </a:r>
            <a:r>
              <a:rPr lang="es-MX" sz="2000" dirty="0"/>
              <a:t>, Santa Fe Grill </a:t>
            </a:r>
            <a:r>
              <a:rPr lang="es-MX" sz="2000" dirty="0" err="1"/>
              <a:t>wants</a:t>
            </a:r>
            <a:r>
              <a:rPr lang="es-MX" sz="2000" dirty="0"/>
              <a:t> </a:t>
            </a:r>
            <a:r>
              <a:rPr lang="es-MX" sz="2000" dirty="0" err="1"/>
              <a:t>to</a:t>
            </a:r>
            <a:r>
              <a:rPr lang="es-MX" sz="2000" dirty="0"/>
              <a:t> </a:t>
            </a:r>
            <a:r>
              <a:rPr lang="es-MX" sz="2000" dirty="0" err="1"/>
              <a:t>see</a:t>
            </a:r>
            <a:r>
              <a:rPr lang="es-MX" sz="2000" dirty="0"/>
              <a:t> </a:t>
            </a:r>
            <a:r>
              <a:rPr lang="es-MX" sz="2000" dirty="0" err="1"/>
              <a:t>satisfaction</a:t>
            </a:r>
            <a:r>
              <a:rPr lang="es-MX" sz="2000" dirty="0"/>
              <a:t> </a:t>
            </a:r>
            <a:r>
              <a:rPr lang="es-MX" sz="2000" dirty="0" err="1"/>
              <a:t>of</a:t>
            </a:r>
            <a:r>
              <a:rPr lang="es-MX" sz="2000" dirty="0"/>
              <a:t> </a:t>
            </a:r>
            <a:r>
              <a:rPr lang="es-MX" sz="2000" dirty="0" err="1"/>
              <a:t>different</a:t>
            </a:r>
            <a:r>
              <a:rPr lang="es-MX" sz="2000" dirty="0"/>
              <a:t> </a:t>
            </a:r>
            <a:r>
              <a:rPr lang="es-MX" sz="2000" dirty="0" err="1"/>
              <a:t>family</a:t>
            </a:r>
            <a:r>
              <a:rPr lang="es-MX" sz="2000" dirty="0"/>
              <a:t> </a:t>
            </a:r>
            <a:r>
              <a:rPr lang="es-MX" sz="2000" dirty="0" err="1"/>
              <a:t>types</a:t>
            </a:r>
            <a:r>
              <a:rPr lang="es-MX" sz="2000" dirty="0"/>
              <a:t> </a:t>
            </a:r>
          </a:p>
        </p:txBody>
      </p:sp>
      <p:pic>
        <p:nvPicPr>
          <p:cNvPr id="4" name="Picture 3" descr="A logo for a restaurant&#10;&#10;AI-generated content may be incorrect.">
            <a:extLst>
              <a:ext uri="{FF2B5EF4-FFF2-40B4-BE49-F238E27FC236}">
                <a16:creationId xmlns:a16="http://schemas.microsoft.com/office/drawing/2014/main" id="{E716BD76-D9FB-5F7A-5F50-528147D07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5" r="10660"/>
          <a:stretch>
            <a:fillRect/>
          </a:stretch>
        </p:blipFill>
        <p:spPr>
          <a:xfrm>
            <a:off x="1143000" y="470297"/>
            <a:ext cx="345186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61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94E5B7-B37D-62C4-9F15-702B23869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6838"/>
            <a:ext cx="9593014" cy="55443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3E86AB-686F-9640-C4B6-530EA2238B1D}"/>
              </a:ext>
            </a:extLst>
          </p:cNvPr>
          <p:cNvSpPr txBox="1"/>
          <p:nvPr/>
        </p:nvSpPr>
        <p:spPr>
          <a:xfrm>
            <a:off x="8766810" y="2263140"/>
            <a:ext cx="342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err="1"/>
              <a:t>Any</a:t>
            </a:r>
            <a:r>
              <a:rPr lang="es-MX" sz="2400" dirty="0"/>
              <a:t> </a:t>
            </a:r>
            <a:r>
              <a:rPr lang="es-MX" sz="2400" dirty="0" err="1"/>
              <a:t>insights</a:t>
            </a:r>
            <a:r>
              <a:rPr lang="es-MX" sz="2400" dirty="0"/>
              <a:t>? </a:t>
            </a:r>
            <a:r>
              <a:rPr lang="es-MX" sz="2400" dirty="0" err="1"/>
              <a:t>With</a:t>
            </a:r>
            <a:r>
              <a:rPr lang="es-MX" sz="2400" dirty="0"/>
              <a:t> </a:t>
            </a:r>
            <a:r>
              <a:rPr lang="es-MX" sz="2400" dirty="0" err="1"/>
              <a:t>many</a:t>
            </a:r>
            <a:r>
              <a:rPr lang="es-MX" sz="2400" dirty="0"/>
              <a:t> </a:t>
            </a:r>
            <a:r>
              <a:rPr lang="es-MX" sz="2400" dirty="0" err="1"/>
              <a:t>categories</a:t>
            </a:r>
            <a:r>
              <a:rPr lang="es-MX" sz="2400" dirty="0"/>
              <a:t> </a:t>
            </a:r>
            <a:r>
              <a:rPr lang="es-MX" sz="2400" dirty="0" err="1"/>
              <a:t>things</a:t>
            </a:r>
            <a:r>
              <a:rPr lang="es-MX" sz="2400" dirty="0"/>
              <a:t> </a:t>
            </a:r>
            <a:r>
              <a:rPr lang="es-MX" sz="2400" dirty="0" err="1"/>
              <a:t>get</a:t>
            </a:r>
            <a:r>
              <a:rPr lang="es-MX" sz="2400" dirty="0"/>
              <a:t> </a:t>
            </a:r>
            <a:r>
              <a:rPr lang="es-MX" sz="2400" dirty="0" err="1"/>
              <a:t>complicated</a:t>
            </a:r>
            <a:r>
              <a:rPr lang="es-MX" sz="2400" dirty="0"/>
              <a:t> and </a:t>
            </a:r>
            <a:r>
              <a:rPr lang="es-MX" sz="2400" dirty="0" err="1"/>
              <a:t>noisy</a:t>
            </a:r>
            <a:r>
              <a:rPr lang="es-MX" sz="2400" dirty="0"/>
              <a:t> … </a:t>
            </a:r>
            <a:r>
              <a:rPr lang="es-MX" sz="2400" dirty="0" err="1"/>
              <a:t>we</a:t>
            </a:r>
            <a:r>
              <a:rPr lang="es-MX" sz="2400" dirty="0"/>
              <a:t> </a:t>
            </a:r>
            <a:r>
              <a:rPr lang="es-MX" sz="2400" dirty="0" err="1"/>
              <a:t>need</a:t>
            </a:r>
            <a:r>
              <a:rPr lang="es-MX" sz="2400" dirty="0"/>
              <a:t> </a:t>
            </a:r>
            <a:r>
              <a:rPr lang="es-MX" sz="2400" dirty="0" err="1"/>
              <a:t>stats</a:t>
            </a:r>
            <a:r>
              <a:rPr lang="es-MX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10936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278C9-3514-6337-7BFE-6B3CFA8C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06FACF4-E90F-C5A1-CE3C-01AABD9EF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FD83BAF-5EBC-3595-A764-517C6B761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5ADBA-2A37-E308-4A7C-A5F6F221E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75397"/>
            <a:ext cx="12192000" cy="863855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BE8DCA2-ED4F-1081-0C6B-A477C328F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52569-0527-B7D5-B1FE-93F52E63AA0C}"/>
              </a:ext>
            </a:extLst>
          </p:cNvPr>
          <p:cNvSpPr txBox="1"/>
          <p:nvPr/>
        </p:nvSpPr>
        <p:spPr>
          <a:xfrm>
            <a:off x="961644" y="4675366"/>
            <a:ext cx="10765536" cy="8462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Select cases only </a:t>
            </a:r>
            <a:r>
              <a:rPr kumimoji="0" lang="en-US" sz="2600" b="0" i="0" u="none" strike="noStrike" kern="1200" cap="all" spc="1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santa</a:t>
            </a: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 </a:t>
            </a:r>
            <a:r>
              <a:rPr kumimoji="0" lang="en-US" sz="2600" b="0" i="0" u="none" strike="noStrike" kern="1200" cap="all" spc="1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fe</a:t>
            </a: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 (later example we will include southwestern) …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all" spc="1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Demi Cond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In SPSS: Analyze -&gt; Compare Means and Proportions -&gt; One-way ANOVA…</a:t>
            </a:r>
          </a:p>
        </p:txBody>
      </p:sp>
    </p:spTree>
    <p:extLst>
      <p:ext uri="{BB962C8B-B14F-4D97-AF65-F5344CB8AC3E}">
        <p14:creationId xmlns:p14="http://schemas.microsoft.com/office/powerpoint/2010/main" val="2133268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5693F-6DD9-D0C3-2819-BC39EC64A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873"/>
            <a:ext cx="7653878" cy="3914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9E84EA-044C-EC33-1540-B0B6F8CAFC04}"/>
              </a:ext>
            </a:extLst>
          </p:cNvPr>
          <p:cNvSpPr txBox="1"/>
          <p:nvPr/>
        </p:nvSpPr>
        <p:spPr>
          <a:xfrm>
            <a:off x="7653878" y="2748564"/>
            <a:ext cx="42790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 err="1"/>
              <a:t>Satisfaction</a:t>
            </a:r>
            <a:r>
              <a:rPr lang="es-MX" sz="2800" dirty="0"/>
              <a:t> </a:t>
            </a:r>
            <a:r>
              <a:rPr lang="es-MX" sz="2800" dirty="0" err="1"/>
              <a:t>is</a:t>
            </a:r>
            <a:r>
              <a:rPr lang="es-MX" sz="2800" dirty="0"/>
              <a:t> </a:t>
            </a:r>
            <a:r>
              <a:rPr lang="es-MX" sz="2800" dirty="0" err="1"/>
              <a:t>different</a:t>
            </a:r>
            <a:r>
              <a:rPr lang="es-MX" sz="2800" dirty="0"/>
              <a:t> </a:t>
            </a:r>
            <a:r>
              <a:rPr lang="es-MX" sz="2800" dirty="0" err="1"/>
              <a:t>across</a:t>
            </a:r>
            <a:r>
              <a:rPr lang="es-MX" sz="2800" dirty="0"/>
              <a:t> </a:t>
            </a:r>
            <a:r>
              <a:rPr lang="es-MX" sz="2800" dirty="0" err="1"/>
              <a:t>family</a:t>
            </a:r>
            <a:r>
              <a:rPr lang="es-MX" sz="2800" dirty="0"/>
              <a:t> </a:t>
            </a:r>
            <a:r>
              <a:rPr lang="es-MX" sz="2800" dirty="0" err="1"/>
              <a:t>types</a:t>
            </a:r>
            <a:r>
              <a:rPr lang="es-MX" sz="2800" dirty="0"/>
              <a:t>! (</a:t>
            </a:r>
            <a:r>
              <a:rPr lang="es-MX" sz="2800" dirty="0" err="1"/>
              <a:t>high</a:t>
            </a:r>
            <a:r>
              <a:rPr lang="es-MX" sz="2800" dirty="0"/>
              <a:t> </a:t>
            </a:r>
            <a:r>
              <a:rPr lang="es-MX" sz="2800" dirty="0" err="1"/>
              <a:t>sig</a:t>
            </a:r>
            <a:r>
              <a:rPr lang="es-MX" sz="2800" dirty="0"/>
              <a:t> and </a:t>
            </a:r>
            <a:r>
              <a:rPr lang="es-MX" sz="2800" dirty="0" err="1"/>
              <a:t>effect</a:t>
            </a:r>
            <a:r>
              <a:rPr lang="es-MX" sz="2800" dirty="0"/>
              <a:t> </a:t>
            </a:r>
            <a:r>
              <a:rPr lang="es-MX" sz="2800" dirty="0" err="1"/>
              <a:t>sizes</a:t>
            </a:r>
            <a:r>
              <a:rPr lang="es-MX" sz="2800" dirty="0"/>
              <a:t>)</a:t>
            </a:r>
          </a:p>
          <a:p>
            <a:endParaRPr lang="es-MX" sz="2800" dirty="0"/>
          </a:p>
          <a:p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674274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23D98A-0095-EABD-80A4-9FC8F0FFD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88" y="641655"/>
            <a:ext cx="9797624" cy="580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84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2BD373-0344-6C93-296E-132B475A7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84" y="1118944"/>
            <a:ext cx="11942632" cy="42988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ACE31F2-9C82-198C-49CF-27B699E134FA}"/>
              </a:ext>
            </a:extLst>
          </p:cNvPr>
          <p:cNvSpPr/>
          <p:nvPr/>
        </p:nvSpPr>
        <p:spPr>
          <a:xfrm>
            <a:off x="124684" y="914400"/>
            <a:ext cx="1795556" cy="85725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8609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DBB65-7FCE-2442-9D50-F63EE98D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F1A607A-8F92-438A-1C6C-3D6790936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3C03D86-DA17-1D79-6EC3-F76FFA1F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39689C-CD4D-EF03-8F16-DEE7AF99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4" name="Picture 3" descr="Binoculars looking out on island lighthouse">
            <a:extLst>
              <a:ext uri="{FF2B5EF4-FFF2-40B4-BE49-F238E27FC236}">
                <a16:creationId xmlns:a16="http://schemas.microsoft.com/office/drawing/2014/main" id="{AFD7DA62-9F7A-089D-46CD-268B893D6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7" r="26822" b="-1"/>
          <a:stretch>
            <a:fillRect/>
          </a:stretch>
        </p:blipFill>
        <p:spPr>
          <a:xfrm>
            <a:off x="20" y="10"/>
            <a:ext cx="4657324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D54D41-82A6-1798-248C-39007CFE1C79}"/>
              </a:ext>
            </a:extLst>
          </p:cNvPr>
          <p:cNvSpPr txBox="1"/>
          <p:nvPr/>
        </p:nvSpPr>
        <p:spPr>
          <a:xfrm>
            <a:off x="5300810" y="2587625"/>
            <a:ext cx="6334930" cy="3594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Task 6</a:t>
            </a: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What marketing strategy would you propose with the finding that family types differ in satisfaction?</a:t>
            </a:r>
          </a:p>
          <a:p>
            <a:pPr lvl="0">
              <a:lnSpc>
                <a:spcPct val="101000"/>
              </a:lnSpc>
              <a:spcAft>
                <a:spcPts val="600"/>
              </a:spcAft>
              <a:defRPr/>
            </a:pPr>
            <a:r>
              <a:rPr lang="en-US" spc="50" dirty="0">
                <a:solidFill>
                  <a:prstClr val="black"/>
                </a:solidFill>
              </a:rPr>
              <a:t>Your answer (in-person):</a:t>
            </a:r>
          </a:p>
          <a:p>
            <a:pPr lvl="0">
              <a:lnSpc>
                <a:spcPct val="101000"/>
              </a:lnSpc>
              <a:spcAft>
                <a:spcPts val="600"/>
              </a:spcAft>
              <a:defRPr/>
            </a:pPr>
            <a:endParaRPr lang="en-US" spc="50" dirty="0">
              <a:solidFill>
                <a:prstClr val="black"/>
              </a:solidFill>
            </a:endParaRPr>
          </a:p>
          <a:p>
            <a:pPr lvl="0">
              <a:lnSpc>
                <a:spcPct val="101000"/>
              </a:lnSpc>
              <a:spcAft>
                <a:spcPts val="600"/>
              </a:spcAft>
              <a:defRPr/>
            </a:pPr>
            <a:r>
              <a:rPr lang="en-US" spc="50" dirty="0">
                <a:solidFill>
                  <a:prstClr val="black"/>
                </a:solidFill>
              </a:rPr>
              <a:t>Your AI agent answer:</a:t>
            </a: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EF320F-7110-96EB-CDD6-118CC370F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743" y="4827051"/>
            <a:ext cx="3428767" cy="203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68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37D3F-F558-11DC-EEC4-6BBD6B1C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80C3F7-8825-A462-6BB8-8EBF501AD7F3}"/>
              </a:ext>
            </a:extLst>
          </p:cNvPr>
          <p:cNvSpPr txBox="1"/>
          <p:nvPr/>
        </p:nvSpPr>
        <p:spPr>
          <a:xfrm>
            <a:off x="4640379" y="2198424"/>
            <a:ext cx="75516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/>
              <a:t>For</a:t>
            </a:r>
            <a:r>
              <a:rPr lang="es-MX" sz="2000" dirty="0"/>
              <a:t> </a:t>
            </a:r>
            <a:r>
              <a:rPr lang="es-MX" sz="2000" dirty="0" err="1"/>
              <a:t>family</a:t>
            </a:r>
            <a:r>
              <a:rPr lang="es-MX" sz="2000" dirty="0"/>
              <a:t> marketing </a:t>
            </a:r>
            <a:r>
              <a:rPr lang="es-MX" sz="2000" dirty="0" err="1"/>
              <a:t>strategies</a:t>
            </a:r>
            <a:r>
              <a:rPr lang="es-MX" sz="2000" dirty="0"/>
              <a:t>, Santa Fe Grill </a:t>
            </a:r>
            <a:r>
              <a:rPr lang="es-MX" sz="2000" dirty="0" err="1"/>
              <a:t>wants</a:t>
            </a:r>
            <a:r>
              <a:rPr lang="es-MX" sz="2000" dirty="0"/>
              <a:t> </a:t>
            </a:r>
            <a:r>
              <a:rPr lang="es-MX" sz="2000" dirty="0" err="1"/>
              <a:t>to</a:t>
            </a:r>
            <a:r>
              <a:rPr lang="es-MX" sz="2000" dirty="0"/>
              <a:t> </a:t>
            </a:r>
            <a:r>
              <a:rPr lang="es-MX" sz="2000" dirty="0" err="1"/>
              <a:t>see</a:t>
            </a:r>
            <a:r>
              <a:rPr lang="es-MX" sz="2000" dirty="0"/>
              <a:t> </a:t>
            </a:r>
            <a:r>
              <a:rPr lang="es-MX" sz="2000" dirty="0" err="1"/>
              <a:t>satisfaction</a:t>
            </a:r>
            <a:r>
              <a:rPr lang="es-MX" sz="2000" dirty="0"/>
              <a:t> </a:t>
            </a:r>
            <a:r>
              <a:rPr lang="es-MX" sz="2000" dirty="0" err="1"/>
              <a:t>of</a:t>
            </a:r>
            <a:r>
              <a:rPr lang="es-MX" sz="2000" dirty="0"/>
              <a:t> </a:t>
            </a:r>
            <a:r>
              <a:rPr lang="es-MX" sz="2000" dirty="0" err="1"/>
              <a:t>different</a:t>
            </a:r>
            <a:r>
              <a:rPr lang="es-MX" sz="2000" dirty="0"/>
              <a:t> </a:t>
            </a:r>
            <a:r>
              <a:rPr lang="es-MX" sz="2000" dirty="0" err="1"/>
              <a:t>family</a:t>
            </a:r>
            <a:r>
              <a:rPr lang="es-MX" sz="2000" dirty="0"/>
              <a:t> </a:t>
            </a:r>
            <a:r>
              <a:rPr lang="es-MX" sz="2000" dirty="0" err="1"/>
              <a:t>types</a:t>
            </a:r>
            <a:r>
              <a:rPr lang="es-MX" sz="2000" dirty="0"/>
              <a:t> …</a:t>
            </a:r>
          </a:p>
          <a:p>
            <a:endParaRPr lang="es-MX" sz="2000" dirty="0"/>
          </a:p>
          <a:p>
            <a:r>
              <a:rPr lang="es-MX" sz="2000" dirty="0"/>
              <a:t>… and compare </a:t>
            </a:r>
            <a:r>
              <a:rPr lang="es-MX" sz="2000" dirty="0" err="1"/>
              <a:t>it</a:t>
            </a:r>
            <a:r>
              <a:rPr lang="es-MX" sz="2000" dirty="0"/>
              <a:t> </a:t>
            </a:r>
            <a:r>
              <a:rPr lang="es-MX" sz="2000" dirty="0" err="1"/>
              <a:t>with</a:t>
            </a:r>
            <a:r>
              <a:rPr lang="es-MX" sz="2000" dirty="0"/>
              <a:t> </a:t>
            </a:r>
            <a:r>
              <a:rPr lang="es-MX" sz="2000" dirty="0" err="1"/>
              <a:t>the</a:t>
            </a:r>
            <a:r>
              <a:rPr lang="es-MX" sz="2000" dirty="0"/>
              <a:t> </a:t>
            </a:r>
            <a:r>
              <a:rPr lang="es-MX" sz="2000" dirty="0" err="1"/>
              <a:t>competition</a:t>
            </a:r>
            <a:endParaRPr lang="es-MX" sz="2000" dirty="0"/>
          </a:p>
        </p:txBody>
      </p:sp>
      <p:pic>
        <p:nvPicPr>
          <p:cNvPr id="4" name="Picture 3" descr="A logo for a restaurant&#10;&#10;AI-generated content may be incorrect.">
            <a:extLst>
              <a:ext uri="{FF2B5EF4-FFF2-40B4-BE49-F238E27FC236}">
                <a16:creationId xmlns:a16="http://schemas.microsoft.com/office/drawing/2014/main" id="{E074BBA7-7A6E-80F6-0F3D-B6AF2AD03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5" r="10660"/>
          <a:stretch>
            <a:fillRect/>
          </a:stretch>
        </p:blipFill>
        <p:spPr>
          <a:xfrm>
            <a:off x="1143000" y="470297"/>
            <a:ext cx="345186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23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54899-7F02-9EBA-A7F5-DD5AE3442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664"/>
            <a:ext cx="8726118" cy="5496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6913E1-BE61-65A3-FA7B-F45BF8376243}"/>
              </a:ext>
            </a:extLst>
          </p:cNvPr>
          <p:cNvSpPr txBox="1"/>
          <p:nvPr/>
        </p:nvSpPr>
        <p:spPr>
          <a:xfrm>
            <a:off x="8423910" y="2644170"/>
            <a:ext cx="33489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 err="1"/>
              <a:t>Any</a:t>
            </a:r>
            <a:r>
              <a:rPr lang="es-MX" sz="2400" dirty="0"/>
              <a:t> </a:t>
            </a:r>
            <a:r>
              <a:rPr lang="es-MX" sz="2400" dirty="0" err="1"/>
              <a:t>insights</a:t>
            </a:r>
            <a:r>
              <a:rPr lang="es-MX" sz="2400" dirty="0"/>
              <a:t>? </a:t>
            </a:r>
            <a:r>
              <a:rPr lang="es-MX" sz="2400" dirty="0" err="1"/>
              <a:t>With</a:t>
            </a:r>
            <a:r>
              <a:rPr lang="es-MX" sz="2400" dirty="0"/>
              <a:t> </a:t>
            </a:r>
            <a:r>
              <a:rPr lang="es-MX" sz="2400" dirty="0" err="1"/>
              <a:t>many</a:t>
            </a:r>
            <a:r>
              <a:rPr lang="es-MX" sz="2400" dirty="0"/>
              <a:t> </a:t>
            </a:r>
            <a:r>
              <a:rPr lang="es-MX" sz="2400" dirty="0" err="1"/>
              <a:t>categories</a:t>
            </a:r>
            <a:r>
              <a:rPr lang="es-MX" sz="2400" dirty="0"/>
              <a:t> </a:t>
            </a:r>
            <a:r>
              <a:rPr lang="es-MX" sz="2400" dirty="0" err="1"/>
              <a:t>things</a:t>
            </a:r>
            <a:r>
              <a:rPr lang="es-MX" sz="2400" dirty="0"/>
              <a:t> </a:t>
            </a:r>
            <a:r>
              <a:rPr lang="es-MX" sz="2400" dirty="0" err="1"/>
              <a:t>get</a:t>
            </a:r>
            <a:r>
              <a:rPr lang="es-MX" sz="2400" dirty="0"/>
              <a:t> </a:t>
            </a:r>
            <a:r>
              <a:rPr lang="es-MX" sz="2400" dirty="0" err="1"/>
              <a:t>complicated</a:t>
            </a:r>
            <a:r>
              <a:rPr lang="es-MX" sz="2400" dirty="0"/>
              <a:t> and </a:t>
            </a:r>
            <a:r>
              <a:rPr lang="es-MX" sz="2400" dirty="0" err="1"/>
              <a:t>noisy</a:t>
            </a:r>
            <a:r>
              <a:rPr lang="es-MX" sz="2400" dirty="0"/>
              <a:t> … </a:t>
            </a:r>
            <a:r>
              <a:rPr lang="es-MX" sz="2400" dirty="0" err="1"/>
              <a:t>we</a:t>
            </a:r>
            <a:r>
              <a:rPr lang="es-MX" sz="2400" dirty="0"/>
              <a:t> </a:t>
            </a:r>
            <a:r>
              <a:rPr lang="es-MX" sz="2400" dirty="0" err="1"/>
              <a:t>need</a:t>
            </a:r>
            <a:r>
              <a:rPr lang="es-MX" sz="2400" dirty="0"/>
              <a:t> </a:t>
            </a:r>
            <a:r>
              <a:rPr lang="es-MX" sz="2400" dirty="0" err="1"/>
              <a:t>stats</a:t>
            </a:r>
            <a:r>
              <a:rPr lang="es-MX" sz="2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99625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C481C-ED36-4861-CA9E-BBDFB4146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F08C681-5389-FADF-448E-E9EAD94E2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9AE107B-E040-85A0-4EBE-632DAEA4D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08F74-8A78-BF57-B1F4-911217579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85913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FDF686C-F2A3-C7F4-F28F-CFADCC3D5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14F7C8-74C7-E018-B04F-B7A267DECCDF}"/>
              </a:ext>
            </a:extLst>
          </p:cNvPr>
          <p:cNvSpPr txBox="1"/>
          <p:nvPr/>
        </p:nvSpPr>
        <p:spPr>
          <a:xfrm>
            <a:off x="961644" y="4675366"/>
            <a:ext cx="10765536" cy="8462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Select ALL cases …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all" spc="1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Demi Cond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In SPSS: Analyze -&gt; General Linear model-&gt; </a:t>
            </a:r>
            <a:r>
              <a:rPr lang="en-US" sz="2600" cap="all" spc="120" dirty="0">
                <a:solidFill>
                  <a:srgbClr val="FFFFFF"/>
                </a:solidFill>
                <a:latin typeface="Franklin Gothic Demi Cond"/>
              </a:rPr>
              <a:t>univariate</a:t>
            </a: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58977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C6B7B-C913-5310-7254-B20FA023A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16" y="690180"/>
            <a:ext cx="6573167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65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ED36EA-B9D5-6776-D363-6F75BC5D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7900"/>
            <a:ext cx="9218914" cy="51343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424B8E-08A9-98CB-6537-6E29CB7BB78B}"/>
              </a:ext>
            </a:extLst>
          </p:cNvPr>
          <p:cNvSpPr txBox="1"/>
          <p:nvPr/>
        </p:nvSpPr>
        <p:spPr>
          <a:xfrm>
            <a:off x="7442200" y="3265681"/>
            <a:ext cx="4089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Santa Fe has </a:t>
            </a:r>
            <a:r>
              <a:rPr lang="es-MX" sz="2400" dirty="0" err="1"/>
              <a:t>satisfaction</a:t>
            </a:r>
            <a:r>
              <a:rPr lang="es-MX" sz="2400" dirty="0"/>
              <a:t> </a:t>
            </a:r>
            <a:r>
              <a:rPr lang="es-MX" sz="2400" dirty="0" err="1"/>
              <a:t>issues</a:t>
            </a:r>
            <a:r>
              <a:rPr lang="es-MX" sz="2400" dirty="0"/>
              <a:t>!</a:t>
            </a:r>
          </a:p>
          <a:p>
            <a:endParaRPr lang="es-MX" sz="2400" dirty="0"/>
          </a:p>
          <a:p>
            <a:r>
              <a:rPr lang="es-MX" sz="2400" dirty="0"/>
              <a:t>Absolute </a:t>
            </a:r>
            <a:r>
              <a:rPr lang="es-MX" sz="2400" dirty="0" err="1"/>
              <a:t>levels</a:t>
            </a:r>
            <a:r>
              <a:rPr lang="es-MX" sz="2400" dirty="0"/>
              <a:t> (</a:t>
            </a:r>
            <a:r>
              <a:rPr lang="es-MX" sz="2400" dirty="0" err="1"/>
              <a:t>heights</a:t>
            </a:r>
            <a:r>
              <a:rPr lang="es-MX" sz="2400" dirty="0"/>
              <a:t>) and </a:t>
            </a:r>
            <a:r>
              <a:rPr lang="es-MX" sz="2400" dirty="0" err="1"/>
              <a:t>slope</a:t>
            </a:r>
            <a:r>
              <a:rPr lang="es-MX" sz="2400" dirty="0"/>
              <a:t> </a:t>
            </a:r>
            <a:r>
              <a:rPr lang="es-MX" sz="2400" dirty="0" err="1"/>
              <a:t>of</a:t>
            </a:r>
            <a:r>
              <a:rPr lang="es-MX" sz="2400" dirty="0"/>
              <a:t> </a:t>
            </a:r>
            <a:r>
              <a:rPr lang="es-MX" sz="2400" dirty="0" err="1"/>
              <a:t>family</a:t>
            </a:r>
            <a:r>
              <a:rPr lang="es-MX" sz="2400" dirty="0"/>
              <a:t> </a:t>
            </a:r>
            <a:r>
              <a:rPr lang="es-MX" sz="2400" dirty="0" err="1"/>
              <a:t>type</a:t>
            </a:r>
            <a:endParaRPr lang="es-MX" sz="24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29ED41-60A8-3DF9-FC69-C2E895D2C1F8}"/>
              </a:ext>
            </a:extLst>
          </p:cNvPr>
          <p:cNvCxnSpPr/>
          <p:nvPr/>
        </p:nvCxnSpPr>
        <p:spPr>
          <a:xfrm flipV="1">
            <a:off x="1231900" y="1981200"/>
            <a:ext cx="1536700" cy="6477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F48CB8-E3E5-7C86-15C6-4BFFE7862C80}"/>
              </a:ext>
            </a:extLst>
          </p:cNvPr>
          <p:cNvCxnSpPr>
            <a:cxnSpLocks/>
          </p:cNvCxnSpPr>
          <p:nvPr/>
        </p:nvCxnSpPr>
        <p:spPr>
          <a:xfrm flipV="1">
            <a:off x="4361164" y="2305050"/>
            <a:ext cx="1836436" cy="9715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148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613ED-4AD4-8473-955F-A63118EE7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10" y="1064162"/>
            <a:ext cx="9425195" cy="4719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10DBE7-A7B6-8E2B-1B7B-0B99952D4D7B}"/>
              </a:ext>
            </a:extLst>
          </p:cNvPr>
          <p:cNvSpPr txBox="1"/>
          <p:nvPr/>
        </p:nvSpPr>
        <p:spPr>
          <a:xfrm>
            <a:off x="250185" y="3239471"/>
            <a:ext cx="1128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Fav</a:t>
            </a:r>
            <a:r>
              <a:rPr lang="es-MX" dirty="0"/>
              <a:t>. </a:t>
            </a:r>
            <a:r>
              <a:rPr lang="es-MX" dirty="0" err="1"/>
              <a:t>Rest</a:t>
            </a:r>
            <a:r>
              <a:rPr lang="es-MX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5B914-DC79-E7F1-9AF7-07B8CEB37940}"/>
              </a:ext>
            </a:extLst>
          </p:cNvPr>
          <p:cNvSpPr txBox="1"/>
          <p:nvPr/>
        </p:nvSpPr>
        <p:spPr>
          <a:xfrm>
            <a:off x="250185" y="3608803"/>
            <a:ext cx="1593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Num</a:t>
            </a:r>
            <a:r>
              <a:rPr lang="es-MX" dirty="0"/>
              <a:t>. </a:t>
            </a:r>
            <a:r>
              <a:rPr lang="es-MX" dirty="0" err="1"/>
              <a:t>Children</a:t>
            </a:r>
            <a:endParaRPr lang="es-MX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18E65-D777-5AE9-8113-C0BBE2A28957}"/>
              </a:ext>
            </a:extLst>
          </p:cNvPr>
          <p:cNvSpPr txBox="1"/>
          <p:nvPr/>
        </p:nvSpPr>
        <p:spPr>
          <a:xfrm>
            <a:off x="0" y="417831"/>
            <a:ext cx="7600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Here </a:t>
            </a:r>
            <a:r>
              <a:rPr lang="es-MX" sz="2400" dirty="0" err="1"/>
              <a:t>the</a:t>
            </a:r>
            <a:r>
              <a:rPr lang="es-MX" sz="2400" dirty="0"/>
              <a:t> </a:t>
            </a:r>
            <a:r>
              <a:rPr lang="es-MX" sz="2400" dirty="0" err="1"/>
              <a:t>statistical</a:t>
            </a:r>
            <a:r>
              <a:rPr lang="es-MX" sz="2400" dirty="0"/>
              <a:t> </a:t>
            </a:r>
            <a:r>
              <a:rPr lang="es-MX" sz="2400" dirty="0" err="1"/>
              <a:t>confirmation</a:t>
            </a:r>
            <a:r>
              <a:rPr lang="es-MX" sz="2400" dirty="0"/>
              <a:t> </a:t>
            </a:r>
            <a:r>
              <a:rPr lang="es-MX" sz="2400" dirty="0" err="1"/>
              <a:t>with</a:t>
            </a:r>
            <a:r>
              <a:rPr lang="es-MX" sz="2400" dirty="0"/>
              <a:t> a </a:t>
            </a:r>
            <a:r>
              <a:rPr lang="es-MX" sz="2400" dirty="0" err="1"/>
              <a:t>two-way</a:t>
            </a:r>
            <a:r>
              <a:rPr lang="es-MX" sz="2400" dirty="0"/>
              <a:t> ANOVA. </a:t>
            </a:r>
          </a:p>
        </p:txBody>
      </p:sp>
    </p:spTree>
    <p:extLst>
      <p:ext uri="{BB962C8B-B14F-4D97-AF65-F5344CB8AC3E}">
        <p14:creationId xmlns:p14="http://schemas.microsoft.com/office/powerpoint/2010/main" val="1995130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DDCA3-1A55-2E41-ECAE-C7A76485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9E4BB9-0BC0-1A83-6869-586019C33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05C18C9-165F-CAFF-A610-A11221026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DE1E7B-D022-0E4A-3492-4B7AC380C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4" name="Picture 3" descr="Binoculars looking out on island lighthouse">
            <a:extLst>
              <a:ext uri="{FF2B5EF4-FFF2-40B4-BE49-F238E27FC236}">
                <a16:creationId xmlns:a16="http://schemas.microsoft.com/office/drawing/2014/main" id="{ABFD9C44-4EC4-C5D3-AF28-D3C54FFE0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7" r="26822" b="-1"/>
          <a:stretch>
            <a:fillRect/>
          </a:stretch>
        </p:blipFill>
        <p:spPr>
          <a:xfrm>
            <a:off x="20" y="10"/>
            <a:ext cx="4657324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CB917D-B507-365C-68D4-21F5A22D4E12}"/>
              </a:ext>
            </a:extLst>
          </p:cNvPr>
          <p:cNvSpPr txBox="1"/>
          <p:nvPr/>
        </p:nvSpPr>
        <p:spPr>
          <a:xfrm>
            <a:off x="5300810" y="2587625"/>
            <a:ext cx="5927577" cy="3594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Task </a:t>
            </a:r>
            <a:r>
              <a:rPr lang="en-US" sz="2400" spc="50" dirty="0">
                <a:solidFill>
                  <a:prstClr val="black"/>
                </a:solidFill>
                <a:latin typeface="Franklin Gothic Medium"/>
              </a:rPr>
              <a:t>7</a:t>
            </a: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Do you change your strategic marketing decision with the new information about the competition? Yes, no, why?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E7C708-EF78-3AF8-59C0-F03BBC2F6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252" y="4675309"/>
            <a:ext cx="3114083" cy="1844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2CE7CD-BBE8-2EA8-5265-F4C4D3EE4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669" y="4675309"/>
            <a:ext cx="3415472" cy="19022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8C9BAD-2BC0-F6EA-AC2B-0E476E6FBC18}"/>
              </a:ext>
            </a:extLst>
          </p:cNvPr>
          <p:cNvSpPr txBox="1"/>
          <p:nvPr/>
        </p:nvSpPr>
        <p:spPr>
          <a:xfrm>
            <a:off x="5384720" y="4305977"/>
            <a:ext cx="1947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Initial</a:t>
            </a:r>
            <a:r>
              <a:rPr lang="es-MX" dirty="0"/>
              <a:t> </a:t>
            </a:r>
            <a:r>
              <a:rPr lang="es-MX" dirty="0" err="1"/>
              <a:t>information</a:t>
            </a:r>
            <a:endParaRPr lang="es-MX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06950-A15C-A142-B9A2-1DA94BD585BD}"/>
              </a:ext>
            </a:extLst>
          </p:cNvPr>
          <p:cNvSpPr txBox="1"/>
          <p:nvPr/>
        </p:nvSpPr>
        <p:spPr>
          <a:xfrm>
            <a:off x="8660644" y="4305977"/>
            <a:ext cx="222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Updated</a:t>
            </a:r>
            <a:r>
              <a:rPr lang="es-MX" dirty="0"/>
              <a:t> </a:t>
            </a:r>
            <a:r>
              <a:rPr lang="es-MX" dirty="0" err="1"/>
              <a:t>information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74420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BCD95B-C685-5CFE-45A6-BCD5A596B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9094B1A-0EC4-B34A-2CCF-FA34885A1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9AFAF6-90BC-0E8B-3DCF-2F0DF3138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44967A-D4F1-3D49-9F0F-9921BC72C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9CFFCA-D240-B664-F454-E333A96DD03E}"/>
              </a:ext>
            </a:extLst>
          </p:cNvPr>
          <p:cNvSpPr txBox="1"/>
          <p:nvPr/>
        </p:nvSpPr>
        <p:spPr>
          <a:xfrm>
            <a:off x="960438" y="2587625"/>
            <a:ext cx="4500737" cy="3594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Compare proportions</a:t>
            </a:r>
          </a:p>
        </p:txBody>
      </p:sp>
      <p:pic>
        <p:nvPicPr>
          <p:cNvPr id="8" name="Picture 7" descr="White arrows painted on the asphalt">
            <a:extLst>
              <a:ext uri="{FF2B5EF4-FFF2-40B4-BE49-F238E27FC236}">
                <a16:creationId xmlns:a16="http://schemas.microsoft.com/office/drawing/2014/main" id="{DA40EF5A-3304-A1DA-4F55-49909DAF45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29" r="21066" b="-1"/>
          <a:stretch>
            <a:fillRect/>
          </a:stretch>
        </p:blipFill>
        <p:spPr>
          <a:xfrm>
            <a:off x="6094474" y="10"/>
            <a:ext cx="609752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92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246D8-E310-FB5F-ECCE-EBC1597A4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CDAB6-449C-438E-E3FF-9FAA2C8F47E5}"/>
              </a:ext>
            </a:extLst>
          </p:cNvPr>
          <p:cNvSpPr txBox="1"/>
          <p:nvPr/>
        </p:nvSpPr>
        <p:spPr>
          <a:xfrm>
            <a:off x="4491990" y="2124640"/>
            <a:ext cx="74637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/>
              <a:t>For</a:t>
            </a:r>
            <a:r>
              <a:rPr lang="es-MX" sz="2000" dirty="0"/>
              <a:t> marketing </a:t>
            </a:r>
            <a:r>
              <a:rPr lang="es-MX" sz="2000" dirty="0" err="1"/>
              <a:t>strategies</a:t>
            </a:r>
            <a:r>
              <a:rPr lang="es-MX" sz="2000" dirty="0"/>
              <a:t>, Santa Fe Grill </a:t>
            </a:r>
            <a:r>
              <a:rPr lang="es-MX" sz="2000" dirty="0" err="1"/>
              <a:t>wants</a:t>
            </a:r>
            <a:r>
              <a:rPr lang="es-MX" sz="2000" dirty="0"/>
              <a:t> </a:t>
            </a:r>
            <a:r>
              <a:rPr lang="es-MX" sz="2000" dirty="0" err="1"/>
              <a:t>to</a:t>
            </a:r>
            <a:r>
              <a:rPr lang="es-MX" sz="2000" dirty="0"/>
              <a:t> </a:t>
            </a:r>
            <a:r>
              <a:rPr lang="es-MX" sz="2000" dirty="0" err="1"/>
              <a:t>know</a:t>
            </a:r>
            <a:r>
              <a:rPr lang="es-MX" sz="2000" dirty="0"/>
              <a:t> </a:t>
            </a:r>
            <a:r>
              <a:rPr lang="es-MX" sz="2000" dirty="0" err="1"/>
              <a:t>if</a:t>
            </a:r>
            <a:r>
              <a:rPr lang="es-MX" sz="2000" dirty="0"/>
              <a:t> </a:t>
            </a:r>
            <a:r>
              <a:rPr lang="es-MX" sz="2000" dirty="0" err="1"/>
              <a:t>their</a:t>
            </a:r>
            <a:r>
              <a:rPr lang="es-MX" sz="2000" dirty="0"/>
              <a:t> </a:t>
            </a:r>
            <a:r>
              <a:rPr lang="es-MX" sz="2000" dirty="0" err="1"/>
              <a:t>clients</a:t>
            </a:r>
            <a:r>
              <a:rPr lang="es-MX" sz="2000" dirty="0"/>
              <a:t> </a:t>
            </a:r>
            <a:r>
              <a:rPr lang="es-MX" sz="2000" dirty="0" err="1"/>
              <a:t>differ</a:t>
            </a:r>
            <a:r>
              <a:rPr lang="es-MX" sz="2000" dirty="0"/>
              <a:t> </a:t>
            </a:r>
            <a:r>
              <a:rPr lang="es-MX" sz="2000" dirty="0" err="1"/>
              <a:t>from</a:t>
            </a:r>
            <a:r>
              <a:rPr lang="es-MX" sz="2000" dirty="0"/>
              <a:t> </a:t>
            </a:r>
            <a:r>
              <a:rPr lang="es-MX" sz="2000" dirty="0" err="1"/>
              <a:t>the</a:t>
            </a:r>
            <a:r>
              <a:rPr lang="es-MX" sz="2000" dirty="0"/>
              <a:t> </a:t>
            </a:r>
            <a:r>
              <a:rPr lang="es-MX" sz="2000" dirty="0" err="1"/>
              <a:t>competition</a:t>
            </a:r>
            <a:endParaRPr lang="es-MX" sz="2000" dirty="0"/>
          </a:p>
          <a:p>
            <a:endParaRPr lang="es-MX" sz="2000" dirty="0"/>
          </a:p>
          <a:p>
            <a:r>
              <a:rPr lang="es-MX" sz="2000" dirty="0" err="1"/>
              <a:t>Let’s</a:t>
            </a:r>
            <a:r>
              <a:rPr lang="es-MX" sz="2000" dirty="0"/>
              <a:t> </a:t>
            </a:r>
            <a:r>
              <a:rPr lang="es-MX" sz="2000" dirty="0" err="1"/>
              <a:t>evaluate</a:t>
            </a:r>
            <a:r>
              <a:rPr lang="es-MX" sz="2000" dirty="0"/>
              <a:t> </a:t>
            </a:r>
            <a:r>
              <a:rPr lang="es-MX" sz="2000" dirty="0" err="1"/>
              <a:t>proportion</a:t>
            </a:r>
            <a:r>
              <a:rPr lang="es-MX" sz="2000" dirty="0"/>
              <a:t> </a:t>
            </a:r>
            <a:r>
              <a:rPr lang="es-MX" sz="2000" dirty="0" err="1"/>
              <a:t>of</a:t>
            </a:r>
            <a:r>
              <a:rPr lang="es-MX" sz="2000" dirty="0"/>
              <a:t> </a:t>
            </a:r>
            <a:r>
              <a:rPr lang="es-MX" sz="2000" dirty="0" err="1"/>
              <a:t>women</a:t>
            </a:r>
            <a:endParaRPr lang="es-MX" sz="2000" dirty="0"/>
          </a:p>
        </p:txBody>
      </p:sp>
      <p:pic>
        <p:nvPicPr>
          <p:cNvPr id="4" name="Picture 3" descr="A logo for a restaurant&#10;&#10;AI-generated content may be incorrect.">
            <a:extLst>
              <a:ext uri="{FF2B5EF4-FFF2-40B4-BE49-F238E27FC236}">
                <a16:creationId xmlns:a16="http://schemas.microsoft.com/office/drawing/2014/main" id="{337670B5-AC46-8FF6-7FE1-7CAA70F19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5" r="10660"/>
          <a:stretch>
            <a:fillRect/>
          </a:stretch>
        </p:blipFill>
        <p:spPr>
          <a:xfrm>
            <a:off x="1143000" y="470297"/>
            <a:ext cx="345186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6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23244-B97D-3411-42B1-DD2D825F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1818EBF-A2A8-E0A5-9359-0D2FF5AB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A853A40-7410-03D1-C45E-697EA38CF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DE0F9-2DD5-6A6A-18BD-227BAB703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47506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6BBF388-5258-96E4-E9ED-00E861159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13397-AC81-6FCE-118E-82E264CD6AE2}"/>
              </a:ext>
            </a:extLst>
          </p:cNvPr>
          <p:cNvSpPr txBox="1"/>
          <p:nvPr/>
        </p:nvSpPr>
        <p:spPr>
          <a:xfrm>
            <a:off x="961644" y="4675366"/>
            <a:ext cx="10765536" cy="84622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Select ALL cases …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600" b="0" i="0" u="none" strike="noStrike" kern="1200" cap="all" spc="1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Demi Cond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In SPSS: Analyze -&gt; </a:t>
            </a:r>
            <a:r>
              <a:rPr lang="en-US" sz="2600" cap="all" spc="120" dirty="0">
                <a:solidFill>
                  <a:srgbClr val="FFFFFF"/>
                </a:solidFill>
                <a:latin typeface="Franklin Gothic Demi Cond"/>
              </a:rPr>
              <a:t>Compare means and proportions</a:t>
            </a:r>
            <a:r>
              <a:rPr kumimoji="0" lang="en-US" sz="2600" b="0" i="0" u="none" strike="noStrike" kern="1200" cap="all" spc="1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Demi Cond"/>
                <a:ea typeface="+mn-ea"/>
                <a:cs typeface="+mn-cs"/>
              </a:rPr>
              <a:t>&gt; Independent-samples proportions…</a:t>
            </a:r>
          </a:p>
        </p:txBody>
      </p:sp>
    </p:spTree>
    <p:extLst>
      <p:ext uri="{BB962C8B-B14F-4D97-AF65-F5344CB8AC3E}">
        <p14:creationId xmlns:p14="http://schemas.microsoft.com/office/powerpoint/2010/main" val="3043962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2DC5F2-D32B-4D3D-9952-E4BFD85E2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1118865"/>
            <a:ext cx="8030696" cy="4620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4021EB-CCF6-787A-6E07-8514B78B824E}"/>
              </a:ext>
            </a:extLst>
          </p:cNvPr>
          <p:cNvSpPr txBox="1"/>
          <p:nvPr/>
        </p:nvSpPr>
        <p:spPr>
          <a:xfrm>
            <a:off x="317500" y="279400"/>
            <a:ext cx="86088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0: </a:t>
            </a:r>
            <a:r>
              <a:rPr lang="es-MX" sz="2400" dirty="0" err="1"/>
              <a:t>men</a:t>
            </a:r>
            <a:r>
              <a:rPr lang="es-MX" sz="2400" dirty="0"/>
              <a:t>, 1: </a:t>
            </a:r>
            <a:r>
              <a:rPr lang="es-MX" sz="2400" dirty="0" err="1"/>
              <a:t>women</a:t>
            </a:r>
            <a:endParaRPr lang="es-MX" sz="2400" dirty="0"/>
          </a:p>
          <a:p>
            <a:r>
              <a:rPr lang="es-MX" sz="2400" dirty="0" err="1"/>
              <a:t>There</a:t>
            </a:r>
            <a:r>
              <a:rPr lang="es-MX" sz="2400" dirty="0"/>
              <a:t> </a:t>
            </a:r>
            <a:r>
              <a:rPr lang="es-MX" sz="2400" dirty="0" err="1"/>
              <a:t>seems</a:t>
            </a:r>
            <a:r>
              <a:rPr lang="es-MX" sz="2400" dirty="0"/>
              <a:t> </a:t>
            </a:r>
            <a:r>
              <a:rPr lang="es-MX" sz="2400" dirty="0" err="1"/>
              <a:t>to</a:t>
            </a:r>
            <a:r>
              <a:rPr lang="es-MX" sz="2400" dirty="0"/>
              <a:t> be a </a:t>
            </a:r>
            <a:r>
              <a:rPr lang="es-MX" sz="2400" dirty="0" err="1"/>
              <a:t>lower</a:t>
            </a:r>
            <a:r>
              <a:rPr lang="es-MX" sz="2400" dirty="0"/>
              <a:t> </a:t>
            </a:r>
            <a:r>
              <a:rPr lang="es-MX" sz="2400" dirty="0" err="1"/>
              <a:t>proportion</a:t>
            </a:r>
            <a:r>
              <a:rPr lang="es-MX" sz="2400" dirty="0"/>
              <a:t> </a:t>
            </a:r>
            <a:r>
              <a:rPr lang="es-MX" sz="2400" dirty="0" err="1"/>
              <a:t>of</a:t>
            </a:r>
            <a:r>
              <a:rPr lang="es-MX" sz="2400" dirty="0"/>
              <a:t> </a:t>
            </a:r>
            <a:r>
              <a:rPr lang="es-MX" sz="2400" dirty="0" err="1"/>
              <a:t>women</a:t>
            </a:r>
            <a:r>
              <a:rPr lang="es-MX" sz="2400" dirty="0"/>
              <a:t> in Santa Fe grill</a:t>
            </a:r>
          </a:p>
        </p:txBody>
      </p:sp>
    </p:spTree>
    <p:extLst>
      <p:ext uri="{BB962C8B-B14F-4D97-AF65-F5344CB8AC3E}">
        <p14:creationId xmlns:p14="http://schemas.microsoft.com/office/powerpoint/2010/main" val="2463972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D33CA2-F4E8-FFBC-703B-1F5B191CB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5" y="2385936"/>
            <a:ext cx="11281998" cy="15764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DF5982-74B3-A810-8415-9A0C564C48FF}"/>
              </a:ext>
            </a:extLst>
          </p:cNvPr>
          <p:cNvSpPr txBox="1"/>
          <p:nvPr/>
        </p:nvSpPr>
        <p:spPr>
          <a:xfrm>
            <a:off x="347115" y="901700"/>
            <a:ext cx="111082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A </a:t>
            </a:r>
            <a:r>
              <a:rPr lang="es-MX" sz="2800" dirty="0" err="1"/>
              <a:t>proportion</a:t>
            </a:r>
            <a:r>
              <a:rPr lang="es-MX" sz="2800" dirty="0"/>
              <a:t> test </a:t>
            </a:r>
            <a:r>
              <a:rPr lang="es-MX" sz="2800" dirty="0" err="1"/>
              <a:t>confirms</a:t>
            </a:r>
            <a:r>
              <a:rPr lang="es-MX" sz="2800" dirty="0"/>
              <a:t> </a:t>
            </a:r>
            <a:r>
              <a:rPr lang="es-MX" sz="2800" dirty="0" err="1"/>
              <a:t>the</a:t>
            </a:r>
            <a:r>
              <a:rPr lang="es-MX" sz="2800" dirty="0"/>
              <a:t> </a:t>
            </a:r>
            <a:r>
              <a:rPr lang="es-MX" sz="2800" dirty="0" err="1"/>
              <a:t>observed</a:t>
            </a:r>
            <a:r>
              <a:rPr lang="es-MX" sz="2800" dirty="0"/>
              <a:t> </a:t>
            </a:r>
            <a:r>
              <a:rPr lang="es-MX" sz="2800" dirty="0" err="1"/>
              <a:t>gender</a:t>
            </a:r>
            <a:r>
              <a:rPr lang="es-MX" sz="2800" dirty="0"/>
              <a:t> </a:t>
            </a:r>
            <a:r>
              <a:rPr lang="es-MX" sz="2800" dirty="0" err="1"/>
              <a:t>difference</a:t>
            </a:r>
            <a:r>
              <a:rPr lang="es-MX" sz="2800" dirty="0"/>
              <a:t> </a:t>
            </a:r>
            <a:r>
              <a:rPr lang="es-MX" sz="2800" dirty="0" err="1"/>
              <a:t>preferences</a:t>
            </a:r>
            <a:r>
              <a:rPr lang="es-MX" sz="2800" dirty="0"/>
              <a:t> </a:t>
            </a:r>
            <a:r>
              <a:rPr lang="es-MX" sz="2800" dirty="0" err="1"/>
              <a:t>for</a:t>
            </a:r>
            <a:r>
              <a:rPr lang="es-MX" sz="2800" dirty="0"/>
              <a:t> </a:t>
            </a:r>
            <a:r>
              <a:rPr lang="es-MX" sz="2800" dirty="0" err="1"/>
              <a:t>Mexican</a:t>
            </a:r>
            <a:r>
              <a:rPr lang="es-MX" sz="2800" dirty="0"/>
              <a:t> restaurant</a:t>
            </a:r>
          </a:p>
        </p:txBody>
      </p:sp>
    </p:spTree>
    <p:extLst>
      <p:ext uri="{BB962C8B-B14F-4D97-AF65-F5344CB8AC3E}">
        <p14:creationId xmlns:p14="http://schemas.microsoft.com/office/powerpoint/2010/main" val="2863631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DFE69-D370-722A-D3BE-7F65658D7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C66E0E2-EF71-296C-DCC0-8E91EE5AB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FF4CE5-D883-B4C8-7F32-23F3D7B39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51DE39-1F9A-045F-9FDE-A726ED637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4" y="0"/>
            <a:ext cx="7534655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4" name="Picture 3" descr="Binoculars looking out on island lighthouse">
            <a:extLst>
              <a:ext uri="{FF2B5EF4-FFF2-40B4-BE49-F238E27FC236}">
                <a16:creationId xmlns:a16="http://schemas.microsoft.com/office/drawing/2014/main" id="{91F50FB2-334E-5CA4-D70A-F037E078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7" r="26822" b="-1"/>
          <a:stretch>
            <a:fillRect/>
          </a:stretch>
        </p:blipFill>
        <p:spPr>
          <a:xfrm>
            <a:off x="20" y="10"/>
            <a:ext cx="4657324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93EEC4-A0AE-6664-973E-223905E99401}"/>
              </a:ext>
            </a:extLst>
          </p:cNvPr>
          <p:cNvSpPr txBox="1"/>
          <p:nvPr/>
        </p:nvSpPr>
        <p:spPr>
          <a:xfrm>
            <a:off x="5039275" y="2359025"/>
            <a:ext cx="6654970" cy="35941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Task </a:t>
            </a:r>
            <a:r>
              <a:rPr lang="en-US" sz="2400" spc="50" dirty="0">
                <a:solidFill>
                  <a:prstClr val="black"/>
                </a:solidFill>
                <a:latin typeface="Franklin Gothic Medium"/>
              </a:rPr>
              <a:t>8</a:t>
            </a: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Medium"/>
                <a:ea typeface="+mn-ea"/>
                <a:cs typeface="+mn-cs"/>
              </a:rPr>
              <a:t>Propose survey questions to help reverse this situation. Justify your proposed questions. Would you ask only women, only men, or both? Why? </a:t>
            </a:r>
          </a:p>
          <a:p>
            <a:pPr marL="0" marR="0" lvl="0" indent="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US" spc="50" dirty="0">
              <a:solidFill>
                <a:prstClr val="black"/>
              </a:solidFill>
              <a:latin typeface="Franklin Gothic Medium"/>
            </a:endParaRPr>
          </a:p>
          <a:p>
            <a:pPr lvl="0">
              <a:lnSpc>
                <a:spcPct val="101000"/>
              </a:lnSpc>
              <a:spcAft>
                <a:spcPts val="600"/>
              </a:spcAft>
              <a:defRPr/>
            </a:pPr>
            <a:r>
              <a:rPr lang="en-US" spc="50" dirty="0">
                <a:solidFill>
                  <a:prstClr val="black"/>
                </a:solidFill>
              </a:rPr>
              <a:t>Your answer (in-person):</a:t>
            </a:r>
          </a:p>
          <a:p>
            <a:pPr lvl="0">
              <a:lnSpc>
                <a:spcPct val="101000"/>
              </a:lnSpc>
              <a:spcAft>
                <a:spcPts val="600"/>
              </a:spcAft>
              <a:defRPr/>
            </a:pPr>
            <a:endParaRPr lang="en-US" spc="50" dirty="0">
              <a:solidFill>
                <a:prstClr val="black"/>
              </a:solidFill>
            </a:endParaRPr>
          </a:p>
          <a:p>
            <a:pPr lvl="0">
              <a:lnSpc>
                <a:spcPct val="101000"/>
              </a:lnSpc>
              <a:spcAft>
                <a:spcPts val="600"/>
              </a:spcAft>
              <a:defRPr/>
            </a:pPr>
            <a:r>
              <a:rPr lang="en-US" spc="50" dirty="0">
                <a:solidFill>
                  <a:prstClr val="black"/>
                </a:solidFill>
              </a:rPr>
              <a:t>Your AI agent answer:</a:t>
            </a: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1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800" b="0" i="0" u="none" strike="noStrike" kern="1200" cap="none" spc="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Medium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282C3A-8DA2-7727-7270-2260E4B36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426" y="5081111"/>
            <a:ext cx="3088489" cy="177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37183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682</Words>
  <Application>Microsoft Office PowerPoint</Application>
  <PresentationFormat>Widescreen</PresentationFormat>
  <Paragraphs>94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Franklin Gothic Demi Cond</vt:lpstr>
      <vt:lpstr>Franklin Gothic Medium</vt:lpstr>
      <vt:lpstr>Helvetica</vt:lpstr>
      <vt:lpstr>Wingdings</vt:lpstr>
      <vt:lpstr>JuxtaposeVTI</vt:lpstr>
      <vt:lpstr>SPSS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Alonso Diaz</dc:creator>
  <cp:lastModifiedBy>Santiago Alonso Diaz</cp:lastModifiedBy>
  <cp:revision>16</cp:revision>
  <dcterms:created xsi:type="dcterms:W3CDTF">2025-09-04T20:38:54Z</dcterms:created>
  <dcterms:modified xsi:type="dcterms:W3CDTF">2025-09-11T15:36:26Z</dcterms:modified>
</cp:coreProperties>
</file>