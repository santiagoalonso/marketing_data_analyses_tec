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66" r:id="rId4"/>
    <p:sldId id="261" r:id="rId5"/>
    <p:sldId id="260" r:id="rId6"/>
    <p:sldId id="264" r:id="rId7"/>
    <p:sldId id="267" r:id="rId8"/>
    <p:sldId id="258" r:id="rId9"/>
    <p:sldId id="268" r:id="rId10"/>
    <p:sldId id="269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79" r:id="rId19"/>
    <p:sldId id="278" r:id="rId20"/>
    <p:sldId id="280" r:id="rId21"/>
    <p:sldId id="281" r:id="rId22"/>
    <p:sldId id="282" r:id="rId23"/>
    <p:sldId id="286" r:id="rId24"/>
    <p:sldId id="287" r:id="rId25"/>
    <p:sldId id="288" r:id="rId26"/>
    <p:sldId id="289" r:id="rId27"/>
    <p:sldId id="290" r:id="rId28"/>
    <p:sldId id="291" r:id="rId29"/>
    <p:sldId id="283" r:id="rId30"/>
    <p:sldId id="284" r:id="rId31"/>
    <p:sldId id="285" r:id="rId32"/>
    <p:sldId id="293" r:id="rId33"/>
    <p:sldId id="294" r:id="rId34"/>
    <p:sldId id="292" r:id="rId35"/>
    <p:sldId id="295" r:id="rId36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10" autoAdjust="0"/>
    <p:restoredTop sz="94660"/>
  </p:normalViewPr>
  <p:slideViewPr>
    <p:cSldViewPr snapToGrid="0">
      <p:cViewPr varScale="1">
        <p:scale>
          <a:sx n="56" d="100"/>
          <a:sy n="56" d="100"/>
        </p:scale>
        <p:origin x="11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263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975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175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21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9/10/2025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350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9/10/2025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386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9/10/2025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876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907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661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991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571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8115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r4ds.hadley.nz/eda" TargetMode="Externa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ylervigen.com/spurious-correlations" TargetMode="External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D6EE05-8A6C-5DED-4A03-F937BCBA66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091" r="11920" b="1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21F66AB-6D67-4C86-A415-0B6E4EEC5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23811" y="423809"/>
            <a:ext cx="6858002" cy="6010383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1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654D02-AADB-9AC9-C10B-7D3846976F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786" y="908651"/>
            <a:ext cx="5230366" cy="4005454"/>
          </a:xfrm>
        </p:spPr>
        <p:txBody>
          <a:bodyPr anchor="t">
            <a:normAutofit/>
          </a:bodyPr>
          <a:lstStyle/>
          <a:p>
            <a:r>
              <a:rPr lang="es-MX" sz="6800"/>
              <a:t>SPSS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177001-2CBF-F9DD-9482-CFC04FE66B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3787" y="5050632"/>
            <a:ext cx="3793200" cy="1129888"/>
          </a:xfrm>
        </p:spPr>
        <p:txBody>
          <a:bodyPr anchor="b">
            <a:normAutofit/>
          </a:bodyPr>
          <a:lstStyle/>
          <a:p>
            <a:r>
              <a:rPr lang="es-MX" sz="2200"/>
              <a:t>Tecnologico de Monterrey</a:t>
            </a:r>
          </a:p>
          <a:p>
            <a:r>
              <a:rPr lang="es-MX" sz="2200"/>
              <a:t>EGADE Business School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B66F5E1-B07D-4718-F4B4-5FCE4B7E8F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9006" y="727509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0204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Dog looking out of the window of a boat">
            <a:extLst>
              <a:ext uri="{FF2B5EF4-FFF2-40B4-BE49-F238E27FC236}">
                <a16:creationId xmlns:a16="http://schemas.microsoft.com/office/drawing/2014/main" id="{AAA7CFF4-0B62-75F2-3155-7D21902E6E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29" b="1300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C2A596-CAAD-62DD-94A7-5F3DA2EDBCF2}"/>
              </a:ext>
            </a:extLst>
          </p:cNvPr>
          <p:cNvSpPr txBox="1"/>
          <p:nvPr/>
        </p:nvSpPr>
        <p:spPr>
          <a:xfrm>
            <a:off x="704088" y="871759"/>
            <a:ext cx="5067300" cy="34970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5400" cap="all" spc="3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Know your data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23311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5D56DC-0E14-E7D3-2318-A9989992C0B4}"/>
              </a:ext>
            </a:extLst>
          </p:cNvPr>
          <p:cNvSpPr txBox="1"/>
          <p:nvPr/>
        </p:nvSpPr>
        <p:spPr>
          <a:xfrm>
            <a:off x="3906203" y="1426235"/>
            <a:ext cx="6097904" cy="1491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2286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s-MX" sz="2800" dirty="0"/>
              <a:t>Customers produce data</a:t>
            </a:r>
          </a:p>
          <a:p>
            <a:pPr marL="457200" marR="0" lvl="0" indent="-2286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s-MX" sz="1400" dirty="0"/>
              <a:t>Patterns in customers’ data</a:t>
            </a:r>
          </a:p>
          <a:p>
            <a:pPr marL="457200" marR="0" lvl="0" indent="-2286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s-MX" sz="1400" dirty="0"/>
              <a:t>All/some customers differ</a:t>
            </a:r>
          </a:p>
          <a:p>
            <a:pPr marL="457200" marR="0" lvl="0" indent="-2286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s-MX" sz="1400" dirty="0"/>
              <a:t>Customers are not irrational, but reasonable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BD17CB-2493-34BA-9489-B7A9EC75DF08}"/>
              </a:ext>
            </a:extLst>
          </p:cNvPr>
          <p:cNvSpPr txBox="1"/>
          <p:nvPr/>
        </p:nvSpPr>
        <p:spPr>
          <a:xfrm>
            <a:off x="1143000" y="1383030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600" dirty="0" err="1"/>
              <a:t>Principles</a:t>
            </a:r>
            <a:endParaRPr lang="es-MX" sz="3600" dirty="0"/>
          </a:p>
        </p:txBody>
      </p:sp>
    </p:spTree>
    <p:extLst>
      <p:ext uri="{BB962C8B-B14F-4D97-AF65-F5344CB8AC3E}">
        <p14:creationId xmlns:p14="http://schemas.microsoft.com/office/powerpoint/2010/main" val="4059279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DA6636-C1AD-C9D1-1F2C-0BE4918D2E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250" y="1531052"/>
            <a:ext cx="10985500" cy="518305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FB9703-1F27-4E00-C783-3BA8F0DD27FD}"/>
              </a:ext>
            </a:extLst>
          </p:cNvPr>
          <p:cNvSpPr txBox="1"/>
          <p:nvPr/>
        </p:nvSpPr>
        <p:spPr>
          <a:xfrm>
            <a:off x="603250" y="823166"/>
            <a:ext cx="5524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dirty="0" err="1"/>
              <a:t>Know</a:t>
            </a:r>
            <a:r>
              <a:rPr lang="es-MX" sz="2000" dirty="0"/>
              <a:t> </a:t>
            </a:r>
            <a:r>
              <a:rPr lang="es-MX" sz="2000" dirty="0" err="1"/>
              <a:t>your</a:t>
            </a:r>
            <a:r>
              <a:rPr lang="es-MX" sz="2000" dirty="0"/>
              <a:t> data </a:t>
            </a:r>
            <a:r>
              <a:rPr lang="es-MX" sz="2000" dirty="0" err="1"/>
              <a:t>types</a:t>
            </a:r>
            <a:r>
              <a:rPr lang="es-MX" sz="2000" dirty="0"/>
              <a:t>. </a:t>
            </a:r>
          </a:p>
          <a:p>
            <a:r>
              <a:rPr lang="es-MX" sz="2000" dirty="0"/>
              <a:t>In SPSS, </a:t>
            </a:r>
            <a:r>
              <a:rPr lang="es-MX" sz="2000" dirty="0" err="1"/>
              <a:t>go</a:t>
            </a:r>
            <a:r>
              <a:rPr lang="es-MX" sz="2000" dirty="0"/>
              <a:t> </a:t>
            </a:r>
            <a:r>
              <a:rPr lang="es-MX" sz="2000" dirty="0" err="1"/>
              <a:t>to</a:t>
            </a:r>
            <a:r>
              <a:rPr lang="es-MX" sz="2000" dirty="0"/>
              <a:t> variable </a:t>
            </a:r>
            <a:r>
              <a:rPr lang="es-MX" sz="2000" dirty="0" err="1"/>
              <a:t>view</a:t>
            </a:r>
            <a:endParaRPr lang="es-MX" sz="2000" dirty="0"/>
          </a:p>
        </p:txBody>
      </p:sp>
    </p:spTree>
    <p:extLst>
      <p:ext uri="{BB962C8B-B14F-4D97-AF65-F5344CB8AC3E}">
        <p14:creationId xmlns:p14="http://schemas.microsoft.com/office/powerpoint/2010/main" val="3415540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2B951FD-94F7-E138-3EC2-A66A551D9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1B7CE9B-E3E8-0A69-2D63-7BE7F08181DE}"/>
              </a:ext>
            </a:extLst>
          </p:cNvPr>
          <p:cNvSpPr txBox="1"/>
          <p:nvPr/>
        </p:nvSpPr>
        <p:spPr>
          <a:xfrm>
            <a:off x="247700" y="909896"/>
            <a:ext cx="7544802" cy="53512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Analyzable</a:t>
            </a:r>
            <a:r>
              <a:rPr lang="en-US" sz="1600" b="0" i="0" dirty="0">
                <a:effectLst/>
              </a:rPr>
              <a:t>: Data is structured and organized in a way that allows for analysis (e.g. dummy coding).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0" i="0" dirty="0">
              <a:effectLst/>
            </a:endParaRP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Interpretable</a:t>
            </a:r>
            <a:r>
              <a:rPr lang="en-US" sz="1600" b="0" i="0" dirty="0">
                <a:effectLst/>
              </a:rPr>
              <a:t>: Data enables accurate interpretation (e.g. no category coding errors).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0" i="0" dirty="0">
              <a:effectLst/>
            </a:endParaRP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Complete</a:t>
            </a:r>
            <a:r>
              <a:rPr lang="en-US" sz="1600" b="0" i="0" dirty="0">
                <a:effectLst/>
              </a:rPr>
              <a:t>: Data has all necessary information for analysis (e.g. no missing values).</a:t>
            </a:r>
          </a:p>
          <a:p>
            <a:pPr>
              <a:spcAft>
                <a:spcPts val="600"/>
              </a:spcAft>
            </a:pPr>
            <a:endParaRPr lang="en-US" sz="1600" b="0" i="0" dirty="0">
              <a:effectLst/>
            </a:endParaRP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Valid</a:t>
            </a:r>
            <a:r>
              <a:rPr lang="en-US" sz="1600" b="0" i="0" dirty="0">
                <a:effectLst/>
              </a:rPr>
              <a:t>: Data adheres to predefined formats (e.g. survey is internally valid).</a:t>
            </a:r>
          </a:p>
          <a:p>
            <a:pPr>
              <a:spcAft>
                <a:spcPts val="600"/>
              </a:spcAft>
            </a:pPr>
            <a:endParaRPr lang="en-US" sz="1600" b="0" i="0" dirty="0">
              <a:effectLst/>
            </a:endParaRP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Accurate</a:t>
            </a:r>
            <a:r>
              <a:rPr lang="en-US" sz="1600" b="0" i="0" dirty="0">
                <a:effectLst/>
              </a:rPr>
              <a:t>: Data reflects the true state of the information it represents (e.g. no outliers).</a:t>
            </a:r>
          </a:p>
          <a:p>
            <a:pPr>
              <a:spcAft>
                <a:spcPts val="600"/>
              </a:spcAft>
            </a:pPr>
            <a:endParaRPr lang="en-US" sz="1600" b="0" i="0" dirty="0">
              <a:effectLst/>
            </a:endParaRP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Consistent</a:t>
            </a:r>
            <a:r>
              <a:rPr lang="en-US" sz="1600" b="0" i="0" dirty="0">
                <a:effectLst/>
              </a:rPr>
              <a:t>: Data is not contradictory (e.g. assets + liabilities = equity).</a:t>
            </a: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b="0" i="0" dirty="0">
              <a:effectLst/>
            </a:endParaRPr>
          </a:p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effectLst/>
              </a:rPr>
              <a:t>De-identified</a:t>
            </a:r>
            <a:r>
              <a:rPr lang="en-US" sz="1600" b="0" i="0" dirty="0">
                <a:effectLst/>
              </a:rPr>
              <a:t>: No personally identifiable information, protecting privacy and complying with regulations.</a:t>
            </a:r>
          </a:p>
        </p:txBody>
      </p:sp>
      <p:pic>
        <p:nvPicPr>
          <p:cNvPr id="5" name="Picture 4" descr="A cartoon of a person flying over a computer screen&#10;&#10;AI-generated content may be incorrect.">
            <a:extLst>
              <a:ext uri="{FF2B5EF4-FFF2-40B4-BE49-F238E27FC236}">
                <a16:creationId xmlns:a16="http://schemas.microsoft.com/office/drawing/2014/main" id="{8AAA4312-E31C-B61F-D3E3-DEC7334E8A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74" r="8673"/>
          <a:stretch>
            <a:fillRect/>
          </a:stretch>
        </p:blipFill>
        <p:spPr>
          <a:xfrm>
            <a:off x="8040202" y="1138740"/>
            <a:ext cx="4018498" cy="4775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C488F8C-0208-7961-2276-3D019C363F14}"/>
              </a:ext>
            </a:extLst>
          </p:cNvPr>
          <p:cNvSpPr txBox="1"/>
          <p:nvPr/>
        </p:nvSpPr>
        <p:spPr>
          <a:xfrm>
            <a:off x="247700" y="228507"/>
            <a:ext cx="552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dirty="0" err="1"/>
              <a:t>Know</a:t>
            </a:r>
            <a:r>
              <a:rPr lang="es-MX" sz="2000" dirty="0"/>
              <a:t> </a:t>
            </a:r>
            <a:r>
              <a:rPr lang="es-MX" sz="2000" dirty="0" err="1"/>
              <a:t>your</a:t>
            </a:r>
            <a:r>
              <a:rPr lang="es-MX" sz="2000" dirty="0"/>
              <a:t> data </a:t>
            </a:r>
            <a:r>
              <a:rPr lang="es-MX" sz="2000" dirty="0" err="1"/>
              <a:t>readiness</a:t>
            </a:r>
            <a:r>
              <a:rPr lang="es-MX" sz="20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665167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4B30A7-F316-B8D9-F78D-5654559A3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Dog looking out of the window of a boat">
            <a:extLst>
              <a:ext uri="{FF2B5EF4-FFF2-40B4-BE49-F238E27FC236}">
                <a16:creationId xmlns:a16="http://schemas.microsoft.com/office/drawing/2014/main" id="{129B66D5-E6FE-5792-3697-C68086169B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29" b="1300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0648DB-7E7E-5660-528F-F2CA81E27B83}"/>
              </a:ext>
            </a:extLst>
          </p:cNvPr>
          <p:cNvSpPr txBox="1"/>
          <p:nvPr/>
        </p:nvSpPr>
        <p:spPr>
          <a:xfrm>
            <a:off x="704088" y="871759"/>
            <a:ext cx="5067300" cy="34970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5400" cap="all" spc="3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Exploratory data analysis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5085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09BEA-0194-D998-AF1F-4D35AAEAA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C36DB7-DD7C-E942-2E6E-19D228FA8D41}"/>
              </a:ext>
            </a:extLst>
          </p:cNvPr>
          <p:cNvSpPr txBox="1"/>
          <p:nvPr/>
        </p:nvSpPr>
        <p:spPr>
          <a:xfrm>
            <a:off x="3906203" y="1426235"/>
            <a:ext cx="6097904" cy="1491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2286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s-MX" sz="1400" dirty="0"/>
              <a:t>Customers produce data</a:t>
            </a:r>
          </a:p>
          <a:p>
            <a:pPr marL="457200" marR="0" lvl="0" indent="-2286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s-MX" sz="2800" dirty="0"/>
              <a:t>Patterns in customers’ data</a:t>
            </a:r>
          </a:p>
          <a:p>
            <a:pPr marL="457200" marR="0" lvl="0" indent="-2286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s-MX" sz="1400" dirty="0"/>
              <a:t>All/some customers differ</a:t>
            </a:r>
          </a:p>
          <a:p>
            <a:pPr marL="457200" marR="0" lvl="0" indent="-2286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s-MX" sz="1400" dirty="0"/>
              <a:t>Customers are not irrational, but reasonable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88F7DA-990F-8740-7B7D-1CB7BA99B84B}"/>
              </a:ext>
            </a:extLst>
          </p:cNvPr>
          <p:cNvSpPr txBox="1"/>
          <p:nvPr/>
        </p:nvSpPr>
        <p:spPr>
          <a:xfrm>
            <a:off x="1143000" y="1383030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600" dirty="0" err="1"/>
              <a:t>Principles</a:t>
            </a:r>
            <a:endParaRPr lang="es-MX" sz="3600" dirty="0"/>
          </a:p>
        </p:txBody>
      </p:sp>
    </p:spTree>
    <p:extLst>
      <p:ext uri="{BB962C8B-B14F-4D97-AF65-F5344CB8AC3E}">
        <p14:creationId xmlns:p14="http://schemas.microsoft.com/office/powerpoint/2010/main" val="2934145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FF9C-226B-8333-AF20-BDEE27C3F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Exploratory</a:t>
            </a:r>
            <a:r>
              <a:rPr lang="es-MX" dirty="0"/>
              <a:t> Data </a:t>
            </a:r>
            <a:r>
              <a:rPr lang="es-MX" dirty="0" err="1"/>
              <a:t>analysis</a:t>
            </a:r>
            <a:endParaRPr lang="es-MX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3DB307-0D59-8685-D5E6-2B1389CC52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8795" y="2221992"/>
            <a:ext cx="8614410" cy="3034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Hadley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Wickham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recommends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these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two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general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questions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to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begin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with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(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  <a:hlinkClick r:id="rId2"/>
              </a:rPr>
              <a:t>https://r4ds.hadley.nz/eda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ystem-ui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What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type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of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1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system-ui"/>
              </a:rPr>
              <a:t>variation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occurs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within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my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variables?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endParaRPr kumimoji="0" lang="es-MX" altLang="es-MX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ystem-ui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What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type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of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1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latin typeface="system-ui"/>
              </a:rPr>
              <a:t>covariation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occurs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between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</a:t>
            </a:r>
            <a:r>
              <a:rPr kumimoji="0" lang="es-MX" altLang="es-MX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my</a:t>
            </a:r>
            <a:r>
              <a:rPr kumimoji="0" lang="es-MX" altLang="es-MX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  <a:t> variables?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02283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olored pencils on black background">
            <a:extLst>
              <a:ext uri="{FF2B5EF4-FFF2-40B4-BE49-F238E27FC236}">
                <a16:creationId xmlns:a16="http://schemas.microsoft.com/office/drawing/2014/main" id="{0D31258C-D18F-C56E-B3D9-2DCC33EA24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98" b="823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696368-63C9-075C-85D6-B2AD3AF7C40A}"/>
              </a:ext>
            </a:extLst>
          </p:cNvPr>
          <p:cNvSpPr txBox="1"/>
          <p:nvPr/>
        </p:nvSpPr>
        <p:spPr>
          <a:xfrm>
            <a:off x="704088" y="871759"/>
            <a:ext cx="5067300" cy="34970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s-MX" sz="5400" b="1" cap="all" spc="3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</a:t>
            </a:r>
            <a:r>
              <a:rPr kumimoji="0" lang="en-US" altLang="es-MX" sz="5400" b="1" i="0" u="none" strike="noStrike" cap="all" spc="30" normalizeH="0">
                <a:ln>
                  <a:noFill/>
                </a:ln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ariation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5400" b="1" cap="all" spc="30">
              <a:solidFill>
                <a:srgbClr val="FFFFFF"/>
              </a:solidFill>
              <a:latin typeface="+mj-lt"/>
              <a:ea typeface="+mj-ea"/>
              <a:cs typeface="+mj-cs"/>
            </a:endParaRP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cap="all" spc="3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Within a variable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6732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493E73-F90D-3D83-7195-85CA70C63535}"/>
              </a:ext>
            </a:extLst>
          </p:cNvPr>
          <p:cNvSpPr txBox="1"/>
          <p:nvPr/>
        </p:nvSpPr>
        <p:spPr>
          <a:xfrm>
            <a:off x="1085850" y="2148840"/>
            <a:ext cx="29747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800"/>
              <a:t>Numeric variation</a:t>
            </a:r>
            <a:endParaRPr lang="es-MX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EAB6C-DC61-6D78-0B5C-1A08FDAB9FE8}"/>
              </a:ext>
            </a:extLst>
          </p:cNvPr>
          <p:cNvSpPr txBox="1"/>
          <p:nvPr/>
        </p:nvSpPr>
        <p:spPr>
          <a:xfrm>
            <a:off x="5181600" y="2302728"/>
            <a:ext cx="4178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/>
              <a:t>Let’s pick a NUMERIC variable in SPSS</a:t>
            </a:r>
            <a:endParaRPr lang="es-MX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951106-FDDD-FE87-AE42-C921F26345F9}"/>
              </a:ext>
            </a:extLst>
          </p:cNvPr>
          <p:cNvSpPr txBox="1"/>
          <p:nvPr/>
        </p:nvSpPr>
        <p:spPr>
          <a:xfrm>
            <a:off x="6074646" y="3703320"/>
            <a:ext cx="2348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/>
              <a:t>Gross </a:t>
            </a:r>
            <a:r>
              <a:rPr lang="es-MX" dirty="0" err="1"/>
              <a:t>Annual</a:t>
            </a:r>
            <a:r>
              <a:rPr lang="es-MX" dirty="0"/>
              <a:t> </a:t>
            </a:r>
            <a:r>
              <a:rPr lang="es-MX" dirty="0" err="1"/>
              <a:t>Income</a:t>
            </a:r>
            <a:endParaRPr lang="es-MX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20B6E48-FE27-0BFD-E6D5-0BE879309148}"/>
              </a:ext>
            </a:extLst>
          </p:cNvPr>
          <p:cNvCxnSpPr/>
          <p:nvPr/>
        </p:nvCxnSpPr>
        <p:spPr>
          <a:xfrm>
            <a:off x="7143750" y="2672060"/>
            <a:ext cx="0" cy="916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85827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9CDEDF-36D0-2A81-A358-B71640152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1410"/>
            <a:ext cx="12192000" cy="56580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2F6EEB7-FEC8-E59D-0104-02F856578DFA}"/>
              </a:ext>
            </a:extLst>
          </p:cNvPr>
          <p:cNvSpPr txBox="1"/>
          <p:nvPr/>
        </p:nvSpPr>
        <p:spPr>
          <a:xfrm>
            <a:off x="0" y="108420"/>
            <a:ext cx="68123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000" dirty="0"/>
              <a:t>In SPSS: </a:t>
            </a:r>
            <a:r>
              <a:rPr lang="es-MX" sz="2000" dirty="0" err="1"/>
              <a:t>Analyze</a:t>
            </a:r>
            <a:r>
              <a:rPr lang="es-MX" sz="2000" dirty="0"/>
              <a:t> -&gt; Descriptive </a:t>
            </a:r>
            <a:r>
              <a:rPr lang="es-MX" sz="2000" dirty="0" err="1"/>
              <a:t>Statistics</a:t>
            </a:r>
            <a:r>
              <a:rPr lang="es-MX" sz="2000" dirty="0"/>
              <a:t> -&gt; Descriptives … </a:t>
            </a:r>
          </a:p>
        </p:txBody>
      </p:sp>
    </p:spTree>
    <p:extLst>
      <p:ext uri="{BB962C8B-B14F-4D97-AF65-F5344CB8AC3E}">
        <p14:creationId xmlns:p14="http://schemas.microsoft.com/office/powerpoint/2010/main" val="28060800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9C31F6-FA90-A13C-A6CB-5AD10124FF76}"/>
              </a:ext>
            </a:extLst>
          </p:cNvPr>
          <p:cNvSpPr txBox="1"/>
          <p:nvPr/>
        </p:nvSpPr>
        <p:spPr>
          <a:xfrm>
            <a:off x="102870" y="2905779"/>
            <a:ext cx="3246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800" dirty="0" err="1"/>
              <a:t>Select</a:t>
            </a:r>
            <a:r>
              <a:rPr lang="es-MX" sz="2800" dirty="0"/>
              <a:t> X35 - </a:t>
            </a:r>
            <a:r>
              <a:rPr lang="es-MX" sz="2800" dirty="0" err="1"/>
              <a:t>Income</a:t>
            </a:r>
            <a:endParaRPr lang="es-MX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50AEC-4AB1-32E8-C2FD-6EF08B131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787" y="461548"/>
            <a:ext cx="7592485" cy="593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6267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66408A-9FB9-004E-C12E-5634F6198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160020"/>
            <a:ext cx="11167110" cy="651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36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3E324C-EA98-A29C-FAB4-EC0D76563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612860"/>
            <a:ext cx="10476943" cy="62451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390EDB-3E04-5C5A-4AE9-65CF5B57CC33}"/>
              </a:ext>
            </a:extLst>
          </p:cNvPr>
          <p:cNvSpPr txBox="1"/>
          <p:nvPr/>
        </p:nvSpPr>
        <p:spPr>
          <a:xfrm>
            <a:off x="0" y="108420"/>
            <a:ext cx="38624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000" dirty="0"/>
              <a:t>In SPSS: </a:t>
            </a:r>
            <a:r>
              <a:rPr lang="es-MX" sz="2000" dirty="0" err="1"/>
              <a:t>Graphs</a:t>
            </a:r>
            <a:r>
              <a:rPr lang="es-MX" sz="2000" dirty="0"/>
              <a:t>-&gt; </a:t>
            </a:r>
            <a:r>
              <a:rPr lang="es-MX" sz="2000" dirty="0" err="1"/>
              <a:t>Histogram</a:t>
            </a:r>
            <a:r>
              <a:rPr lang="es-MX" sz="2000" dirty="0"/>
              <a:t> … </a:t>
            </a:r>
          </a:p>
        </p:txBody>
      </p:sp>
    </p:spTree>
    <p:extLst>
      <p:ext uri="{BB962C8B-B14F-4D97-AF65-F5344CB8AC3E}">
        <p14:creationId xmlns:p14="http://schemas.microsoft.com/office/powerpoint/2010/main" val="914488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88F3EC-438A-6CE7-2A9C-81B370682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77" y="0"/>
            <a:ext cx="10717213" cy="686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0832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90167-9088-FE41-2A90-85CC4D8D4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C3224A-2956-FD17-C2DC-9E23BD183D32}"/>
              </a:ext>
            </a:extLst>
          </p:cNvPr>
          <p:cNvSpPr txBox="1"/>
          <p:nvPr/>
        </p:nvSpPr>
        <p:spPr>
          <a:xfrm>
            <a:off x="545783" y="2626385"/>
            <a:ext cx="4540567" cy="533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lang="en-US" altLang="es-MX" sz="2800" dirty="0"/>
              <a:t>Patterns in customers’ data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0E79FA-6EC4-0F63-B377-AA0A7345442F}"/>
              </a:ext>
            </a:extLst>
          </p:cNvPr>
          <p:cNvSpPr txBox="1"/>
          <p:nvPr/>
        </p:nvSpPr>
        <p:spPr>
          <a:xfrm>
            <a:off x="6388284" y="2505670"/>
            <a:ext cx="32113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dirty="0" err="1"/>
              <a:t>Proposed</a:t>
            </a:r>
            <a:r>
              <a:rPr lang="es-MX" dirty="0"/>
              <a:t> </a:t>
            </a:r>
            <a:r>
              <a:rPr lang="es-MX" dirty="0" err="1"/>
              <a:t>pattern</a:t>
            </a:r>
            <a:r>
              <a:rPr lang="es-MX" dirty="0"/>
              <a:t> in </a:t>
            </a:r>
            <a:r>
              <a:rPr lang="es-MX" dirty="0" err="1"/>
              <a:t>customers</a:t>
            </a:r>
            <a:r>
              <a:rPr lang="es-MX" dirty="0"/>
              <a:t>:</a:t>
            </a:r>
          </a:p>
          <a:p>
            <a:pPr algn="ctr"/>
            <a:endParaRPr lang="es-MX" dirty="0"/>
          </a:p>
          <a:p>
            <a:pPr algn="ctr"/>
            <a:r>
              <a:rPr lang="es-MX" dirty="0" err="1"/>
              <a:t>They</a:t>
            </a:r>
            <a:r>
              <a:rPr lang="es-MX" dirty="0"/>
              <a:t> </a:t>
            </a:r>
            <a:r>
              <a:rPr lang="es-MX" dirty="0" err="1"/>
              <a:t>have</a:t>
            </a:r>
            <a:r>
              <a:rPr lang="es-MX" dirty="0"/>
              <a:t> variable </a:t>
            </a:r>
            <a:r>
              <a:rPr lang="es-MX" dirty="0" err="1"/>
              <a:t>income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814286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Work tools on a bench">
            <a:extLst>
              <a:ext uri="{FF2B5EF4-FFF2-40B4-BE49-F238E27FC236}">
                <a16:creationId xmlns:a16="http://schemas.microsoft.com/office/drawing/2014/main" id="{745A3D3D-8265-2F28-28B9-83DD670B0D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734" r="12436" b="-1"/>
          <a:stretch>
            <a:fillRect/>
          </a:stretch>
        </p:blipFill>
        <p:spPr>
          <a:xfrm>
            <a:off x="20" y="10"/>
            <a:ext cx="6044164" cy="685799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11FC409-B3C2-4F68-865C-C5333D6F2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81300" y="723900"/>
            <a:ext cx="461007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0993687-8E77-A0D8-5B7E-A38162ACB76D}"/>
              </a:ext>
            </a:extLst>
          </p:cNvPr>
          <p:cNvSpPr txBox="1"/>
          <p:nvPr/>
        </p:nvSpPr>
        <p:spPr>
          <a:xfrm>
            <a:off x="6204720" y="1010412"/>
            <a:ext cx="2687820" cy="5013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3600" dirty="0"/>
              <a:t>Task 1: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endParaRPr lang="en-US" sz="3600" dirty="0"/>
          </a:p>
          <a:p>
            <a:pPr>
              <a:lnSpc>
                <a:spcPct val="110000"/>
              </a:lnSpc>
              <a:spcAft>
                <a:spcPts val="600"/>
              </a:spcAft>
            </a:pPr>
            <a:endParaRPr lang="en-US" sz="36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810270D-76A7-44B3-9746-7EDF57886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81300" y="6142781"/>
            <a:ext cx="46100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1EE085A-2C0E-A51F-E376-75AFF2129787}"/>
              </a:ext>
            </a:extLst>
          </p:cNvPr>
          <p:cNvSpPr txBox="1"/>
          <p:nvPr/>
        </p:nvSpPr>
        <p:spPr>
          <a:xfrm>
            <a:off x="5986385" y="1859339"/>
            <a:ext cx="627417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/>
              <a:t>Which</a:t>
            </a:r>
            <a:r>
              <a:rPr lang="es-MX" dirty="0"/>
              <a:t> </a:t>
            </a:r>
            <a:r>
              <a:rPr lang="es-MX" dirty="0" err="1"/>
              <a:t>statement</a:t>
            </a:r>
            <a:r>
              <a:rPr lang="es-MX" dirty="0"/>
              <a:t> </a:t>
            </a:r>
            <a:r>
              <a:rPr lang="es-MX" dirty="0" err="1"/>
              <a:t>is</a:t>
            </a:r>
            <a:r>
              <a:rPr lang="es-MX" dirty="0"/>
              <a:t> </a:t>
            </a:r>
            <a:r>
              <a:rPr lang="es-MX" dirty="0" err="1"/>
              <a:t>sustainable</a:t>
            </a:r>
            <a:r>
              <a:rPr lang="es-MX" dirty="0"/>
              <a:t> </a:t>
            </a:r>
            <a:r>
              <a:rPr lang="es-MX" dirty="0" err="1"/>
              <a:t>with</a:t>
            </a:r>
            <a:r>
              <a:rPr lang="es-MX" dirty="0"/>
              <a:t> </a:t>
            </a:r>
            <a:r>
              <a:rPr lang="es-MX" dirty="0" err="1"/>
              <a:t>the</a:t>
            </a:r>
            <a:r>
              <a:rPr lang="es-MX" dirty="0"/>
              <a:t> </a:t>
            </a:r>
            <a:r>
              <a:rPr lang="es-MX" dirty="0" err="1"/>
              <a:t>observed</a:t>
            </a:r>
            <a:r>
              <a:rPr lang="es-MX" dirty="0"/>
              <a:t> </a:t>
            </a:r>
            <a:r>
              <a:rPr lang="es-MX" dirty="0" err="1"/>
              <a:t>variation</a:t>
            </a:r>
            <a:r>
              <a:rPr lang="es-MX" dirty="0"/>
              <a:t>? Pick </a:t>
            </a:r>
            <a:r>
              <a:rPr lang="es-MX" dirty="0" err="1"/>
              <a:t>one</a:t>
            </a:r>
            <a:r>
              <a:rPr lang="es-MX" dirty="0"/>
              <a:t>, </a:t>
            </a:r>
            <a:r>
              <a:rPr lang="es-MX" dirty="0" err="1"/>
              <a:t>write</a:t>
            </a:r>
            <a:r>
              <a:rPr lang="es-MX" dirty="0"/>
              <a:t> </a:t>
            </a:r>
            <a:r>
              <a:rPr lang="es-MX" dirty="0" err="1"/>
              <a:t>why</a:t>
            </a:r>
            <a:r>
              <a:rPr lang="es-MX" dirty="0"/>
              <a:t>. </a:t>
            </a:r>
          </a:p>
          <a:p>
            <a:endParaRPr lang="es-MX" dirty="0"/>
          </a:p>
          <a:p>
            <a:pPr algn="ctr"/>
            <a:r>
              <a:rPr lang="es-MX" dirty="0"/>
              <a:t> </a:t>
            </a:r>
            <a:r>
              <a:rPr lang="es-MX" dirty="0" err="1"/>
              <a:t>They</a:t>
            </a:r>
            <a:r>
              <a:rPr lang="es-MX" dirty="0"/>
              <a:t> </a:t>
            </a:r>
            <a:r>
              <a:rPr lang="es-MX" dirty="0" err="1"/>
              <a:t>have</a:t>
            </a:r>
            <a:r>
              <a:rPr lang="es-MX" dirty="0"/>
              <a:t> HIGHLY variable </a:t>
            </a:r>
            <a:r>
              <a:rPr lang="es-MX" dirty="0" err="1"/>
              <a:t>income</a:t>
            </a:r>
            <a:endParaRPr lang="es-MX" dirty="0"/>
          </a:p>
          <a:p>
            <a:pPr algn="ctr"/>
            <a:r>
              <a:rPr lang="es-MX" dirty="0"/>
              <a:t>vs.</a:t>
            </a:r>
          </a:p>
          <a:p>
            <a:pPr algn="ctr"/>
            <a:r>
              <a:rPr lang="es-MX" dirty="0" err="1"/>
              <a:t>They</a:t>
            </a:r>
            <a:r>
              <a:rPr lang="es-MX" dirty="0"/>
              <a:t> </a:t>
            </a:r>
            <a:r>
              <a:rPr lang="es-MX" dirty="0" err="1"/>
              <a:t>have</a:t>
            </a:r>
            <a:r>
              <a:rPr lang="es-MX" dirty="0"/>
              <a:t> BARELY variable </a:t>
            </a:r>
            <a:r>
              <a:rPr lang="es-MX" dirty="0" err="1"/>
              <a:t>income</a:t>
            </a:r>
            <a:endParaRPr lang="es-MX" dirty="0"/>
          </a:p>
          <a:p>
            <a:pPr algn="ctr"/>
            <a:endParaRPr lang="es-MX" dirty="0"/>
          </a:p>
          <a:p>
            <a:endParaRPr lang="es-MX" dirty="0"/>
          </a:p>
          <a:p>
            <a:r>
              <a:rPr lang="es-MX" dirty="0" err="1"/>
              <a:t>Think</a:t>
            </a:r>
            <a:r>
              <a:rPr lang="es-MX" dirty="0"/>
              <a:t> </a:t>
            </a:r>
            <a:r>
              <a:rPr lang="es-MX" dirty="0" err="1"/>
              <a:t>of</a:t>
            </a:r>
            <a:r>
              <a:rPr lang="es-MX" dirty="0"/>
              <a:t> a marketing </a:t>
            </a:r>
            <a:r>
              <a:rPr lang="es-MX" dirty="0" err="1"/>
              <a:t>strategy</a:t>
            </a:r>
            <a:r>
              <a:rPr lang="es-MX" dirty="0"/>
              <a:t> </a:t>
            </a:r>
            <a:r>
              <a:rPr lang="es-MX" dirty="0" err="1"/>
              <a:t>consequence</a:t>
            </a:r>
            <a:r>
              <a:rPr lang="es-MX" dirty="0"/>
              <a:t> </a:t>
            </a:r>
            <a:r>
              <a:rPr lang="es-MX" dirty="0" err="1"/>
              <a:t>of</a:t>
            </a:r>
            <a:r>
              <a:rPr lang="es-MX" dirty="0"/>
              <a:t> </a:t>
            </a:r>
            <a:r>
              <a:rPr lang="es-MX" dirty="0" err="1"/>
              <a:t>your</a:t>
            </a:r>
            <a:r>
              <a:rPr lang="es-MX" dirty="0"/>
              <a:t> pick.</a:t>
            </a:r>
          </a:p>
          <a:p>
            <a:endParaRPr lang="es-MX" dirty="0"/>
          </a:p>
          <a:p>
            <a:r>
              <a:rPr lang="en-US" dirty="0"/>
              <a:t>Your answer (in-person):</a:t>
            </a:r>
          </a:p>
          <a:p>
            <a:endParaRPr lang="en-US" dirty="0"/>
          </a:p>
          <a:p>
            <a:r>
              <a:rPr lang="en-US" dirty="0"/>
              <a:t>Your AI agent answer: </a:t>
            </a:r>
          </a:p>
          <a:p>
            <a:endParaRPr lang="es-MX" dirty="0"/>
          </a:p>
          <a:p>
            <a:r>
              <a:rPr lang="es-MX" dirty="0"/>
              <a:t> </a:t>
            </a:r>
          </a:p>
          <a:p>
            <a:pPr algn="ctr"/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305237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1F34F0-CF42-B248-E802-F3E35D3A7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062604-DB21-80C4-2394-1BEC5B2786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3973" b="1596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3904B0-622A-9633-CF1B-DC8245043AAA}"/>
              </a:ext>
            </a:extLst>
          </p:cNvPr>
          <p:cNvSpPr txBox="1"/>
          <p:nvPr/>
        </p:nvSpPr>
        <p:spPr>
          <a:xfrm>
            <a:off x="704088" y="871759"/>
            <a:ext cx="5067300" cy="34970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s-MX" sz="5400" b="1" cap="all" spc="3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CoV</a:t>
            </a:r>
            <a:r>
              <a:rPr kumimoji="0" lang="en-US" altLang="es-MX" sz="5400" b="1" i="0" u="none" strike="noStrike" cap="all" spc="30" normalizeH="0">
                <a:ln>
                  <a:noFill/>
                </a:ln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ariation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5400" b="1" cap="all" spc="30">
              <a:solidFill>
                <a:srgbClr val="FFFFFF"/>
              </a:solidFill>
              <a:latin typeface="+mj-lt"/>
              <a:ea typeface="+mj-ea"/>
              <a:cs typeface="+mj-cs"/>
            </a:endParaRP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cap="all" spc="3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Between  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cap="all" spc="3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variables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18332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B77D6FC-012D-3D22-33B5-357EA3143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73FED2-4C4C-0674-51C8-2B09ACF830FC}"/>
              </a:ext>
            </a:extLst>
          </p:cNvPr>
          <p:cNvSpPr txBox="1"/>
          <p:nvPr/>
        </p:nvSpPr>
        <p:spPr>
          <a:xfrm>
            <a:off x="601980" y="1806625"/>
            <a:ext cx="6153150" cy="2054422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4400" cap="all" spc="30" dirty="0">
                <a:latin typeface="+mj-lt"/>
                <a:ea typeface="+mj-ea"/>
                <a:cs typeface="+mj-cs"/>
              </a:rPr>
              <a:t>Let’s start with bivariate covariation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EA07B3D-8AA3-9C2B-61B0-F02C9733C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4943771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0521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Wood human figure">
            <a:extLst>
              <a:ext uri="{FF2B5EF4-FFF2-40B4-BE49-F238E27FC236}">
                <a16:creationId xmlns:a16="http://schemas.microsoft.com/office/drawing/2014/main" id="{03525F79-D87B-37B2-9F0D-87F6305E93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18" r="52591" b="-2"/>
          <a:stretch>
            <a:fillRect/>
          </a:stretch>
        </p:blipFill>
        <p:spPr>
          <a:xfrm>
            <a:off x="20" y="-1"/>
            <a:ext cx="4663420" cy="6858001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6871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AB2D301-3F6F-85A1-0C40-98C609347DDD}"/>
              </a:ext>
            </a:extLst>
          </p:cNvPr>
          <p:cNvSpPr txBox="1"/>
          <p:nvPr/>
        </p:nvSpPr>
        <p:spPr>
          <a:xfrm>
            <a:off x="5248656" y="2221991"/>
            <a:ext cx="6236208" cy="2441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2000" b="1" i="1" u="sng" dirty="0"/>
              <a:t>Problem 1</a:t>
            </a:r>
            <a:r>
              <a:rPr lang="en-US" sz="2000" dirty="0"/>
              <a:t>:</a:t>
            </a:r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Spurious correlations (</a:t>
            </a:r>
            <a:r>
              <a:rPr lang="en-US" sz="2000" dirty="0">
                <a:hlinkClick r:id="rId3"/>
              </a:rPr>
              <a:t>https://www.tylervigen.com/spurious-correlations</a:t>
            </a:r>
            <a:r>
              <a:rPr lang="en-US" sz="2000" dirty="0"/>
              <a:t>)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endParaRPr lang="en-US" sz="2000" dirty="0"/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2000" b="1" i="1" u="sng" dirty="0"/>
              <a:t>Problem 2</a:t>
            </a:r>
            <a:r>
              <a:rPr lang="en-US" sz="2000" dirty="0"/>
              <a:t>:</a:t>
            </a:r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Too many potential bivariate combinations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919280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FA0D98-8F0B-E135-6F4B-2F2D7A19A5A2}"/>
              </a:ext>
            </a:extLst>
          </p:cNvPr>
          <p:cNvSpPr txBox="1"/>
          <p:nvPr/>
        </p:nvSpPr>
        <p:spPr>
          <a:xfrm>
            <a:off x="4330065" y="2100262"/>
            <a:ext cx="353187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dirty="0" err="1"/>
              <a:t>Solution</a:t>
            </a:r>
            <a:r>
              <a:rPr lang="es-MX" sz="2400" dirty="0"/>
              <a:t> 1:</a:t>
            </a:r>
          </a:p>
          <a:p>
            <a:pPr algn="ctr"/>
            <a:r>
              <a:rPr lang="es-MX" sz="2400" dirty="0" err="1"/>
              <a:t>Theory</a:t>
            </a:r>
            <a:r>
              <a:rPr lang="es-MX" sz="2400" dirty="0"/>
              <a:t> / Business </a:t>
            </a:r>
            <a:r>
              <a:rPr lang="es-MX" sz="2400" dirty="0" err="1"/>
              <a:t>Knowledge</a:t>
            </a:r>
            <a:r>
              <a:rPr lang="es-MX" sz="2400" dirty="0"/>
              <a:t> / </a:t>
            </a:r>
            <a:r>
              <a:rPr lang="es-MX" sz="2400" dirty="0" err="1"/>
              <a:t>Intuition</a:t>
            </a:r>
            <a:endParaRPr lang="es-MX" sz="2400" dirty="0"/>
          </a:p>
          <a:p>
            <a:pPr algn="ctr"/>
            <a:endParaRPr lang="es-MX" sz="2400" dirty="0"/>
          </a:p>
          <a:p>
            <a:pPr algn="ctr"/>
            <a:r>
              <a:rPr lang="es-MX" sz="2400" dirty="0" err="1"/>
              <a:t>Solution</a:t>
            </a:r>
            <a:r>
              <a:rPr lang="es-MX" sz="2400" dirty="0"/>
              <a:t> 2:</a:t>
            </a:r>
          </a:p>
          <a:p>
            <a:pPr algn="ctr"/>
            <a:r>
              <a:rPr lang="es-MX" sz="2400" dirty="0" err="1"/>
              <a:t>Correlation</a:t>
            </a:r>
            <a:r>
              <a:rPr lang="es-MX" sz="2400" dirty="0"/>
              <a:t> Matrix</a:t>
            </a:r>
          </a:p>
          <a:p>
            <a:pPr algn="ctr"/>
            <a:endParaRPr lang="es-MX" sz="2400" dirty="0"/>
          </a:p>
        </p:txBody>
      </p:sp>
    </p:spTree>
    <p:extLst>
      <p:ext uri="{BB962C8B-B14F-4D97-AF65-F5344CB8AC3E}">
        <p14:creationId xmlns:p14="http://schemas.microsoft.com/office/powerpoint/2010/main" val="6960350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8B429F-59D1-271A-8334-32AD4B830A67}"/>
              </a:ext>
            </a:extLst>
          </p:cNvPr>
          <p:cNvSpPr txBox="1"/>
          <p:nvPr/>
        </p:nvSpPr>
        <p:spPr>
          <a:xfrm>
            <a:off x="752476" y="1659850"/>
            <a:ext cx="231076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2400" dirty="0" err="1"/>
              <a:t>Solution</a:t>
            </a:r>
            <a:r>
              <a:rPr lang="es-MX" sz="2400" dirty="0"/>
              <a:t> 1:</a:t>
            </a:r>
          </a:p>
          <a:p>
            <a:pPr algn="ctr"/>
            <a:r>
              <a:rPr lang="es-MX" sz="2400" dirty="0" err="1"/>
              <a:t>Theory</a:t>
            </a:r>
            <a:r>
              <a:rPr lang="es-MX" sz="2400" dirty="0"/>
              <a:t> / Business </a:t>
            </a:r>
            <a:r>
              <a:rPr lang="es-MX" sz="2400" dirty="0" err="1"/>
              <a:t>Knowledge</a:t>
            </a:r>
            <a:r>
              <a:rPr lang="es-MX" sz="2400" dirty="0"/>
              <a:t> / </a:t>
            </a:r>
            <a:r>
              <a:rPr lang="es-MX" sz="2400" dirty="0" err="1"/>
              <a:t>Intuition</a:t>
            </a:r>
            <a:endParaRPr lang="es-MX" sz="2400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95335BB-BFBF-2F4E-D442-7220F5E9B881}"/>
              </a:ext>
            </a:extLst>
          </p:cNvPr>
          <p:cNvCxnSpPr/>
          <p:nvPr/>
        </p:nvCxnSpPr>
        <p:spPr>
          <a:xfrm>
            <a:off x="3211830" y="2503170"/>
            <a:ext cx="14058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43BD9BF-3AA9-69A8-D5F0-A067BA510ED4}"/>
              </a:ext>
            </a:extLst>
          </p:cNvPr>
          <p:cNvSpPr txBox="1"/>
          <p:nvPr/>
        </p:nvSpPr>
        <p:spPr>
          <a:xfrm>
            <a:off x="3829050" y="975658"/>
            <a:ext cx="4400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dirty="0" err="1"/>
              <a:t>Let’s</a:t>
            </a:r>
            <a:r>
              <a:rPr lang="es-MX" dirty="0"/>
              <a:t> pick </a:t>
            </a:r>
            <a:r>
              <a:rPr lang="es-MX" dirty="0" err="1"/>
              <a:t>two</a:t>
            </a:r>
            <a:r>
              <a:rPr lang="es-MX" dirty="0"/>
              <a:t> NUMERIC variables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8205CC1-4F5D-BB6D-FB8D-C9D1A294D211}"/>
              </a:ext>
            </a:extLst>
          </p:cNvPr>
          <p:cNvCxnSpPr/>
          <p:nvPr/>
        </p:nvCxnSpPr>
        <p:spPr>
          <a:xfrm flipH="1">
            <a:off x="5189220" y="1314450"/>
            <a:ext cx="1154430" cy="960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749E90-8247-677B-2419-87A460AF47C4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343650" y="1322130"/>
            <a:ext cx="1154430" cy="960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F5E1DF8-DC12-4DD8-04F9-F79DB70C8602}"/>
              </a:ext>
            </a:extLst>
          </p:cNvPr>
          <p:cNvSpPr txBox="1"/>
          <p:nvPr/>
        </p:nvSpPr>
        <p:spPr>
          <a:xfrm>
            <a:off x="7058025" y="2282250"/>
            <a:ext cx="8801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dirty="0"/>
              <a:t>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2BF092-881D-E278-F21B-152AAFF0A3C1}"/>
              </a:ext>
            </a:extLst>
          </p:cNvPr>
          <p:cNvSpPr txBox="1"/>
          <p:nvPr/>
        </p:nvSpPr>
        <p:spPr>
          <a:xfrm>
            <a:off x="4612006" y="2282250"/>
            <a:ext cx="11544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dirty="0" err="1"/>
              <a:t>Income</a:t>
            </a:r>
            <a:endParaRPr lang="es-MX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7F74A37-2719-FCB3-E7AA-1886853B5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6993" y="3059490"/>
            <a:ext cx="3832607" cy="278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9117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EF6C34-3FCE-E8B9-9F52-5FF4A005258E}"/>
              </a:ext>
            </a:extLst>
          </p:cNvPr>
          <p:cNvSpPr txBox="1"/>
          <p:nvPr/>
        </p:nvSpPr>
        <p:spPr>
          <a:xfrm>
            <a:off x="-42187" y="1483935"/>
            <a:ext cx="1227637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800" dirty="0" err="1"/>
              <a:t>For</a:t>
            </a:r>
            <a:r>
              <a:rPr lang="es-MX" sz="2800" dirty="0"/>
              <a:t> </a:t>
            </a:r>
            <a:r>
              <a:rPr lang="es-MX" sz="2800" dirty="0" err="1"/>
              <a:t>this</a:t>
            </a:r>
            <a:r>
              <a:rPr lang="es-MX" sz="2800" dirty="0"/>
              <a:t> </a:t>
            </a:r>
            <a:r>
              <a:rPr lang="es-MX" sz="2800" dirty="0" err="1"/>
              <a:t>analysis</a:t>
            </a:r>
            <a:r>
              <a:rPr lang="es-MX" sz="2800" dirty="0"/>
              <a:t>, </a:t>
            </a:r>
            <a:r>
              <a:rPr lang="es-MX" sz="2800" dirty="0" err="1"/>
              <a:t>we</a:t>
            </a:r>
            <a:r>
              <a:rPr lang="es-MX" sz="2800" dirty="0"/>
              <a:t> </a:t>
            </a:r>
            <a:r>
              <a:rPr lang="es-MX" sz="2800" dirty="0" err="1"/>
              <a:t>will</a:t>
            </a:r>
            <a:r>
              <a:rPr lang="es-MX" sz="2800" dirty="0"/>
              <a:t> </a:t>
            </a:r>
            <a:r>
              <a:rPr lang="es-MX" sz="2800" dirty="0" err="1"/>
              <a:t>remove</a:t>
            </a:r>
            <a:r>
              <a:rPr lang="es-MX" sz="2800" dirty="0"/>
              <a:t> </a:t>
            </a:r>
            <a:r>
              <a:rPr lang="es-MX" sz="2800" dirty="0" err="1"/>
              <a:t>income</a:t>
            </a:r>
            <a:r>
              <a:rPr lang="es-MX" sz="2800" dirty="0"/>
              <a:t> </a:t>
            </a:r>
            <a:r>
              <a:rPr lang="es-MX" sz="2800" dirty="0" err="1"/>
              <a:t>outliers</a:t>
            </a:r>
            <a:endParaRPr lang="es-MX" sz="2800" dirty="0"/>
          </a:p>
          <a:p>
            <a:pPr algn="ctr"/>
            <a:endParaRPr lang="es-MX" sz="2800" dirty="0"/>
          </a:p>
          <a:p>
            <a:pPr algn="ctr"/>
            <a:r>
              <a:rPr lang="es-MX" sz="2800" dirty="0" err="1"/>
              <a:t>That</a:t>
            </a:r>
            <a:r>
              <a:rPr lang="es-MX" sz="2800" dirty="0"/>
              <a:t> </a:t>
            </a:r>
            <a:r>
              <a:rPr lang="es-MX" sz="2800" dirty="0" err="1"/>
              <a:t>is</a:t>
            </a:r>
            <a:r>
              <a:rPr lang="es-MX" sz="2800" dirty="0"/>
              <a:t>, extreme </a:t>
            </a:r>
            <a:r>
              <a:rPr lang="es-MX" sz="2800" dirty="0" err="1"/>
              <a:t>incomes</a:t>
            </a:r>
            <a:r>
              <a:rPr lang="es-MX" sz="2800" dirty="0"/>
              <a:t> </a:t>
            </a:r>
            <a:r>
              <a:rPr lang="es-MX" sz="2800" dirty="0" err="1"/>
              <a:t>contaminate</a:t>
            </a:r>
            <a:r>
              <a:rPr lang="es-MX" sz="2800" dirty="0"/>
              <a:t> </a:t>
            </a:r>
            <a:r>
              <a:rPr lang="es-MX" sz="2800" dirty="0" err="1"/>
              <a:t>age-income</a:t>
            </a:r>
            <a:r>
              <a:rPr lang="es-MX" sz="2800" dirty="0"/>
              <a:t> </a:t>
            </a:r>
            <a:r>
              <a:rPr lang="es-MX" sz="2800" dirty="0" err="1"/>
              <a:t>relationships</a:t>
            </a:r>
            <a:r>
              <a:rPr lang="es-MX" sz="2800" dirty="0"/>
              <a:t> (</a:t>
            </a:r>
            <a:r>
              <a:rPr lang="es-MX" sz="2800" dirty="0" err="1"/>
              <a:t>valid</a:t>
            </a:r>
            <a:r>
              <a:rPr lang="es-MX" sz="2800" dirty="0"/>
              <a:t>? </a:t>
            </a:r>
            <a:r>
              <a:rPr lang="es-MX" sz="2800" dirty="0" err="1"/>
              <a:t>discuss</a:t>
            </a:r>
            <a:r>
              <a:rPr lang="es-MX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377337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79833C7-FDE4-4657-B0B1-32BE833C2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BE7C0B-A2D9-4202-A524-532DA2E2D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B13670-DB59-1964-A20B-8C662AE1C6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6487"/>
          <a:stretch>
            <a:fillRect/>
          </a:stretch>
        </p:blipFill>
        <p:spPr>
          <a:xfrm>
            <a:off x="221297" y="582930"/>
            <a:ext cx="7013893" cy="538209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2443F2A-76FB-72BC-6591-481E7B4EBA94}"/>
              </a:ext>
            </a:extLst>
          </p:cNvPr>
          <p:cNvSpPr txBox="1"/>
          <p:nvPr/>
        </p:nvSpPr>
        <p:spPr>
          <a:xfrm>
            <a:off x="7726681" y="3105834"/>
            <a:ext cx="30289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/>
              <a:t>Incomes</a:t>
            </a:r>
            <a:r>
              <a:rPr lang="es-MX" dirty="0"/>
              <a:t> &gt; 300,000 USD are extreme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err="1"/>
              <a:t>this</a:t>
            </a:r>
            <a:r>
              <a:rPr lang="es-MX" dirty="0"/>
              <a:t> data</a:t>
            </a:r>
          </a:p>
        </p:txBody>
      </p:sp>
    </p:spTree>
    <p:extLst>
      <p:ext uri="{BB962C8B-B14F-4D97-AF65-F5344CB8AC3E}">
        <p14:creationId xmlns:p14="http://schemas.microsoft.com/office/powerpoint/2010/main" val="36131140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C8D1E9-F3A6-4A9E-DCEB-6C339A974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99" y="0"/>
            <a:ext cx="515374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1F335B-6856-B3EA-5269-3309237DADC6}"/>
              </a:ext>
            </a:extLst>
          </p:cNvPr>
          <p:cNvSpPr txBox="1"/>
          <p:nvPr/>
        </p:nvSpPr>
        <p:spPr>
          <a:xfrm>
            <a:off x="6297930" y="3051810"/>
            <a:ext cx="3121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/>
              <a:t>In SPSS: Data -&gt; </a:t>
            </a:r>
            <a:r>
              <a:rPr lang="es-MX" dirty="0" err="1"/>
              <a:t>Select</a:t>
            </a:r>
            <a:r>
              <a:rPr lang="es-MX" dirty="0"/>
              <a:t> Cases</a:t>
            </a:r>
          </a:p>
        </p:txBody>
      </p:sp>
    </p:spTree>
    <p:extLst>
      <p:ext uri="{BB962C8B-B14F-4D97-AF65-F5344CB8AC3E}">
        <p14:creationId xmlns:p14="http://schemas.microsoft.com/office/powerpoint/2010/main" val="1165729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A15984-9166-DBA1-F82E-1CBC82AB8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4" y="170995"/>
            <a:ext cx="6096851" cy="65160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E77B38-9B3F-DF15-2160-454D34CFED5E}"/>
              </a:ext>
            </a:extLst>
          </p:cNvPr>
          <p:cNvSpPr txBox="1"/>
          <p:nvPr/>
        </p:nvSpPr>
        <p:spPr>
          <a:xfrm>
            <a:off x="7143751" y="2068830"/>
            <a:ext cx="408051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 err="1"/>
              <a:t>Select</a:t>
            </a:r>
            <a:r>
              <a:rPr lang="es-MX" sz="2400" dirty="0"/>
              <a:t> “</a:t>
            </a:r>
            <a:r>
              <a:rPr lang="es-MX" sz="2400" dirty="0" err="1"/>
              <a:t>if</a:t>
            </a:r>
            <a:r>
              <a:rPr lang="es-MX" sz="2400" dirty="0"/>
              <a:t> </a:t>
            </a:r>
            <a:r>
              <a:rPr lang="es-MX" sz="2400" dirty="0" err="1"/>
              <a:t>condition</a:t>
            </a:r>
            <a:r>
              <a:rPr lang="es-MX" sz="2400" dirty="0"/>
              <a:t> </a:t>
            </a:r>
            <a:r>
              <a:rPr lang="es-MX" sz="2400" dirty="0" err="1"/>
              <a:t>is</a:t>
            </a:r>
            <a:r>
              <a:rPr lang="es-MX" sz="2400" dirty="0"/>
              <a:t> </a:t>
            </a:r>
            <a:r>
              <a:rPr lang="es-MX" sz="2400" dirty="0" err="1"/>
              <a:t>satisfied</a:t>
            </a:r>
            <a:r>
              <a:rPr lang="es-MX" sz="2400" dirty="0"/>
              <a:t>”</a:t>
            </a:r>
          </a:p>
          <a:p>
            <a:endParaRPr lang="es-MX" sz="2400" dirty="0"/>
          </a:p>
          <a:p>
            <a:r>
              <a:rPr lang="es-MX" sz="2400" dirty="0"/>
              <a:t>Pick in </a:t>
            </a:r>
            <a:r>
              <a:rPr lang="es-MX" sz="2400" dirty="0" err="1"/>
              <a:t>the</a:t>
            </a:r>
            <a:r>
              <a:rPr lang="es-MX" sz="2400" dirty="0"/>
              <a:t> </a:t>
            </a:r>
            <a:r>
              <a:rPr lang="es-MX" sz="2400" dirty="0" err="1"/>
              <a:t>next</a:t>
            </a:r>
            <a:r>
              <a:rPr lang="es-MX" sz="2400" dirty="0"/>
              <a:t> </a:t>
            </a:r>
            <a:r>
              <a:rPr lang="es-MX" sz="2400" dirty="0" err="1"/>
              <a:t>screen</a:t>
            </a:r>
            <a:r>
              <a:rPr lang="es-MX" sz="2400" dirty="0"/>
              <a:t> </a:t>
            </a:r>
            <a:r>
              <a:rPr lang="es-MX" sz="2400" dirty="0" err="1"/>
              <a:t>the</a:t>
            </a:r>
            <a:r>
              <a:rPr lang="es-MX" sz="2400" dirty="0"/>
              <a:t> variable </a:t>
            </a:r>
            <a:r>
              <a:rPr lang="es-MX" sz="2400" dirty="0" err="1"/>
              <a:t>Income</a:t>
            </a:r>
            <a:r>
              <a:rPr lang="es-MX" sz="2400" dirty="0"/>
              <a:t>, and </a:t>
            </a:r>
            <a:r>
              <a:rPr lang="es-MX" sz="2400" dirty="0" err="1"/>
              <a:t>make</a:t>
            </a:r>
            <a:r>
              <a:rPr lang="es-MX" sz="2400" dirty="0"/>
              <a:t> </a:t>
            </a:r>
            <a:r>
              <a:rPr lang="es-MX" sz="2400" dirty="0" err="1"/>
              <a:t>it</a:t>
            </a:r>
            <a:r>
              <a:rPr lang="es-MX" sz="2400" dirty="0"/>
              <a:t> </a:t>
            </a:r>
            <a:r>
              <a:rPr lang="es-MX" sz="2400" dirty="0" err="1"/>
              <a:t>less</a:t>
            </a:r>
            <a:r>
              <a:rPr lang="es-MX" sz="2400" dirty="0"/>
              <a:t> </a:t>
            </a:r>
            <a:r>
              <a:rPr lang="es-MX" sz="2400" dirty="0" err="1"/>
              <a:t>than</a:t>
            </a:r>
            <a:r>
              <a:rPr lang="es-MX" sz="2400" dirty="0"/>
              <a:t> 300,000</a:t>
            </a:r>
          </a:p>
        </p:txBody>
      </p:sp>
    </p:spTree>
    <p:extLst>
      <p:ext uri="{BB962C8B-B14F-4D97-AF65-F5344CB8AC3E}">
        <p14:creationId xmlns:p14="http://schemas.microsoft.com/office/powerpoint/2010/main" val="3719489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E84458-33D5-EE9B-5EBF-7A6E0327B5C6}"/>
              </a:ext>
            </a:extLst>
          </p:cNvPr>
          <p:cNvSpPr txBox="1"/>
          <p:nvPr/>
        </p:nvSpPr>
        <p:spPr>
          <a:xfrm>
            <a:off x="633684" y="1343189"/>
            <a:ext cx="3076032" cy="391494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 cap="all" spc="30">
                <a:latin typeface="+mj-lt"/>
                <a:ea typeface="+mj-ea"/>
                <a:cs typeface="+mj-cs"/>
              </a:rPr>
              <a:t>Plot the income distribution again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3100" cap="all" spc="30">
              <a:latin typeface="+mj-lt"/>
              <a:ea typeface="+mj-ea"/>
              <a:cs typeface="+mj-cs"/>
            </a:endParaRP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 cap="all" spc="30">
                <a:latin typeface="+mj-lt"/>
                <a:ea typeface="+mj-ea"/>
                <a:cs typeface="+mj-cs"/>
              </a:rPr>
              <a:t>There should not be values above 300,000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1E01A07-DA67-F5E8-938C-3E5A0BBB5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689" y="723901"/>
            <a:ext cx="7049121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8790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67237F-87F5-3FED-E4F3-993223F398AE}"/>
              </a:ext>
            </a:extLst>
          </p:cNvPr>
          <p:cNvSpPr txBox="1"/>
          <p:nvPr/>
        </p:nvSpPr>
        <p:spPr>
          <a:xfrm>
            <a:off x="4254791" y="2633692"/>
            <a:ext cx="36824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 err="1"/>
              <a:t>Now</a:t>
            </a:r>
            <a:r>
              <a:rPr lang="es-MX" sz="3200" dirty="0"/>
              <a:t> </a:t>
            </a:r>
            <a:r>
              <a:rPr lang="es-MX" sz="3200" dirty="0" err="1"/>
              <a:t>the</a:t>
            </a:r>
            <a:r>
              <a:rPr lang="es-MX" sz="3200" dirty="0"/>
              <a:t> </a:t>
            </a:r>
            <a:r>
              <a:rPr lang="es-MX" sz="3200" dirty="0" err="1"/>
              <a:t>correlation</a:t>
            </a:r>
            <a:endParaRPr lang="es-MX" sz="3200" dirty="0"/>
          </a:p>
        </p:txBody>
      </p:sp>
    </p:spTree>
    <p:extLst>
      <p:ext uri="{BB962C8B-B14F-4D97-AF65-F5344CB8AC3E}">
        <p14:creationId xmlns:p14="http://schemas.microsoft.com/office/powerpoint/2010/main" val="18941527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5713A5-0AEB-A224-B1F1-F2D80BBF0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79" y="574940"/>
            <a:ext cx="10147819" cy="62830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6A87403-DCC1-4F94-2588-36FD2490841B}"/>
              </a:ext>
            </a:extLst>
          </p:cNvPr>
          <p:cNvSpPr txBox="1"/>
          <p:nvPr/>
        </p:nvSpPr>
        <p:spPr>
          <a:xfrm>
            <a:off x="0" y="108420"/>
            <a:ext cx="50816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000" dirty="0"/>
              <a:t>In SPSS: </a:t>
            </a:r>
            <a:r>
              <a:rPr lang="es-MX" sz="2000" dirty="0" err="1"/>
              <a:t>Analyze</a:t>
            </a:r>
            <a:r>
              <a:rPr lang="es-MX" sz="2000" dirty="0"/>
              <a:t> -&gt; </a:t>
            </a:r>
            <a:r>
              <a:rPr lang="es-MX" sz="2000" dirty="0" err="1"/>
              <a:t>Correlate</a:t>
            </a:r>
            <a:r>
              <a:rPr lang="es-MX" sz="2000" dirty="0"/>
              <a:t>&gt; </a:t>
            </a:r>
            <a:r>
              <a:rPr lang="es-MX" sz="2000" dirty="0" err="1"/>
              <a:t>Bivariate</a:t>
            </a:r>
            <a:r>
              <a:rPr lang="es-MX" sz="2000" dirty="0"/>
              <a:t> … </a:t>
            </a:r>
          </a:p>
        </p:txBody>
      </p:sp>
    </p:spTree>
    <p:extLst>
      <p:ext uri="{BB962C8B-B14F-4D97-AF65-F5344CB8AC3E}">
        <p14:creationId xmlns:p14="http://schemas.microsoft.com/office/powerpoint/2010/main" val="41646268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FD7C2C-0AE5-6A7D-A8B8-91187F47D6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5209" y="442519"/>
            <a:ext cx="7859222" cy="56300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D6DB4F-F2F5-2AD6-BB50-9E147E889DB1}"/>
              </a:ext>
            </a:extLst>
          </p:cNvPr>
          <p:cNvSpPr txBox="1"/>
          <p:nvPr/>
        </p:nvSpPr>
        <p:spPr>
          <a:xfrm>
            <a:off x="582930" y="2460009"/>
            <a:ext cx="225895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800" dirty="0" err="1"/>
              <a:t>Select</a:t>
            </a:r>
            <a:r>
              <a:rPr lang="es-MX" sz="2800" dirty="0"/>
              <a:t> </a:t>
            </a:r>
          </a:p>
          <a:p>
            <a:r>
              <a:rPr lang="es-MX" sz="2800" dirty="0"/>
              <a:t>X34 - Age</a:t>
            </a:r>
          </a:p>
          <a:p>
            <a:r>
              <a:rPr lang="es-MX" sz="2800" dirty="0"/>
              <a:t>X35 - </a:t>
            </a:r>
            <a:r>
              <a:rPr lang="es-MX" sz="2800" dirty="0" err="1"/>
              <a:t>Income</a:t>
            </a:r>
            <a:endParaRPr lang="es-MX" sz="2800" dirty="0"/>
          </a:p>
          <a:p>
            <a:endParaRPr lang="es-MX" sz="2800" dirty="0"/>
          </a:p>
        </p:txBody>
      </p:sp>
    </p:spTree>
    <p:extLst>
      <p:ext uri="{BB962C8B-B14F-4D97-AF65-F5344CB8AC3E}">
        <p14:creationId xmlns:p14="http://schemas.microsoft.com/office/powerpoint/2010/main" val="30675664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A4DFFF2-51E8-402D-229B-F2049DC54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975" y="1799997"/>
            <a:ext cx="6487430" cy="32580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EEB7A0-2008-B7A9-5573-D0118F321104}"/>
              </a:ext>
            </a:extLst>
          </p:cNvPr>
          <p:cNvSpPr txBox="1"/>
          <p:nvPr/>
        </p:nvSpPr>
        <p:spPr>
          <a:xfrm>
            <a:off x="7166610" y="1674544"/>
            <a:ext cx="48411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400" dirty="0"/>
              <a:t>Negative </a:t>
            </a:r>
            <a:r>
              <a:rPr lang="es-MX" sz="2400" dirty="0" err="1"/>
              <a:t>correlation</a:t>
            </a:r>
            <a:endParaRPr lang="es-MX" sz="2400" dirty="0"/>
          </a:p>
          <a:p>
            <a:endParaRPr lang="es-MX" sz="2400" dirty="0"/>
          </a:p>
          <a:p>
            <a:r>
              <a:rPr lang="es-MX" sz="2400" dirty="0" err="1"/>
              <a:t>Consistent</a:t>
            </a:r>
            <a:r>
              <a:rPr lang="es-MX" sz="2400" dirty="0"/>
              <a:t> </a:t>
            </a:r>
            <a:r>
              <a:rPr lang="es-MX" sz="2400" dirty="0" err="1"/>
              <a:t>with</a:t>
            </a:r>
            <a:r>
              <a:rPr lang="es-MX" sz="2400" dirty="0"/>
              <a:t> </a:t>
            </a:r>
            <a:r>
              <a:rPr lang="es-MX" sz="2400" dirty="0" err="1"/>
              <a:t>the</a:t>
            </a:r>
            <a:r>
              <a:rPr lang="es-MX" sz="2400" dirty="0"/>
              <a:t> </a:t>
            </a:r>
            <a:r>
              <a:rPr lang="es-MX" sz="2400" dirty="0" err="1"/>
              <a:t>life</a:t>
            </a:r>
            <a:r>
              <a:rPr lang="es-MX" sz="2400" dirty="0"/>
              <a:t> </a:t>
            </a:r>
            <a:r>
              <a:rPr lang="es-MX" sz="2400" dirty="0" err="1"/>
              <a:t>cycle</a:t>
            </a:r>
            <a:r>
              <a:rPr lang="es-MX" sz="2400" dirty="0"/>
              <a:t> </a:t>
            </a:r>
            <a:r>
              <a:rPr lang="es-MX" sz="2400" dirty="0" err="1"/>
              <a:t>theory</a:t>
            </a:r>
            <a:endParaRPr lang="es-MX" sz="2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041238-2F24-CC38-CEEC-D294F78DF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669" y="3104465"/>
            <a:ext cx="2821014" cy="2437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6841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AB7EF-1F43-7AFC-E634-C148CD827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Work tools on a bench">
            <a:extLst>
              <a:ext uri="{FF2B5EF4-FFF2-40B4-BE49-F238E27FC236}">
                <a16:creationId xmlns:a16="http://schemas.microsoft.com/office/drawing/2014/main" id="{9CC92B32-7E54-5291-A7BC-7A4B671DDB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734" r="12436" b="-1"/>
          <a:stretch>
            <a:fillRect/>
          </a:stretch>
        </p:blipFill>
        <p:spPr>
          <a:xfrm>
            <a:off x="20" y="10"/>
            <a:ext cx="6044164" cy="68579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A060CCA-25A8-DEE5-0134-CE05ED9913BB}"/>
              </a:ext>
            </a:extLst>
          </p:cNvPr>
          <p:cNvSpPr txBox="1"/>
          <p:nvPr/>
        </p:nvSpPr>
        <p:spPr>
          <a:xfrm>
            <a:off x="6204720" y="1010412"/>
            <a:ext cx="2687820" cy="5013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3600" dirty="0"/>
              <a:t>Task 2: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endParaRPr lang="en-US" sz="3600" dirty="0"/>
          </a:p>
          <a:p>
            <a:pPr>
              <a:lnSpc>
                <a:spcPct val="110000"/>
              </a:lnSpc>
              <a:spcAft>
                <a:spcPts val="600"/>
              </a:spcAft>
            </a:pP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832EB2-2D70-52DE-8BC1-2C55D621EAE3}"/>
              </a:ext>
            </a:extLst>
          </p:cNvPr>
          <p:cNvSpPr txBox="1"/>
          <p:nvPr/>
        </p:nvSpPr>
        <p:spPr>
          <a:xfrm>
            <a:off x="8987409" y="1885244"/>
            <a:ext cx="3080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dirty="0"/>
              <a:t>. </a:t>
            </a:r>
          </a:p>
          <a:p>
            <a:pPr algn="ctr"/>
            <a:endParaRPr lang="es-MX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18DD32-A727-4199-5EF7-182CCD433E69}"/>
              </a:ext>
            </a:extLst>
          </p:cNvPr>
          <p:cNvSpPr txBox="1"/>
          <p:nvPr/>
        </p:nvSpPr>
        <p:spPr>
          <a:xfrm>
            <a:off x="6204720" y="1885244"/>
            <a:ext cx="58425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Pick a </a:t>
            </a:r>
            <a:r>
              <a:rPr lang="es-MX" dirty="0" err="1"/>
              <a:t>consumer</a:t>
            </a:r>
            <a:r>
              <a:rPr lang="es-MX" dirty="0"/>
              <a:t> </a:t>
            </a:r>
            <a:r>
              <a:rPr lang="es-MX" dirty="0" err="1"/>
              <a:t>behavior</a:t>
            </a:r>
            <a:r>
              <a:rPr lang="es-MX" dirty="0"/>
              <a:t> </a:t>
            </a:r>
            <a:r>
              <a:rPr lang="es-MX" dirty="0" err="1"/>
              <a:t>theory</a:t>
            </a:r>
            <a:r>
              <a:rPr lang="es-MX" dirty="0"/>
              <a:t>. </a:t>
            </a:r>
            <a:r>
              <a:rPr lang="es-MX" dirty="0" err="1"/>
              <a:t>Sources</a:t>
            </a:r>
            <a:r>
              <a:rPr lang="es-MX" dirty="0"/>
              <a:t> </a:t>
            </a:r>
            <a:r>
              <a:rPr lang="es-MX" dirty="0" err="1"/>
              <a:t>of</a:t>
            </a:r>
            <a:r>
              <a:rPr lang="es-MX" dirty="0"/>
              <a:t> </a:t>
            </a:r>
            <a:r>
              <a:rPr lang="es-MX" dirty="0" err="1"/>
              <a:t>consumer</a:t>
            </a:r>
            <a:r>
              <a:rPr lang="es-MX" dirty="0"/>
              <a:t> </a:t>
            </a:r>
            <a:r>
              <a:rPr lang="es-MX" dirty="0" err="1"/>
              <a:t>behavior</a:t>
            </a:r>
            <a:r>
              <a:rPr lang="es-MX" dirty="0"/>
              <a:t> </a:t>
            </a:r>
            <a:r>
              <a:rPr lang="es-MX" dirty="0" err="1"/>
              <a:t>theories</a:t>
            </a:r>
            <a:r>
              <a:rPr lang="es-MX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dirty="0"/>
              <a:t>Ask </a:t>
            </a:r>
            <a:r>
              <a:rPr lang="es-MX" dirty="0" err="1"/>
              <a:t>an</a:t>
            </a:r>
            <a:r>
              <a:rPr lang="es-MX" dirty="0"/>
              <a:t> LLM </a:t>
            </a:r>
            <a:r>
              <a:rPr lang="es-MX" dirty="0" err="1"/>
              <a:t>for</a:t>
            </a:r>
            <a:r>
              <a:rPr lang="es-MX" dirty="0"/>
              <a:t> a </a:t>
            </a:r>
            <a:r>
              <a:rPr lang="es-MX" dirty="0" err="1"/>
              <a:t>theory</a:t>
            </a:r>
            <a:endParaRPr lang="es-MX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dirty="0" err="1"/>
              <a:t>Your</a:t>
            </a:r>
            <a:r>
              <a:rPr lang="es-MX" dirty="0"/>
              <a:t> </a:t>
            </a:r>
            <a:r>
              <a:rPr lang="es-MX" dirty="0" err="1"/>
              <a:t>own</a:t>
            </a:r>
            <a:r>
              <a:rPr lang="es-MX" dirty="0"/>
              <a:t> </a:t>
            </a:r>
            <a:r>
              <a:rPr lang="es-MX" dirty="0" err="1"/>
              <a:t>knowledge</a:t>
            </a:r>
            <a:endParaRPr lang="es-MX" dirty="0"/>
          </a:p>
          <a:p>
            <a:endParaRPr lang="es-MX" dirty="0"/>
          </a:p>
          <a:p>
            <a:r>
              <a:rPr lang="es-MX" dirty="0" err="1"/>
              <a:t>From</a:t>
            </a:r>
            <a:r>
              <a:rPr lang="es-MX" dirty="0"/>
              <a:t> </a:t>
            </a:r>
            <a:r>
              <a:rPr lang="es-MX" dirty="0" err="1"/>
              <a:t>the</a:t>
            </a:r>
            <a:r>
              <a:rPr lang="es-MX" dirty="0"/>
              <a:t> Santa </a:t>
            </a:r>
            <a:r>
              <a:rPr lang="es-MX" dirty="0" err="1"/>
              <a:t>Fe’s</a:t>
            </a:r>
            <a:r>
              <a:rPr lang="es-MX" dirty="0"/>
              <a:t> data, pick </a:t>
            </a:r>
            <a:r>
              <a:rPr lang="es-MX" dirty="0" err="1"/>
              <a:t>two</a:t>
            </a:r>
            <a:r>
              <a:rPr lang="es-MX" dirty="0"/>
              <a:t> variables </a:t>
            </a:r>
            <a:r>
              <a:rPr lang="es-MX" dirty="0" err="1"/>
              <a:t>to</a:t>
            </a:r>
            <a:r>
              <a:rPr lang="es-MX" dirty="0"/>
              <a:t> </a:t>
            </a:r>
            <a:r>
              <a:rPr lang="es-MX" dirty="0" err="1"/>
              <a:t>correlate</a:t>
            </a:r>
            <a:r>
              <a:rPr lang="es-MX" dirty="0"/>
              <a:t> </a:t>
            </a:r>
            <a:r>
              <a:rPr lang="es-MX" dirty="0" err="1"/>
              <a:t>based</a:t>
            </a:r>
            <a:r>
              <a:rPr lang="es-MX" dirty="0"/>
              <a:t> </a:t>
            </a:r>
            <a:r>
              <a:rPr lang="es-MX" dirty="0" err="1"/>
              <a:t>on</a:t>
            </a:r>
            <a:r>
              <a:rPr lang="es-MX" dirty="0"/>
              <a:t> </a:t>
            </a:r>
            <a:r>
              <a:rPr lang="es-MX" dirty="0" err="1"/>
              <a:t>that</a:t>
            </a:r>
            <a:r>
              <a:rPr lang="es-MX" dirty="0"/>
              <a:t> </a:t>
            </a:r>
            <a:r>
              <a:rPr lang="es-MX" dirty="0" err="1"/>
              <a:t>theory</a:t>
            </a:r>
            <a:r>
              <a:rPr lang="es-MX" dirty="0"/>
              <a:t>. DO NOT ASK AN LLM FOR THE VARIABLES</a:t>
            </a:r>
          </a:p>
          <a:p>
            <a:endParaRPr lang="es-MX" dirty="0"/>
          </a:p>
          <a:p>
            <a:r>
              <a:rPr lang="es-MX" dirty="0" err="1"/>
              <a:t>Explain</a:t>
            </a:r>
            <a:r>
              <a:rPr lang="es-MX" dirty="0"/>
              <a:t> </a:t>
            </a:r>
            <a:r>
              <a:rPr lang="es-MX" dirty="0" err="1"/>
              <a:t>why</a:t>
            </a:r>
            <a:r>
              <a:rPr lang="es-MX" dirty="0"/>
              <a:t>, </a:t>
            </a:r>
            <a:r>
              <a:rPr lang="es-MX" dirty="0" err="1"/>
              <a:t>under</a:t>
            </a:r>
            <a:r>
              <a:rPr lang="es-MX" dirty="0"/>
              <a:t> </a:t>
            </a:r>
            <a:r>
              <a:rPr lang="es-MX" dirty="0" err="1"/>
              <a:t>that</a:t>
            </a:r>
            <a:r>
              <a:rPr lang="es-MX" dirty="0"/>
              <a:t> </a:t>
            </a:r>
            <a:r>
              <a:rPr lang="es-MX" dirty="0" err="1"/>
              <a:t>theory</a:t>
            </a:r>
            <a:r>
              <a:rPr lang="es-MX" dirty="0"/>
              <a:t>, </a:t>
            </a:r>
            <a:r>
              <a:rPr lang="es-MX" dirty="0" err="1"/>
              <a:t>they</a:t>
            </a:r>
            <a:r>
              <a:rPr lang="es-MX" dirty="0"/>
              <a:t> </a:t>
            </a:r>
            <a:r>
              <a:rPr lang="es-MX" dirty="0" err="1"/>
              <a:t>could</a:t>
            </a:r>
            <a:r>
              <a:rPr lang="es-MX" dirty="0"/>
              <a:t> </a:t>
            </a:r>
            <a:r>
              <a:rPr lang="es-MX" dirty="0" err="1"/>
              <a:t>correlate</a:t>
            </a:r>
            <a:r>
              <a:rPr lang="es-MX" dirty="0"/>
              <a:t>. </a:t>
            </a:r>
          </a:p>
          <a:p>
            <a:endParaRPr lang="es-MX" dirty="0"/>
          </a:p>
          <a:p>
            <a:r>
              <a:rPr lang="es-MX" dirty="0"/>
              <a:t>IT IS NOT NECESSARY TO RUN THE CORRELATION ON SPSS. </a:t>
            </a:r>
          </a:p>
        </p:txBody>
      </p:sp>
    </p:spTree>
    <p:extLst>
      <p:ext uri="{BB962C8B-B14F-4D97-AF65-F5344CB8AC3E}">
        <p14:creationId xmlns:p14="http://schemas.microsoft.com/office/powerpoint/2010/main" val="27043707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87BC95-F939-C67C-CA0B-D42C262C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ey room full of question marks with an opening going out">
            <a:extLst>
              <a:ext uri="{FF2B5EF4-FFF2-40B4-BE49-F238E27FC236}">
                <a16:creationId xmlns:a16="http://schemas.microsoft.com/office/drawing/2014/main" id="{E6F39DC4-38F3-A986-84F2-8F35B2CC2E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23A2D6-2F49-DB92-7664-61ECD94EC4B5}"/>
              </a:ext>
            </a:extLst>
          </p:cNvPr>
          <p:cNvSpPr txBox="1"/>
          <p:nvPr/>
        </p:nvSpPr>
        <p:spPr>
          <a:xfrm>
            <a:off x="704088" y="871759"/>
            <a:ext cx="5067300" cy="34970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cap="all" spc="3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Solution 2:</a:t>
            </a:r>
          </a:p>
          <a:p>
            <a:pPr lvl="1" indent="-2286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cap="all" spc="3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Brute Force</a:t>
            </a:r>
          </a:p>
          <a:p>
            <a:pPr lvl="2" indent="-2286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cap="all" spc="3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Correlation matrix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08126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BCBBB6-CA54-1388-0C00-095424646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860" y="904522"/>
            <a:ext cx="10774279" cy="50489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3DB9DD-28DE-4821-3EEF-18501468EC1D}"/>
              </a:ext>
            </a:extLst>
          </p:cNvPr>
          <p:cNvSpPr txBox="1"/>
          <p:nvPr/>
        </p:nvSpPr>
        <p:spPr>
          <a:xfrm>
            <a:off x="0" y="108420"/>
            <a:ext cx="92004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000" dirty="0"/>
              <a:t>In SPSS (as </a:t>
            </a:r>
            <a:r>
              <a:rPr lang="es-MX" sz="2000" dirty="0" err="1"/>
              <a:t>before</a:t>
            </a:r>
            <a:r>
              <a:rPr lang="es-MX" sz="2000" dirty="0"/>
              <a:t> </a:t>
            </a:r>
            <a:r>
              <a:rPr lang="es-MX" sz="2000" dirty="0" err="1"/>
              <a:t>but</a:t>
            </a:r>
            <a:r>
              <a:rPr lang="es-MX" sz="2000" dirty="0"/>
              <a:t> </a:t>
            </a:r>
            <a:r>
              <a:rPr lang="es-MX" sz="2000" dirty="0" err="1"/>
              <a:t>include</a:t>
            </a:r>
            <a:r>
              <a:rPr lang="es-MX" sz="2000" dirty="0"/>
              <a:t> more variables): </a:t>
            </a:r>
            <a:r>
              <a:rPr lang="es-MX" sz="2000" dirty="0" err="1"/>
              <a:t>Analyze</a:t>
            </a:r>
            <a:r>
              <a:rPr lang="es-MX" sz="2000" dirty="0"/>
              <a:t> -&gt; </a:t>
            </a:r>
            <a:r>
              <a:rPr lang="es-MX" sz="2000" dirty="0" err="1"/>
              <a:t>Correlate</a:t>
            </a:r>
            <a:r>
              <a:rPr lang="es-MX" sz="2000" dirty="0"/>
              <a:t>&gt; </a:t>
            </a:r>
            <a:r>
              <a:rPr lang="es-MX" sz="2000" dirty="0" err="1"/>
              <a:t>Bivariate</a:t>
            </a:r>
            <a:r>
              <a:rPr lang="es-MX" sz="2000" dirty="0"/>
              <a:t> … </a:t>
            </a:r>
          </a:p>
        </p:txBody>
      </p:sp>
    </p:spTree>
    <p:extLst>
      <p:ext uri="{BB962C8B-B14F-4D97-AF65-F5344CB8AC3E}">
        <p14:creationId xmlns:p14="http://schemas.microsoft.com/office/powerpoint/2010/main" val="12217680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682DD-D401-A680-A120-85D7A2943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Work tools on a bench">
            <a:extLst>
              <a:ext uri="{FF2B5EF4-FFF2-40B4-BE49-F238E27FC236}">
                <a16:creationId xmlns:a16="http://schemas.microsoft.com/office/drawing/2014/main" id="{C87A962C-5E38-D0DE-F315-D32696700D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734" r="12436" b="-1"/>
          <a:stretch>
            <a:fillRect/>
          </a:stretch>
        </p:blipFill>
        <p:spPr>
          <a:xfrm>
            <a:off x="20" y="10"/>
            <a:ext cx="6044164" cy="68579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82A481-2867-7D04-7635-B0D2255C0A21}"/>
              </a:ext>
            </a:extLst>
          </p:cNvPr>
          <p:cNvSpPr txBox="1"/>
          <p:nvPr/>
        </p:nvSpPr>
        <p:spPr>
          <a:xfrm>
            <a:off x="6204720" y="1010412"/>
            <a:ext cx="2687820" cy="5013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3600" dirty="0"/>
              <a:t>Task 3: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endParaRPr lang="en-US" sz="3600" dirty="0"/>
          </a:p>
          <a:p>
            <a:pPr>
              <a:lnSpc>
                <a:spcPct val="110000"/>
              </a:lnSpc>
              <a:spcAft>
                <a:spcPts val="600"/>
              </a:spcAft>
            </a:pP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1E1569-48B8-FAF4-6AB8-005486A6AAAE}"/>
              </a:ext>
            </a:extLst>
          </p:cNvPr>
          <p:cNvSpPr txBox="1"/>
          <p:nvPr/>
        </p:nvSpPr>
        <p:spPr>
          <a:xfrm>
            <a:off x="8987409" y="1885244"/>
            <a:ext cx="3080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dirty="0"/>
              <a:t>. </a:t>
            </a:r>
          </a:p>
          <a:p>
            <a:pPr algn="ctr"/>
            <a:endParaRPr lang="es-MX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9459DB-1391-CA01-22A3-A3F101F6B06B}"/>
              </a:ext>
            </a:extLst>
          </p:cNvPr>
          <p:cNvSpPr txBox="1"/>
          <p:nvPr/>
        </p:nvSpPr>
        <p:spPr>
          <a:xfrm>
            <a:off x="6204720" y="1885244"/>
            <a:ext cx="58425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/>
              <a:t>From</a:t>
            </a:r>
            <a:r>
              <a:rPr lang="es-MX" dirty="0"/>
              <a:t> </a:t>
            </a:r>
            <a:r>
              <a:rPr lang="es-MX" dirty="0" err="1"/>
              <a:t>the</a:t>
            </a:r>
            <a:r>
              <a:rPr lang="es-MX" dirty="0"/>
              <a:t> Santa </a:t>
            </a:r>
            <a:r>
              <a:rPr lang="es-MX" dirty="0" err="1"/>
              <a:t>Fe’s</a:t>
            </a:r>
            <a:r>
              <a:rPr lang="es-MX" dirty="0"/>
              <a:t> data, pick </a:t>
            </a:r>
            <a:r>
              <a:rPr lang="es-MX" dirty="0" err="1"/>
              <a:t>many</a:t>
            </a:r>
            <a:r>
              <a:rPr lang="es-MX" dirty="0"/>
              <a:t> variables </a:t>
            </a:r>
            <a:r>
              <a:rPr lang="es-MX" dirty="0" err="1"/>
              <a:t>to</a:t>
            </a:r>
            <a:r>
              <a:rPr lang="es-MX" dirty="0"/>
              <a:t> </a:t>
            </a:r>
            <a:r>
              <a:rPr lang="es-MX" dirty="0" err="1"/>
              <a:t>correlate</a:t>
            </a:r>
            <a:r>
              <a:rPr lang="es-MX" dirty="0"/>
              <a:t> (</a:t>
            </a:r>
            <a:r>
              <a:rPr lang="es-MX" dirty="0" err="1"/>
              <a:t>different</a:t>
            </a:r>
            <a:r>
              <a:rPr lang="es-MX" dirty="0"/>
              <a:t> </a:t>
            </a:r>
            <a:r>
              <a:rPr lang="es-MX" dirty="0" err="1"/>
              <a:t>from</a:t>
            </a:r>
            <a:r>
              <a:rPr lang="es-MX" dirty="0"/>
              <a:t> </a:t>
            </a:r>
            <a:r>
              <a:rPr lang="es-MX" dirty="0" err="1"/>
              <a:t>the</a:t>
            </a:r>
            <a:r>
              <a:rPr lang="es-MX" dirty="0"/>
              <a:t> </a:t>
            </a:r>
            <a:r>
              <a:rPr lang="es-MX" dirty="0" err="1"/>
              <a:t>ones</a:t>
            </a:r>
            <a:r>
              <a:rPr lang="es-MX" dirty="0"/>
              <a:t> in </a:t>
            </a:r>
            <a:r>
              <a:rPr lang="es-MX" dirty="0" err="1"/>
              <a:t>the</a:t>
            </a:r>
            <a:r>
              <a:rPr lang="es-MX" dirty="0"/>
              <a:t> </a:t>
            </a:r>
            <a:r>
              <a:rPr lang="es-MX" dirty="0" err="1"/>
              <a:t>explanation</a:t>
            </a:r>
            <a:r>
              <a:rPr lang="es-MX" dirty="0"/>
              <a:t> </a:t>
            </a:r>
            <a:r>
              <a:rPr lang="es-MX" dirty="0" err="1"/>
              <a:t>slide</a:t>
            </a:r>
            <a:r>
              <a:rPr lang="es-MX" dirty="0"/>
              <a:t>). </a:t>
            </a:r>
          </a:p>
          <a:p>
            <a:endParaRPr lang="es-MX" dirty="0"/>
          </a:p>
          <a:p>
            <a:r>
              <a:rPr lang="es-MX" dirty="0"/>
              <a:t>Run </a:t>
            </a:r>
            <a:r>
              <a:rPr lang="es-MX" dirty="0" err="1"/>
              <a:t>the</a:t>
            </a:r>
            <a:r>
              <a:rPr lang="es-MX" dirty="0"/>
              <a:t> </a:t>
            </a:r>
            <a:r>
              <a:rPr lang="es-MX" dirty="0" err="1"/>
              <a:t>analysis</a:t>
            </a:r>
            <a:r>
              <a:rPr lang="es-MX" dirty="0"/>
              <a:t> in SPSS.</a:t>
            </a:r>
          </a:p>
          <a:p>
            <a:endParaRPr lang="es-MX" dirty="0"/>
          </a:p>
          <a:p>
            <a:r>
              <a:rPr lang="es-MX" dirty="0" err="1"/>
              <a:t>Which</a:t>
            </a:r>
            <a:r>
              <a:rPr lang="es-MX" dirty="0"/>
              <a:t> </a:t>
            </a:r>
            <a:r>
              <a:rPr lang="es-MX" dirty="0" err="1"/>
              <a:t>ones</a:t>
            </a:r>
            <a:r>
              <a:rPr lang="es-MX" dirty="0"/>
              <a:t> are </a:t>
            </a:r>
            <a:r>
              <a:rPr lang="es-MX" dirty="0" err="1"/>
              <a:t>significant</a:t>
            </a:r>
            <a:r>
              <a:rPr lang="es-MX" dirty="0"/>
              <a:t>? Do </a:t>
            </a:r>
            <a:r>
              <a:rPr lang="es-MX" dirty="0" err="1"/>
              <a:t>the</a:t>
            </a:r>
            <a:r>
              <a:rPr lang="es-MX" dirty="0"/>
              <a:t> </a:t>
            </a:r>
            <a:r>
              <a:rPr lang="es-MX" dirty="0" err="1"/>
              <a:t>significant</a:t>
            </a:r>
            <a:r>
              <a:rPr lang="es-MX" dirty="0"/>
              <a:t> </a:t>
            </a:r>
            <a:r>
              <a:rPr lang="es-MX" dirty="0" err="1"/>
              <a:t>correlations</a:t>
            </a:r>
            <a:r>
              <a:rPr lang="es-MX" dirty="0"/>
              <a:t> </a:t>
            </a:r>
            <a:r>
              <a:rPr lang="es-MX" dirty="0" err="1"/>
              <a:t>make</a:t>
            </a:r>
            <a:r>
              <a:rPr lang="es-MX" dirty="0"/>
              <a:t> </a:t>
            </a:r>
            <a:r>
              <a:rPr lang="es-MX" dirty="0" err="1"/>
              <a:t>sense</a:t>
            </a:r>
            <a:r>
              <a:rPr lang="es-MX" dirty="0"/>
              <a:t>?</a:t>
            </a:r>
          </a:p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712362956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1168</TotalTime>
  <Words>641</Words>
  <Application>Microsoft Office PowerPoint</Application>
  <PresentationFormat>Widescreen</PresentationFormat>
  <Paragraphs>126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Arial</vt:lpstr>
      <vt:lpstr>Calisto MT</vt:lpstr>
      <vt:lpstr>system-ui</vt:lpstr>
      <vt:lpstr>Univers Condensed</vt:lpstr>
      <vt:lpstr>ChronicleVTI</vt:lpstr>
      <vt:lpstr>SPSS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Exploratory Data analysis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Santiago Alonso Diaz</dc:creator>
  <cp:lastModifiedBy>Santiago Alonso Diaz</cp:lastModifiedBy>
  <cp:revision>15</cp:revision>
  <dcterms:created xsi:type="dcterms:W3CDTF">2025-09-04T15:01:05Z</dcterms:created>
  <dcterms:modified xsi:type="dcterms:W3CDTF">2025-09-11T15:34:46Z</dcterms:modified>
</cp:coreProperties>
</file>