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notesMasterIdLst>
    <p:notesMasterId r:id="rId25"/>
  </p:notesMasterIdLst>
  <p:sldIdLst>
    <p:sldId id="256" r:id="rId2"/>
    <p:sldId id="257" r:id="rId3"/>
    <p:sldId id="259" r:id="rId4"/>
    <p:sldId id="261" r:id="rId5"/>
    <p:sldId id="260" r:id="rId6"/>
    <p:sldId id="272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8" r:id="rId15"/>
    <p:sldId id="279" r:id="rId16"/>
    <p:sldId id="269" r:id="rId17"/>
    <p:sldId id="274" r:id="rId18"/>
    <p:sldId id="275" r:id="rId19"/>
    <p:sldId id="271" r:id="rId20"/>
    <p:sldId id="276" r:id="rId21"/>
    <p:sldId id="270" r:id="rId22"/>
    <p:sldId id="277" r:id="rId23"/>
    <p:sldId id="281" r:id="rId2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48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D83A3E-96C1-44B3-9752-1EFFC677FE6A}" type="datetimeFigureOut">
              <a:rPr lang="es-MX" smtClean="0"/>
              <a:t>11/09/2025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3E1925-51E1-4D1B-B21B-8FFE8606632A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95433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https://github.com/brian-c-ogorman/ABanditTesting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3E1925-51E1-4D1B-B21B-8FFE8606632A}" type="slidenum">
              <a:rPr lang="es-MX" smtClean="0"/>
              <a:t>14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218942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B6D20-BE94-EAE8-E107-FC659439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31DC3-7F64-BB6C-2D1C-64DD42A9C1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6A17A3-8CA0-D4C8-DCB6-BB1AC401B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https://github.com/brian-c-ogorman/ABanditTesting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89C5F-4EB4-4310-FC91-1689CAA7A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3E1925-51E1-4D1B-B21B-8FFE8606632A}" type="slidenum">
              <a:rPr lang="es-MX" smtClean="0"/>
              <a:t>15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023185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0F7D69-D93C-4C38-A23D-76E000D691CD}"/>
              </a:ext>
            </a:extLst>
          </p:cNvPr>
          <p:cNvSpPr/>
          <p:nvPr/>
        </p:nvSpPr>
        <p:spPr>
          <a:xfrm>
            <a:off x="0" y="0"/>
            <a:ext cx="3496422" cy="6858000"/>
          </a:xfrm>
          <a:custGeom>
            <a:avLst/>
            <a:gdLst>
              <a:gd name="connsiteX0" fmla="*/ 0 w 3496422"/>
              <a:gd name="connsiteY0" fmla="*/ 0 h 6858000"/>
              <a:gd name="connsiteX1" fmla="*/ 1873399 w 3496422"/>
              <a:gd name="connsiteY1" fmla="*/ 0 h 6858000"/>
              <a:gd name="connsiteX2" fmla="*/ 1895523 w 3496422"/>
              <a:gd name="connsiteY2" fmla="*/ 14997 h 6858000"/>
              <a:gd name="connsiteX3" fmla="*/ 3496422 w 3496422"/>
              <a:gd name="connsiteY3" fmla="*/ 3621656 h 6858000"/>
              <a:gd name="connsiteX4" fmla="*/ 1622072 w 3496422"/>
              <a:gd name="connsiteY4" fmla="*/ 6374814 h 6858000"/>
              <a:gd name="connsiteX5" fmla="*/ 1105424 w 3496422"/>
              <a:gd name="connsiteY5" fmla="*/ 6780599 h 6858000"/>
              <a:gd name="connsiteX6" fmla="*/ 993668 w 3496422"/>
              <a:gd name="connsiteY6" fmla="*/ 6858000 h 6858000"/>
              <a:gd name="connsiteX7" fmla="*/ 0 w 349642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54295" y="1346268"/>
            <a:ext cx="7060135" cy="3285207"/>
          </a:xfrm>
        </p:spPr>
        <p:txBody>
          <a:bodyPr anchor="b">
            <a:noAutofit/>
          </a:bodyPr>
          <a:lstStyle>
            <a:lvl1pPr algn="l">
              <a:lnSpc>
                <a:spcPct val="120000"/>
              </a:lnSpc>
              <a:defRPr sz="5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2312" y="4631475"/>
            <a:ext cx="7052117" cy="1150200"/>
          </a:xfrm>
        </p:spPr>
        <p:txBody>
          <a:bodyPr lIns="109728" tIns="109728" rIns="109728" bIns="9144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sz="2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3E5C65-E22A-4865-9449-10140D62B6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54295" y="617415"/>
            <a:ext cx="7123723" cy="457200"/>
          </a:xfrm>
        </p:spPr>
        <p:txBody>
          <a:bodyPr/>
          <a:lstStyle>
            <a:lvl1pPr algn="l">
              <a:defRPr/>
            </a:lvl1pPr>
          </a:lstStyle>
          <a:p>
            <a:fld id="{12241623-A064-4BED-B073-BA4D61433402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EF9C3DE0-E7F5-4B4D-B5AF-CDE724CE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5" y="6170490"/>
            <a:ext cx="558834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48C1E146-840A-4217-B63E-62E5CF89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170490"/>
            <a:ext cx="1198829" cy="457200"/>
          </a:xfrm>
        </p:spPr>
        <p:txBody>
          <a:bodyPr/>
          <a:lstStyle>
            <a:lvl1pPr algn="r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D419D4-EA9D-42D9-BF62-B07F0B7B672B}"/>
              </a:ext>
            </a:extLst>
          </p:cNvPr>
          <p:cNvSpPr/>
          <p:nvPr/>
        </p:nvSpPr>
        <p:spPr>
          <a:xfrm>
            <a:off x="137540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C6FEC9B-9608-4181-A9E5-A1B80E72021C}"/>
              </a:ext>
            </a:extLst>
          </p:cNvPr>
          <p:cNvSpPr/>
          <p:nvPr/>
        </p:nvSpPr>
        <p:spPr>
          <a:xfrm>
            <a:off x="1155402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B1564ED-F26F-451D-97D6-A6EC3E83FD55}"/>
              </a:ext>
            </a:extLst>
          </p:cNvPr>
          <p:cNvSpPr/>
          <p:nvPr/>
        </p:nvSpPr>
        <p:spPr>
          <a:xfrm>
            <a:off x="924161" y="0"/>
            <a:ext cx="2261351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87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923EF53-7767-4C94-BEF6-D45292794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3E5F3-28EE-488F-BD53-B744C06C3DEC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CF12700-F905-4CFA-970C-C81E05A6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A1B1EE2-BCA3-432B-A32D-B04C7F1DD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865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84A89F5-6982-40AE-8108-88B93E85C8FF}"/>
              </a:ext>
            </a:extLst>
          </p:cNvPr>
          <p:cNvGrpSpPr/>
          <p:nvPr/>
        </p:nvGrpSpPr>
        <p:grpSpPr>
          <a:xfrm>
            <a:off x="3124577" y="0"/>
            <a:ext cx="4389519" cy="2916937"/>
            <a:chOff x="3124577" y="0"/>
            <a:chExt cx="4389519" cy="291693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80BED93-E30B-4492-A268-84C33CA4F067}"/>
                </a:ext>
              </a:extLst>
            </p:cNvPr>
            <p:cNvSpPr/>
            <p:nvPr/>
          </p:nvSpPr>
          <p:spPr>
            <a:xfrm>
              <a:off x="3320637" y="0"/>
              <a:ext cx="4013331" cy="2742133"/>
            </a:xfrm>
            <a:custGeom>
              <a:avLst/>
              <a:gdLst>
                <a:gd name="connsiteX0" fmla="*/ 294151 w 4013331"/>
                <a:gd name="connsiteY0" fmla="*/ 0 h 2742133"/>
                <a:gd name="connsiteX1" fmla="*/ 3844057 w 4013331"/>
                <a:gd name="connsiteY1" fmla="*/ 0 h 2742133"/>
                <a:gd name="connsiteX2" fmla="*/ 3892490 w 4013331"/>
                <a:gd name="connsiteY2" fmla="*/ 131440 h 2742133"/>
                <a:gd name="connsiteX3" fmla="*/ 4013331 w 4013331"/>
                <a:gd name="connsiteY3" fmla="*/ 941251 h 2742133"/>
                <a:gd name="connsiteX4" fmla="*/ 3804827 w 4013331"/>
                <a:gd name="connsiteY4" fmla="*/ 1540292 h 2742133"/>
                <a:gd name="connsiteX5" fmla="*/ 3187498 w 4013331"/>
                <a:gd name="connsiteY5" fmla="*/ 2098087 h 2742133"/>
                <a:gd name="connsiteX6" fmla="*/ 3051769 w 4013331"/>
                <a:gd name="connsiteY6" fmla="*/ 2204787 h 2742133"/>
                <a:gd name="connsiteX7" fmla="*/ 1936476 w 4013331"/>
                <a:gd name="connsiteY7" fmla="*/ 2742133 h 2742133"/>
                <a:gd name="connsiteX8" fmla="*/ 467303 w 4013331"/>
                <a:gd name="connsiteY8" fmla="*/ 1868695 h 2742133"/>
                <a:gd name="connsiteX9" fmla="*/ 310732 w 4013331"/>
                <a:gd name="connsiteY9" fmla="*/ 1645244 h 2742133"/>
                <a:gd name="connsiteX10" fmla="*/ 0 w 4013331"/>
                <a:gd name="connsiteY10" fmla="*/ 941251 h 2742133"/>
                <a:gd name="connsiteX11" fmla="*/ 187749 w 4013331"/>
                <a:gd name="connsiteY11" fmla="*/ 183076 h 2742133"/>
                <a:gd name="connsiteX12" fmla="*/ 288888 w 4013331"/>
                <a:gd name="connsiteY12" fmla="*/ 7329 h 274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13331" h="2742133">
                  <a:moveTo>
                    <a:pt x="294151" y="0"/>
                  </a:moveTo>
                  <a:lnTo>
                    <a:pt x="3844057" y="0"/>
                  </a:lnTo>
                  <a:lnTo>
                    <a:pt x="3892490" y="131440"/>
                  </a:lnTo>
                  <a:cubicBezTo>
                    <a:pt x="3971777" y="378867"/>
                    <a:pt x="4013331" y="652783"/>
                    <a:pt x="4013331" y="941251"/>
                  </a:cubicBezTo>
                  <a:cubicBezTo>
                    <a:pt x="4013331" y="1171430"/>
                    <a:pt x="3948997" y="1356167"/>
                    <a:pt x="3804827" y="1540292"/>
                  </a:cubicBezTo>
                  <a:cubicBezTo>
                    <a:pt x="3654026" y="1732895"/>
                    <a:pt x="3427436" y="1910292"/>
                    <a:pt x="3187498" y="2098087"/>
                  </a:cubicBezTo>
                  <a:cubicBezTo>
                    <a:pt x="3143231" y="2132693"/>
                    <a:pt x="3097499" y="2168522"/>
                    <a:pt x="3051769" y="2204787"/>
                  </a:cubicBezTo>
                  <a:cubicBezTo>
                    <a:pt x="2642425" y="2529345"/>
                    <a:pt x="2343664" y="2742133"/>
                    <a:pt x="1936476" y="2742133"/>
                  </a:cubicBezTo>
                  <a:cubicBezTo>
                    <a:pt x="1316045" y="2742133"/>
                    <a:pt x="876647" y="2480932"/>
                    <a:pt x="467303" y="1868695"/>
                  </a:cubicBezTo>
                  <a:cubicBezTo>
                    <a:pt x="413736" y="1788559"/>
                    <a:pt x="361372" y="1715679"/>
                    <a:pt x="310732" y="1645244"/>
                  </a:cubicBezTo>
                  <a:cubicBezTo>
                    <a:pt x="100850" y="1353195"/>
                    <a:pt x="0" y="1201315"/>
                    <a:pt x="0" y="941251"/>
                  </a:cubicBezTo>
                  <a:cubicBezTo>
                    <a:pt x="0" y="683021"/>
                    <a:pt x="63214" y="427935"/>
                    <a:pt x="187749" y="183076"/>
                  </a:cubicBezTo>
                  <a:cubicBezTo>
                    <a:pt x="218215" y="123194"/>
                    <a:pt x="251953" y="64578"/>
                    <a:pt x="288888" y="7329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65F60C1-CD8B-4326-9B24-3D197CF382A6}"/>
                </a:ext>
              </a:extLst>
            </p:cNvPr>
            <p:cNvSpPr/>
            <p:nvPr/>
          </p:nvSpPr>
          <p:spPr>
            <a:xfrm>
              <a:off x="3566319" y="0"/>
              <a:ext cx="3401415" cy="2440484"/>
            </a:xfrm>
            <a:custGeom>
              <a:avLst/>
              <a:gdLst>
                <a:gd name="connsiteX0" fmla="*/ 332917 w 3401415"/>
                <a:gd name="connsiteY0" fmla="*/ 0 h 2440484"/>
                <a:gd name="connsiteX1" fmla="*/ 3207137 w 3401415"/>
                <a:gd name="connsiteY1" fmla="*/ 0 h 2440484"/>
                <a:gd name="connsiteX2" fmla="*/ 3242654 w 3401415"/>
                <a:gd name="connsiteY2" fmla="*/ 74937 h 2440484"/>
                <a:gd name="connsiteX3" fmla="*/ 3401415 w 3401415"/>
                <a:gd name="connsiteY3" fmla="*/ 914184 h 2440484"/>
                <a:gd name="connsiteX4" fmla="*/ 3224702 w 3401415"/>
                <a:gd name="connsiteY4" fmla="*/ 1421888 h 2440484"/>
                <a:gd name="connsiteX5" fmla="*/ 2701498 w 3401415"/>
                <a:gd name="connsiteY5" fmla="*/ 1894635 h 2440484"/>
                <a:gd name="connsiteX6" fmla="*/ 2586463 w 3401415"/>
                <a:gd name="connsiteY6" fmla="*/ 1985068 h 2440484"/>
                <a:gd name="connsiteX7" fmla="*/ 1641219 w 3401415"/>
                <a:gd name="connsiteY7" fmla="*/ 2440484 h 2440484"/>
                <a:gd name="connsiteX8" fmla="*/ 396053 w 3401415"/>
                <a:gd name="connsiteY8" fmla="*/ 1700219 h 2440484"/>
                <a:gd name="connsiteX9" fmla="*/ 263354 w 3401415"/>
                <a:gd name="connsiteY9" fmla="*/ 1510839 h 2440484"/>
                <a:gd name="connsiteX10" fmla="*/ 0 w 3401415"/>
                <a:gd name="connsiteY10" fmla="*/ 914184 h 2440484"/>
                <a:gd name="connsiteX11" fmla="*/ 159122 w 3401415"/>
                <a:gd name="connsiteY11" fmla="*/ 271610 h 2440484"/>
                <a:gd name="connsiteX12" fmla="*/ 244841 w 3401415"/>
                <a:gd name="connsiteY12" fmla="*/ 122658 h 244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01415" h="2440484">
                  <a:moveTo>
                    <a:pt x="332917" y="0"/>
                  </a:moveTo>
                  <a:lnTo>
                    <a:pt x="3207137" y="0"/>
                  </a:lnTo>
                  <a:lnTo>
                    <a:pt x="3242654" y="74937"/>
                  </a:lnTo>
                  <a:cubicBezTo>
                    <a:pt x="3346386" y="322243"/>
                    <a:pt x="3401415" y="608579"/>
                    <a:pt x="3401415" y="914184"/>
                  </a:cubicBezTo>
                  <a:cubicBezTo>
                    <a:pt x="3401415" y="1109268"/>
                    <a:pt x="3346890" y="1265837"/>
                    <a:pt x="3224702" y="1421888"/>
                  </a:cubicBezTo>
                  <a:cubicBezTo>
                    <a:pt x="3096894" y="1585125"/>
                    <a:pt x="2904852" y="1735475"/>
                    <a:pt x="2701498" y="1894635"/>
                  </a:cubicBezTo>
                  <a:cubicBezTo>
                    <a:pt x="2663980" y="1923966"/>
                    <a:pt x="2625221" y="1954332"/>
                    <a:pt x="2586463" y="1985068"/>
                  </a:cubicBezTo>
                  <a:cubicBezTo>
                    <a:pt x="2239532" y="2260140"/>
                    <a:pt x="1986324" y="2440484"/>
                    <a:pt x="1641219" y="2440484"/>
                  </a:cubicBezTo>
                  <a:cubicBezTo>
                    <a:pt x="1115386" y="2440484"/>
                    <a:pt x="742984" y="2219109"/>
                    <a:pt x="396053" y="1700219"/>
                  </a:cubicBezTo>
                  <a:cubicBezTo>
                    <a:pt x="350653" y="1632303"/>
                    <a:pt x="306273" y="1570535"/>
                    <a:pt x="263354" y="1510839"/>
                  </a:cubicBezTo>
                  <a:cubicBezTo>
                    <a:pt x="85473" y="1263318"/>
                    <a:pt x="0" y="1134597"/>
                    <a:pt x="0" y="914184"/>
                  </a:cubicBezTo>
                  <a:cubicBezTo>
                    <a:pt x="0" y="695327"/>
                    <a:pt x="53576" y="479135"/>
                    <a:pt x="159122" y="271610"/>
                  </a:cubicBezTo>
                  <a:cubicBezTo>
                    <a:pt x="184943" y="220858"/>
                    <a:pt x="213538" y="171179"/>
                    <a:pt x="244841" y="122658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9511D06-104E-440E-8049-4CDCE4B87E96}"/>
                </a:ext>
              </a:extLst>
            </p:cNvPr>
            <p:cNvSpPr/>
            <p:nvPr/>
          </p:nvSpPr>
          <p:spPr>
            <a:xfrm>
              <a:off x="3232490" y="0"/>
              <a:ext cx="4164597" cy="2817185"/>
            </a:xfrm>
            <a:custGeom>
              <a:avLst/>
              <a:gdLst>
                <a:gd name="connsiteX0" fmla="*/ 237339 w 4130517"/>
                <a:gd name="connsiteY0" fmla="*/ 0 h 2806419"/>
                <a:gd name="connsiteX1" fmla="*/ 3997489 w 4130517"/>
                <a:gd name="connsiteY1" fmla="*/ 0 h 2806419"/>
                <a:gd name="connsiteX2" fmla="*/ 4006148 w 4130517"/>
                <a:gd name="connsiteY2" fmla="*/ 24333 h 2806419"/>
                <a:gd name="connsiteX3" fmla="*/ 4130517 w 4130517"/>
                <a:gd name="connsiteY3" fmla="*/ 887307 h 2806419"/>
                <a:gd name="connsiteX4" fmla="*/ 3915925 w 4130517"/>
                <a:gd name="connsiteY4" fmla="*/ 1525677 h 2806419"/>
                <a:gd name="connsiteX5" fmla="*/ 3280571 w 4130517"/>
                <a:gd name="connsiteY5" fmla="*/ 2120090 h 2806419"/>
                <a:gd name="connsiteX6" fmla="*/ 3140878 w 4130517"/>
                <a:gd name="connsiteY6" fmla="*/ 2233796 h 2806419"/>
                <a:gd name="connsiteX7" fmla="*/ 1993019 w 4130517"/>
                <a:gd name="connsiteY7" fmla="*/ 2806419 h 2806419"/>
                <a:gd name="connsiteX8" fmla="*/ 480948 w 4130517"/>
                <a:gd name="connsiteY8" fmla="*/ 1875638 h 2806419"/>
                <a:gd name="connsiteX9" fmla="*/ 319805 w 4130517"/>
                <a:gd name="connsiteY9" fmla="*/ 1637519 h 2806419"/>
                <a:gd name="connsiteX10" fmla="*/ 0 w 4130517"/>
                <a:gd name="connsiteY10" fmla="*/ 887307 h 2806419"/>
                <a:gd name="connsiteX11" fmla="*/ 193231 w 4130517"/>
                <a:gd name="connsiteY11" fmla="*/ 79360 h 280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30517" h="2806419">
                  <a:moveTo>
                    <a:pt x="237339" y="0"/>
                  </a:moveTo>
                  <a:lnTo>
                    <a:pt x="3997489" y="0"/>
                  </a:lnTo>
                  <a:lnTo>
                    <a:pt x="4006148" y="24333"/>
                  </a:lnTo>
                  <a:cubicBezTo>
                    <a:pt x="4087750" y="288004"/>
                    <a:pt x="4130517" y="579903"/>
                    <a:pt x="4130517" y="887307"/>
                  </a:cubicBezTo>
                  <a:cubicBezTo>
                    <a:pt x="4130517" y="1132599"/>
                    <a:pt x="4064304" y="1329464"/>
                    <a:pt x="3915925" y="1525677"/>
                  </a:cubicBezTo>
                  <a:cubicBezTo>
                    <a:pt x="3760721" y="1730924"/>
                    <a:pt x="3527514" y="1919967"/>
                    <a:pt x="3280571" y="2120090"/>
                  </a:cubicBezTo>
                  <a:cubicBezTo>
                    <a:pt x="3235011" y="2156968"/>
                    <a:pt x="3187944" y="2195151"/>
                    <a:pt x="3140878" y="2233796"/>
                  </a:cubicBezTo>
                  <a:cubicBezTo>
                    <a:pt x="2719582" y="2579662"/>
                    <a:pt x="2412097" y="2806419"/>
                    <a:pt x="1993019" y="2806419"/>
                  </a:cubicBezTo>
                  <a:cubicBezTo>
                    <a:pt x="1354472" y="2806419"/>
                    <a:pt x="902244" y="2528070"/>
                    <a:pt x="480948" y="1875638"/>
                  </a:cubicBezTo>
                  <a:cubicBezTo>
                    <a:pt x="425816" y="1790244"/>
                    <a:pt x="371924" y="1712578"/>
                    <a:pt x="319805" y="1637519"/>
                  </a:cubicBezTo>
                  <a:cubicBezTo>
                    <a:pt x="103795" y="1326296"/>
                    <a:pt x="0" y="1164446"/>
                    <a:pt x="0" y="887307"/>
                  </a:cubicBezTo>
                  <a:cubicBezTo>
                    <a:pt x="0" y="612125"/>
                    <a:pt x="65060" y="340293"/>
                    <a:pt x="193231" y="7936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4F6B39-7B0A-4839-9F52-1FFA2044F248}"/>
                </a:ext>
              </a:extLst>
            </p:cNvPr>
            <p:cNvSpPr/>
            <p:nvPr/>
          </p:nvSpPr>
          <p:spPr>
            <a:xfrm>
              <a:off x="3124577" y="0"/>
              <a:ext cx="4389519" cy="2916937"/>
            </a:xfrm>
            <a:custGeom>
              <a:avLst/>
              <a:gdLst>
                <a:gd name="connsiteX0" fmla="*/ 208215 w 4389519"/>
                <a:gd name="connsiteY0" fmla="*/ 0 h 2916937"/>
                <a:gd name="connsiteX1" fmla="*/ 4284014 w 4389519"/>
                <a:gd name="connsiteY1" fmla="*/ 0 h 2916937"/>
                <a:gd name="connsiteX2" fmla="*/ 4335794 w 4389519"/>
                <a:gd name="connsiteY2" fmla="*/ 207911 h 2916937"/>
                <a:gd name="connsiteX3" fmla="*/ 4376420 w 4389519"/>
                <a:gd name="connsiteY3" fmla="*/ 1078865 h 2916937"/>
                <a:gd name="connsiteX4" fmla="*/ 4090147 w 4389519"/>
                <a:gd name="connsiteY4" fmla="*/ 1734728 h 2916937"/>
                <a:gd name="connsiteX5" fmla="*/ 3362552 w 4389519"/>
                <a:gd name="connsiteY5" fmla="*/ 2305097 h 2916937"/>
                <a:gd name="connsiteX6" fmla="*/ 3204152 w 4389519"/>
                <a:gd name="connsiteY6" fmla="*/ 2412521 h 2916937"/>
                <a:gd name="connsiteX7" fmla="*/ 1936072 w 4389519"/>
                <a:gd name="connsiteY7" fmla="*/ 2912360 h 2916937"/>
                <a:gd name="connsiteX8" fmla="*/ 421690 w 4389519"/>
                <a:gd name="connsiteY8" fmla="*/ 1787063 h 2916937"/>
                <a:gd name="connsiteX9" fmla="*/ 273167 w 4389519"/>
                <a:gd name="connsiteY9" fmla="*/ 1520080 h 2916937"/>
                <a:gd name="connsiteX10" fmla="*/ 4118 w 4389519"/>
                <a:gd name="connsiteY10" fmla="*/ 696338 h 2916937"/>
                <a:gd name="connsiteX11" fmla="*/ 175984 w 4389519"/>
                <a:gd name="connsiteY11" fmla="*/ 60381 h 29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89519" h="2916937">
                  <a:moveTo>
                    <a:pt x="208215" y="0"/>
                  </a:moveTo>
                  <a:lnTo>
                    <a:pt x="4284014" y="0"/>
                  </a:lnTo>
                  <a:lnTo>
                    <a:pt x="4335794" y="207911"/>
                  </a:lnTo>
                  <a:cubicBezTo>
                    <a:pt x="4388748" y="479686"/>
                    <a:pt x="4403109" y="773803"/>
                    <a:pt x="4376420" y="1078865"/>
                  </a:cubicBezTo>
                  <a:cubicBezTo>
                    <a:pt x="4353703" y="1338514"/>
                    <a:pt x="4265383" y="1540772"/>
                    <a:pt x="4090147" y="1734728"/>
                  </a:cubicBezTo>
                  <a:cubicBezTo>
                    <a:pt x="3906850" y="1937616"/>
                    <a:pt x="3642485" y="2116128"/>
                    <a:pt x="3362552" y="2305097"/>
                  </a:cubicBezTo>
                  <a:cubicBezTo>
                    <a:pt x="3310910" y="2339914"/>
                    <a:pt x="3257553" y="2375972"/>
                    <a:pt x="3204152" y="2412521"/>
                  </a:cubicBezTo>
                  <a:cubicBezTo>
                    <a:pt x="2726165" y="2739616"/>
                    <a:pt x="2379682" y="2951171"/>
                    <a:pt x="1936072" y="2912360"/>
                  </a:cubicBezTo>
                  <a:cubicBezTo>
                    <a:pt x="1260148" y="2853224"/>
                    <a:pt x="807225" y="2516700"/>
                    <a:pt x="421690" y="1787063"/>
                  </a:cubicBezTo>
                  <a:cubicBezTo>
                    <a:pt x="371240" y="1691563"/>
                    <a:pt x="321385" y="1604361"/>
                    <a:pt x="273167" y="1520080"/>
                  </a:cubicBezTo>
                  <a:cubicBezTo>
                    <a:pt x="73334" y="1170636"/>
                    <a:pt x="-21548" y="989700"/>
                    <a:pt x="4118" y="696338"/>
                  </a:cubicBezTo>
                  <a:cubicBezTo>
                    <a:pt x="23232" y="477870"/>
                    <a:pt x="80908" y="264786"/>
                    <a:pt x="175984" y="60381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3099122-D80B-4389-A1CF-52C635217F4B}"/>
              </a:ext>
            </a:extLst>
          </p:cNvPr>
          <p:cNvGrpSpPr/>
          <p:nvPr/>
        </p:nvGrpSpPr>
        <p:grpSpPr>
          <a:xfrm>
            <a:off x="8122942" y="0"/>
            <a:ext cx="4069058" cy="3547008"/>
            <a:chOff x="8122942" y="0"/>
            <a:chExt cx="4069058" cy="354700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A535D59-CDAA-4AA9-84AC-A6142E857FE2}"/>
                </a:ext>
              </a:extLst>
            </p:cNvPr>
            <p:cNvSpPr/>
            <p:nvPr/>
          </p:nvSpPr>
          <p:spPr>
            <a:xfrm>
              <a:off x="8122942" y="0"/>
              <a:ext cx="4069058" cy="3547008"/>
            </a:xfrm>
            <a:custGeom>
              <a:avLst/>
              <a:gdLst>
                <a:gd name="connsiteX0" fmla="*/ 305212 w 4069058"/>
                <a:gd name="connsiteY0" fmla="*/ 0 h 3547008"/>
                <a:gd name="connsiteX1" fmla="*/ 4069058 w 4069058"/>
                <a:gd name="connsiteY1" fmla="*/ 0 h 3547008"/>
                <a:gd name="connsiteX2" fmla="*/ 4069058 w 4069058"/>
                <a:gd name="connsiteY2" fmla="*/ 2865785 h 3547008"/>
                <a:gd name="connsiteX3" fmla="*/ 3996814 w 4069058"/>
                <a:gd name="connsiteY3" fmla="*/ 2947457 h 3547008"/>
                <a:gd name="connsiteX4" fmla="*/ 2732780 w 4069058"/>
                <a:gd name="connsiteY4" fmla="*/ 3541640 h 3547008"/>
                <a:gd name="connsiteX5" fmla="*/ 1317550 w 4069058"/>
                <a:gd name="connsiteY5" fmla="*/ 3015110 h 3547008"/>
                <a:gd name="connsiteX6" fmla="*/ 1140977 w 4069058"/>
                <a:gd name="connsiteY6" fmla="*/ 2901419 h 3547008"/>
                <a:gd name="connsiteX7" fmla="*/ 330269 w 4069058"/>
                <a:gd name="connsiteY7" fmla="*/ 2297252 h 3547008"/>
                <a:gd name="connsiteX8" fmla="*/ 13299 w 4069058"/>
                <a:gd name="connsiteY8" fmla="*/ 1599966 h 3547008"/>
                <a:gd name="connsiteX9" fmla="*/ 217457 w 4069058"/>
                <a:gd name="connsiteY9" fmla="*/ 178659 h 354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69058" h="3547008">
                  <a:moveTo>
                    <a:pt x="305212" y="0"/>
                  </a:moveTo>
                  <a:lnTo>
                    <a:pt x="4069058" y="0"/>
                  </a:lnTo>
                  <a:lnTo>
                    <a:pt x="4069058" y="2865785"/>
                  </a:lnTo>
                  <a:lnTo>
                    <a:pt x="3996814" y="2947457"/>
                  </a:lnTo>
                  <a:cubicBezTo>
                    <a:pt x="3654887" y="3311545"/>
                    <a:pt x="3252443" y="3496175"/>
                    <a:pt x="2732780" y="3541640"/>
                  </a:cubicBezTo>
                  <a:cubicBezTo>
                    <a:pt x="2236701" y="3585041"/>
                    <a:pt x="1850359" y="3361306"/>
                    <a:pt x="1317550" y="3015110"/>
                  </a:cubicBezTo>
                  <a:cubicBezTo>
                    <a:pt x="1258026" y="2976425"/>
                    <a:pt x="1198546" y="2938265"/>
                    <a:pt x="1140977" y="2901419"/>
                  </a:cubicBezTo>
                  <a:cubicBezTo>
                    <a:pt x="828927" y="2701433"/>
                    <a:pt x="534230" y="2512513"/>
                    <a:pt x="330269" y="2297252"/>
                  </a:cubicBezTo>
                  <a:cubicBezTo>
                    <a:pt x="135278" y="2091465"/>
                    <a:pt x="37487" y="1876435"/>
                    <a:pt x="13299" y="1599966"/>
                  </a:cubicBezTo>
                  <a:cubicBezTo>
                    <a:pt x="-32170" y="1080250"/>
                    <a:pt x="39709" y="589889"/>
                    <a:pt x="217457" y="178659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6948CC-6D51-4092-887C-B0664DC102C7}"/>
                </a:ext>
              </a:extLst>
            </p:cNvPr>
            <p:cNvSpPr/>
            <p:nvPr/>
          </p:nvSpPr>
          <p:spPr>
            <a:xfrm flipH="1">
              <a:off x="8319994" y="0"/>
              <a:ext cx="3872006" cy="3321595"/>
            </a:xfrm>
            <a:custGeom>
              <a:avLst/>
              <a:gdLst>
                <a:gd name="connsiteX0" fmla="*/ 3466434 w 3872006"/>
                <a:gd name="connsiteY0" fmla="*/ 0 h 3321595"/>
                <a:gd name="connsiteX1" fmla="*/ 65800 w 3872006"/>
                <a:gd name="connsiteY1" fmla="*/ 0 h 3321595"/>
                <a:gd name="connsiteX2" fmla="*/ 0 w 3872006"/>
                <a:gd name="connsiteY2" fmla="*/ 59511 h 3321595"/>
                <a:gd name="connsiteX3" fmla="*/ 0 w 3872006"/>
                <a:gd name="connsiteY3" fmla="*/ 2518435 h 3321595"/>
                <a:gd name="connsiteX4" fmla="*/ 80122 w 3872006"/>
                <a:gd name="connsiteY4" fmla="*/ 2618704 h 3321595"/>
                <a:gd name="connsiteX5" fmla="*/ 1549501 w 3872006"/>
                <a:gd name="connsiteY5" fmla="*/ 3321595 h 3321595"/>
                <a:gd name="connsiteX6" fmla="*/ 2796711 w 3872006"/>
                <a:gd name="connsiteY6" fmla="*/ 2749441 h 3321595"/>
                <a:gd name="connsiteX7" fmla="*/ 2948494 w 3872006"/>
                <a:gd name="connsiteY7" fmla="*/ 2635829 h 3321595"/>
                <a:gd name="connsiteX8" fmla="*/ 3638840 w 3872006"/>
                <a:gd name="connsiteY8" fmla="*/ 2041901 h 3321595"/>
                <a:gd name="connsiteX9" fmla="*/ 3872006 w 3872006"/>
                <a:gd name="connsiteY9" fmla="*/ 1404055 h 3321595"/>
                <a:gd name="connsiteX10" fmla="*/ 3467973 w 3872006"/>
                <a:gd name="connsiteY10" fmla="*/ 1974 h 33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2006" h="3321595">
                  <a:moveTo>
                    <a:pt x="3466434" y="0"/>
                  </a:moveTo>
                  <a:lnTo>
                    <a:pt x="65800" y="0"/>
                  </a:lnTo>
                  <a:lnTo>
                    <a:pt x="0" y="59511"/>
                  </a:lnTo>
                  <a:lnTo>
                    <a:pt x="0" y="2518435"/>
                  </a:lnTo>
                  <a:lnTo>
                    <a:pt x="80122" y="2618704"/>
                  </a:lnTo>
                  <a:cubicBezTo>
                    <a:pt x="490323" y="3108658"/>
                    <a:pt x="942414" y="3321595"/>
                    <a:pt x="1549501" y="3321595"/>
                  </a:cubicBezTo>
                  <a:cubicBezTo>
                    <a:pt x="2004852" y="3321595"/>
                    <a:pt x="2338950" y="3095023"/>
                    <a:pt x="2796711" y="2749441"/>
                  </a:cubicBezTo>
                  <a:cubicBezTo>
                    <a:pt x="2847850" y="2710827"/>
                    <a:pt x="2898991" y="2672676"/>
                    <a:pt x="2948494" y="2635829"/>
                  </a:cubicBezTo>
                  <a:cubicBezTo>
                    <a:pt x="3216812" y="2435869"/>
                    <a:pt x="3470203" y="2246981"/>
                    <a:pt x="3638840" y="2041901"/>
                  </a:cubicBezTo>
                  <a:cubicBezTo>
                    <a:pt x="3800062" y="1845849"/>
                    <a:pt x="3872006" y="1649145"/>
                    <a:pt x="3872006" y="1404055"/>
                  </a:cubicBezTo>
                  <a:cubicBezTo>
                    <a:pt x="3872006" y="866538"/>
                    <a:pt x="3729694" y="376466"/>
                    <a:pt x="3467973" y="1974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5F9FD94-99CC-42AD-8E66-CF99E8FD5A94}"/>
                </a:ext>
              </a:extLst>
            </p:cNvPr>
            <p:cNvSpPr/>
            <p:nvPr/>
          </p:nvSpPr>
          <p:spPr>
            <a:xfrm flipH="1">
              <a:off x="8729240" y="9274"/>
              <a:ext cx="3462454" cy="3010961"/>
            </a:xfrm>
            <a:custGeom>
              <a:avLst/>
              <a:gdLst>
                <a:gd name="connsiteX0" fmla="*/ 2953507 w 3462454"/>
                <a:gd name="connsiteY0" fmla="*/ 0 h 3010961"/>
                <a:gd name="connsiteX1" fmla="*/ 477652 w 3462454"/>
                <a:gd name="connsiteY1" fmla="*/ 0 h 3010961"/>
                <a:gd name="connsiteX2" fmla="*/ 327396 w 3462454"/>
                <a:gd name="connsiteY2" fmla="*/ 113681 h 3010961"/>
                <a:gd name="connsiteX3" fmla="*/ 46554 w 3462454"/>
                <a:gd name="connsiteY3" fmla="*/ 391785 h 3010961"/>
                <a:gd name="connsiteX4" fmla="*/ 0 w 3462454"/>
                <a:gd name="connsiteY4" fmla="*/ 453516 h 3010961"/>
                <a:gd name="connsiteX5" fmla="*/ 0 w 3462454"/>
                <a:gd name="connsiteY5" fmla="*/ 2083461 h 3010961"/>
                <a:gd name="connsiteX6" fmla="*/ 26382 w 3462454"/>
                <a:gd name="connsiteY6" fmla="*/ 2118637 h 3010961"/>
                <a:gd name="connsiteX7" fmla="*/ 101620 w 3462454"/>
                <a:gd name="connsiteY7" fmla="*/ 2222744 h 3010961"/>
                <a:gd name="connsiteX8" fmla="*/ 1494064 w 3462454"/>
                <a:gd name="connsiteY8" fmla="*/ 3010961 h 3010961"/>
                <a:gd name="connsiteX9" fmla="*/ 2551110 w 3462454"/>
                <a:gd name="connsiteY9" fmla="*/ 2526044 h 3010961"/>
                <a:gd name="connsiteX10" fmla="*/ 2679751 w 3462454"/>
                <a:gd name="connsiteY10" fmla="*/ 2429754 h 3010961"/>
                <a:gd name="connsiteX11" fmla="*/ 3264840 w 3462454"/>
                <a:gd name="connsiteY11" fmla="*/ 1926383 h 3010961"/>
                <a:gd name="connsiteX12" fmla="*/ 3462454 w 3462454"/>
                <a:gd name="connsiteY12" fmla="*/ 1385790 h 3010961"/>
                <a:gd name="connsiteX13" fmla="*/ 3018820 w 3462454"/>
                <a:gd name="connsiteY13" fmla="*/ 67626 h 3010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62454" h="3010961">
                  <a:moveTo>
                    <a:pt x="2953507" y="0"/>
                  </a:moveTo>
                  <a:lnTo>
                    <a:pt x="477652" y="0"/>
                  </a:lnTo>
                  <a:lnTo>
                    <a:pt x="327396" y="113681"/>
                  </a:lnTo>
                  <a:cubicBezTo>
                    <a:pt x="222344" y="200626"/>
                    <a:pt x="128536" y="293564"/>
                    <a:pt x="46554" y="391785"/>
                  </a:cubicBezTo>
                  <a:lnTo>
                    <a:pt x="0" y="453516"/>
                  </a:lnTo>
                  <a:lnTo>
                    <a:pt x="0" y="2083461"/>
                  </a:lnTo>
                  <a:lnTo>
                    <a:pt x="26382" y="2118637"/>
                  </a:lnTo>
                  <a:cubicBezTo>
                    <a:pt x="51135" y="2152065"/>
                    <a:pt x="76235" y="2186586"/>
                    <a:pt x="101620" y="2222744"/>
                  </a:cubicBezTo>
                  <a:cubicBezTo>
                    <a:pt x="489585" y="2775245"/>
                    <a:pt x="906035" y="3010961"/>
                    <a:pt x="1494064" y="3010961"/>
                  </a:cubicBezTo>
                  <a:cubicBezTo>
                    <a:pt x="1879987" y="3010961"/>
                    <a:pt x="2163144" y="2818935"/>
                    <a:pt x="2551110" y="2526044"/>
                  </a:cubicBezTo>
                  <a:cubicBezTo>
                    <a:pt x="2594452" y="2493317"/>
                    <a:pt x="2637795" y="2460984"/>
                    <a:pt x="2679751" y="2429754"/>
                  </a:cubicBezTo>
                  <a:cubicBezTo>
                    <a:pt x="2907158" y="2260282"/>
                    <a:pt x="3121914" y="2100194"/>
                    <a:pt x="3264840" y="1926383"/>
                  </a:cubicBezTo>
                  <a:cubicBezTo>
                    <a:pt x="3401480" y="1760224"/>
                    <a:pt x="3462454" y="1593511"/>
                    <a:pt x="3462454" y="1385790"/>
                  </a:cubicBezTo>
                  <a:cubicBezTo>
                    <a:pt x="3462454" y="865148"/>
                    <a:pt x="3304918" y="397028"/>
                    <a:pt x="3018820" y="67626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47D3E70-A759-410D-B5DB-855218E138C3}"/>
                </a:ext>
              </a:extLst>
            </p:cNvPr>
            <p:cNvSpPr/>
            <p:nvPr/>
          </p:nvSpPr>
          <p:spPr>
            <a:xfrm flipH="1">
              <a:off x="8243247" y="9274"/>
              <a:ext cx="3948447" cy="3411460"/>
            </a:xfrm>
            <a:custGeom>
              <a:avLst/>
              <a:gdLst>
                <a:gd name="connsiteX0" fmla="*/ 3564894 w 3904481"/>
                <a:gd name="connsiteY0" fmla="*/ 0 h 3411460"/>
                <a:gd name="connsiteX1" fmla="*/ 0 w 3904481"/>
                <a:gd name="connsiteY1" fmla="*/ 0 h 3411460"/>
                <a:gd name="connsiteX2" fmla="*/ 0 w 3904481"/>
                <a:gd name="connsiteY2" fmla="*/ 2659993 h 3411460"/>
                <a:gd name="connsiteX3" fmla="*/ 1876 w 3904481"/>
                <a:gd name="connsiteY3" fmla="*/ 2662425 h 3411460"/>
                <a:gd name="connsiteX4" fmla="*/ 1514161 w 3904481"/>
                <a:gd name="connsiteY4" fmla="*/ 3411460 h 3411460"/>
                <a:gd name="connsiteX5" fmla="*/ 2797788 w 3904481"/>
                <a:gd name="connsiteY5" fmla="*/ 2801744 h 3411460"/>
                <a:gd name="connsiteX6" fmla="*/ 2954004 w 3904481"/>
                <a:gd name="connsiteY6" fmla="*/ 2680673 h 3411460"/>
                <a:gd name="connsiteX7" fmla="*/ 3664508 w 3904481"/>
                <a:gd name="connsiteY7" fmla="*/ 2047754 h 3411460"/>
                <a:gd name="connsiteX8" fmla="*/ 3904481 w 3904481"/>
                <a:gd name="connsiteY8" fmla="*/ 1368033 h 3411460"/>
                <a:gd name="connsiteX9" fmla="*/ 3596499 w 3904481"/>
                <a:gd name="connsiteY9" fmla="*/ 52268 h 341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4481" h="3411460">
                  <a:moveTo>
                    <a:pt x="3564894" y="0"/>
                  </a:moveTo>
                  <a:lnTo>
                    <a:pt x="0" y="0"/>
                  </a:lnTo>
                  <a:lnTo>
                    <a:pt x="0" y="2659993"/>
                  </a:lnTo>
                  <a:lnTo>
                    <a:pt x="1876" y="2662425"/>
                  </a:lnTo>
                  <a:cubicBezTo>
                    <a:pt x="424055" y="3184544"/>
                    <a:pt x="889346" y="3411460"/>
                    <a:pt x="1514161" y="3411460"/>
                  </a:cubicBezTo>
                  <a:cubicBezTo>
                    <a:pt x="1982808" y="3411460"/>
                    <a:pt x="2326661" y="3170014"/>
                    <a:pt x="2797788" y="2801744"/>
                  </a:cubicBezTo>
                  <a:cubicBezTo>
                    <a:pt x="2850420" y="2760595"/>
                    <a:pt x="2903054" y="2719940"/>
                    <a:pt x="2954004" y="2680673"/>
                  </a:cubicBezTo>
                  <a:cubicBezTo>
                    <a:pt x="3230156" y="2467586"/>
                    <a:pt x="3490946" y="2266297"/>
                    <a:pt x="3664508" y="2047754"/>
                  </a:cubicBezTo>
                  <a:cubicBezTo>
                    <a:pt x="3830437" y="1838832"/>
                    <a:pt x="3904481" y="1629214"/>
                    <a:pt x="3904481" y="1368033"/>
                  </a:cubicBezTo>
                  <a:cubicBezTo>
                    <a:pt x="3904481" y="877057"/>
                    <a:pt x="3796872" y="423228"/>
                    <a:pt x="3596499" y="52268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0302A25-2D4F-4AD5-B0E9-C12184C3599E}"/>
              </a:ext>
            </a:extLst>
          </p:cNvPr>
          <p:cNvGrpSpPr/>
          <p:nvPr/>
        </p:nvGrpSpPr>
        <p:grpSpPr>
          <a:xfrm>
            <a:off x="-1" y="1355238"/>
            <a:ext cx="4381339" cy="5510713"/>
            <a:chOff x="0" y="1347287"/>
            <a:chExt cx="4259808" cy="5510713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227AF03-773A-4B1E-8FED-67198038E60D}"/>
                </a:ext>
              </a:extLst>
            </p:cNvPr>
            <p:cNvSpPr/>
            <p:nvPr/>
          </p:nvSpPr>
          <p:spPr>
            <a:xfrm>
              <a:off x="0" y="1676545"/>
              <a:ext cx="4174269" cy="5181455"/>
            </a:xfrm>
            <a:custGeom>
              <a:avLst/>
              <a:gdLst>
                <a:gd name="connsiteX0" fmla="*/ 1155130 w 4174269"/>
                <a:gd name="connsiteY0" fmla="*/ 990 h 5181455"/>
                <a:gd name="connsiteX1" fmla="*/ 2396955 w 4174269"/>
                <a:gd name="connsiteY1" fmla="*/ 367328 h 5181455"/>
                <a:gd name="connsiteX2" fmla="*/ 3827960 w 4174269"/>
                <a:gd name="connsiteY2" fmla="*/ 4749328 h 5181455"/>
                <a:gd name="connsiteX3" fmla="*/ 3561502 w 4174269"/>
                <a:gd name="connsiteY3" fmla="*/ 5090948 h 5181455"/>
                <a:gd name="connsiteX4" fmla="*/ 3452726 w 4174269"/>
                <a:gd name="connsiteY4" fmla="*/ 5181455 h 5181455"/>
                <a:gd name="connsiteX5" fmla="*/ 0 w 4174269"/>
                <a:gd name="connsiteY5" fmla="*/ 5181455 h 5181455"/>
                <a:gd name="connsiteX6" fmla="*/ 0 w 4174269"/>
                <a:gd name="connsiteY6" fmla="*/ 251605 h 5181455"/>
                <a:gd name="connsiteX7" fmla="*/ 157396 w 4174269"/>
                <a:gd name="connsiteY7" fmla="*/ 182600 h 5181455"/>
                <a:gd name="connsiteX8" fmla="*/ 1155130 w 4174269"/>
                <a:gd name="connsiteY8" fmla="*/ 990 h 5181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74269" h="5181455">
                  <a:moveTo>
                    <a:pt x="1155130" y="990"/>
                  </a:moveTo>
                  <a:cubicBezTo>
                    <a:pt x="1564667" y="12730"/>
                    <a:pt x="1984593" y="129250"/>
                    <a:pt x="2396955" y="367328"/>
                  </a:cubicBezTo>
                  <a:cubicBezTo>
                    <a:pt x="3871760" y="1218807"/>
                    <a:pt x="4678347" y="3276416"/>
                    <a:pt x="3827960" y="4749328"/>
                  </a:cubicBezTo>
                  <a:cubicBezTo>
                    <a:pt x="3748235" y="4887417"/>
                    <a:pt x="3658928" y="4998272"/>
                    <a:pt x="3561502" y="5090948"/>
                  </a:cubicBezTo>
                  <a:lnTo>
                    <a:pt x="3452726" y="5181455"/>
                  </a:lnTo>
                  <a:lnTo>
                    <a:pt x="0" y="5181455"/>
                  </a:lnTo>
                  <a:lnTo>
                    <a:pt x="0" y="251605"/>
                  </a:lnTo>
                  <a:lnTo>
                    <a:pt x="157396" y="182600"/>
                  </a:lnTo>
                  <a:cubicBezTo>
                    <a:pt x="475610" y="54980"/>
                    <a:pt x="811718" y="-8854"/>
                    <a:pt x="1155130" y="99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6FE8FAD-8A4A-49E1-AFAF-A074482295A9}"/>
                </a:ext>
              </a:extLst>
            </p:cNvPr>
            <p:cNvSpPr/>
            <p:nvPr/>
          </p:nvSpPr>
          <p:spPr>
            <a:xfrm>
              <a:off x="0" y="1347287"/>
              <a:ext cx="4259808" cy="5510713"/>
            </a:xfrm>
            <a:custGeom>
              <a:avLst/>
              <a:gdLst>
                <a:gd name="connsiteX0" fmla="*/ 948905 w 4259808"/>
                <a:gd name="connsiteY0" fmla="*/ 1556 h 5510713"/>
                <a:gd name="connsiteX1" fmla="*/ 2304106 w 4259808"/>
                <a:gd name="connsiteY1" fmla="*/ 405867 h 5510713"/>
                <a:gd name="connsiteX2" fmla="*/ 3890982 w 4259808"/>
                <a:gd name="connsiteY2" fmla="*/ 5156588 h 5510713"/>
                <a:gd name="connsiteX3" fmla="*/ 3680329 w 4259808"/>
                <a:gd name="connsiteY3" fmla="*/ 5445948 h 5510713"/>
                <a:gd name="connsiteX4" fmla="*/ 3616504 w 4259808"/>
                <a:gd name="connsiteY4" fmla="*/ 5510713 h 5510713"/>
                <a:gd name="connsiteX5" fmla="*/ 0 w 4259808"/>
                <a:gd name="connsiteY5" fmla="*/ 5510713 h 5510713"/>
                <a:gd name="connsiteX6" fmla="*/ 0 w 4259808"/>
                <a:gd name="connsiteY6" fmla="*/ 144797 h 5510713"/>
                <a:gd name="connsiteX7" fmla="*/ 164164 w 4259808"/>
                <a:gd name="connsiteY7" fmla="*/ 92266 h 5510713"/>
                <a:gd name="connsiteX8" fmla="*/ 948905 w 4259808"/>
                <a:gd name="connsiteY8" fmla="*/ 1556 h 55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9808" h="5510713">
                  <a:moveTo>
                    <a:pt x="948905" y="1556"/>
                  </a:moveTo>
                  <a:cubicBezTo>
                    <a:pt x="1395136" y="16867"/>
                    <a:pt x="1853354" y="145625"/>
                    <a:pt x="2304106" y="405867"/>
                  </a:cubicBezTo>
                  <a:cubicBezTo>
                    <a:pt x="3916211" y="1336616"/>
                    <a:pt x="4808028" y="3568218"/>
                    <a:pt x="3890982" y="5156588"/>
                  </a:cubicBezTo>
                  <a:cubicBezTo>
                    <a:pt x="3826502" y="5268272"/>
                    <a:pt x="3756052" y="5363347"/>
                    <a:pt x="3680329" y="5445948"/>
                  </a:cubicBezTo>
                  <a:lnTo>
                    <a:pt x="3616504" y="5510713"/>
                  </a:lnTo>
                  <a:lnTo>
                    <a:pt x="0" y="5510713"/>
                  </a:lnTo>
                  <a:lnTo>
                    <a:pt x="0" y="144797"/>
                  </a:lnTo>
                  <a:lnTo>
                    <a:pt x="164164" y="92266"/>
                  </a:lnTo>
                  <a:cubicBezTo>
                    <a:pt x="418657" y="23914"/>
                    <a:pt x="681631" y="-7614"/>
                    <a:pt x="948905" y="1556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A7C4DFB-FDFD-4F28-8B00-287EB75C79EB}"/>
                </a:ext>
              </a:extLst>
            </p:cNvPr>
            <p:cNvSpPr/>
            <p:nvPr/>
          </p:nvSpPr>
          <p:spPr>
            <a:xfrm>
              <a:off x="0" y="1592806"/>
              <a:ext cx="4029221" cy="5265194"/>
            </a:xfrm>
            <a:custGeom>
              <a:avLst/>
              <a:gdLst>
                <a:gd name="connsiteX0" fmla="*/ 812878 w 4029221"/>
                <a:gd name="connsiteY0" fmla="*/ 840 h 5265194"/>
                <a:gd name="connsiteX1" fmla="*/ 960980 w 4029221"/>
                <a:gd name="connsiteY1" fmla="*/ 1442 h 5265194"/>
                <a:gd name="connsiteX2" fmla="*/ 2216856 w 4029221"/>
                <a:gd name="connsiteY2" fmla="*/ 376120 h 5265194"/>
                <a:gd name="connsiteX3" fmla="*/ 3687427 w 4029221"/>
                <a:gd name="connsiteY3" fmla="*/ 4778650 h 5265194"/>
                <a:gd name="connsiteX4" fmla="*/ 3267677 w 4029221"/>
                <a:gd name="connsiteY4" fmla="*/ 5245601 h 5265194"/>
                <a:gd name="connsiteX5" fmla="*/ 3237167 w 4029221"/>
                <a:gd name="connsiteY5" fmla="*/ 5265194 h 5265194"/>
                <a:gd name="connsiteX6" fmla="*/ 0 w 4029221"/>
                <a:gd name="connsiteY6" fmla="*/ 5265194 h 5265194"/>
                <a:gd name="connsiteX7" fmla="*/ 0 w 4029221"/>
                <a:gd name="connsiteY7" fmla="*/ 162790 h 5265194"/>
                <a:gd name="connsiteX8" fmla="*/ 58408 w 4029221"/>
                <a:gd name="connsiteY8" fmla="*/ 139352 h 5265194"/>
                <a:gd name="connsiteX9" fmla="*/ 812878 w 4029221"/>
                <a:gd name="connsiteY9" fmla="*/ 840 h 52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29221" h="5265194">
                  <a:moveTo>
                    <a:pt x="812878" y="840"/>
                  </a:moveTo>
                  <a:cubicBezTo>
                    <a:pt x="862065" y="-449"/>
                    <a:pt x="911443" y="-258"/>
                    <a:pt x="960980" y="1442"/>
                  </a:cubicBezTo>
                  <a:cubicBezTo>
                    <a:pt x="1374507" y="15631"/>
                    <a:pt x="1799140" y="134952"/>
                    <a:pt x="2216856" y="376120"/>
                  </a:cubicBezTo>
                  <a:cubicBezTo>
                    <a:pt x="3710806" y="1238652"/>
                    <a:pt x="4537261" y="3306696"/>
                    <a:pt x="3687427" y="4778650"/>
                  </a:cubicBezTo>
                  <a:cubicBezTo>
                    <a:pt x="3567917" y="4985647"/>
                    <a:pt x="3426282" y="5131074"/>
                    <a:pt x="3267677" y="5245601"/>
                  </a:cubicBezTo>
                  <a:lnTo>
                    <a:pt x="3237167" y="5265194"/>
                  </a:lnTo>
                  <a:lnTo>
                    <a:pt x="0" y="5265194"/>
                  </a:lnTo>
                  <a:lnTo>
                    <a:pt x="0" y="162790"/>
                  </a:lnTo>
                  <a:lnTo>
                    <a:pt x="58408" y="139352"/>
                  </a:lnTo>
                  <a:cubicBezTo>
                    <a:pt x="301661" y="55163"/>
                    <a:pt x="554646" y="7607"/>
                    <a:pt x="812878" y="840"/>
                  </a:cubicBezTo>
                  <a:close/>
                </a:path>
              </a:pathLst>
            </a:custGeom>
            <a:noFill/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6E867DF-0B62-429A-A554-CBE585048439}"/>
                </a:ext>
              </a:extLst>
            </p:cNvPr>
            <p:cNvSpPr/>
            <p:nvPr/>
          </p:nvSpPr>
          <p:spPr>
            <a:xfrm>
              <a:off x="0" y="2147333"/>
              <a:ext cx="3702048" cy="4710667"/>
            </a:xfrm>
            <a:custGeom>
              <a:avLst/>
              <a:gdLst>
                <a:gd name="connsiteX0" fmla="*/ 1057511 w 3702048"/>
                <a:gd name="connsiteY0" fmla="*/ 1243 h 4710667"/>
                <a:gd name="connsiteX1" fmla="*/ 2139959 w 3702048"/>
                <a:gd name="connsiteY1" fmla="*/ 324180 h 4710667"/>
                <a:gd name="connsiteX2" fmla="*/ 3407455 w 3702048"/>
                <a:gd name="connsiteY2" fmla="*/ 4118750 h 4710667"/>
                <a:gd name="connsiteX3" fmla="*/ 2754080 w 3702048"/>
                <a:gd name="connsiteY3" fmla="*/ 4690965 h 4710667"/>
                <a:gd name="connsiteX4" fmla="*/ 2711405 w 3702048"/>
                <a:gd name="connsiteY4" fmla="*/ 4710667 h 4710667"/>
                <a:gd name="connsiteX5" fmla="*/ 0 w 3702048"/>
                <a:gd name="connsiteY5" fmla="*/ 4710667 h 4710667"/>
                <a:gd name="connsiteX6" fmla="*/ 0 w 3702048"/>
                <a:gd name="connsiteY6" fmla="*/ 239601 h 4710667"/>
                <a:gd name="connsiteX7" fmla="*/ 72857 w 3702048"/>
                <a:gd name="connsiteY7" fmla="*/ 203063 h 4710667"/>
                <a:gd name="connsiteX8" fmla="*/ 1057511 w 3702048"/>
                <a:gd name="connsiteY8" fmla="*/ 1243 h 47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2048" h="4710667">
                  <a:moveTo>
                    <a:pt x="1057511" y="1243"/>
                  </a:moveTo>
                  <a:cubicBezTo>
                    <a:pt x="1413932" y="13473"/>
                    <a:pt x="1779927" y="116316"/>
                    <a:pt x="2139959" y="324180"/>
                  </a:cubicBezTo>
                  <a:cubicBezTo>
                    <a:pt x="3427605" y="1067603"/>
                    <a:pt x="4139931" y="2850064"/>
                    <a:pt x="3407455" y="4118750"/>
                  </a:cubicBezTo>
                  <a:cubicBezTo>
                    <a:pt x="3235777" y="4416105"/>
                    <a:pt x="3011128" y="4566048"/>
                    <a:pt x="2754080" y="4690965"/>
                  </a:cubicBezTo>
                  <a:lnTo>
                    <a:pt x="2711405" y="4710667"/>
                  </a:lnTo>
                  <a:lnTo>
                    <a:pt x="0" y="4710667"/>
                  </a:lnTo>
                  <a:lnTo>
                    <a:pt x="0" y="239601"/>
                  </a:lnTo>
                  <a:lnTo>
                    <a:pt x="72857" y="203063"/>
                  </a:lnTo>
                  <a:cubicBezTo>
                    <a:pt x="383165" y="61024"/>
                    <a:pt x="715942" y="-10476"/>
                    <a:pt x="1057511" y="1243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4296" y="3420734"/>
            <a:ext cx="6665976" cy="2129674"/>
          </a:xfrm>
        </p:spPr>
        <p:txBody>
          <a:bodyPr anchor="b">
            <a:noAutofit/>
          </a:bodyPr>
          <a:lstStyle>
            <a:lvl1pPr algn="l">
              <a:lnSpc>
                <a:spcPct val="110000"/>
              </a:lnSpc>
              <a:defRPr sz="480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E197B67B-BA44-4D2A-B31D-35A89323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6" y="6170490"/>
            <a:ext cx="5713314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1D718595-24D3-4517-A62E-C1F49340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4295" y="5550408"/>
            <a:ext cx="6665975" cy="512064"/>
          </a:xfr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spcBef>
                <a:spcPts val="0"/>
              </a:spcBef>
              <a:buNone/>
              <a:defRPr sz="20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3C6217BB-A228-414D-92D9-E1D1EFEB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" y="6170491"/>
            <a:ext cx="2840083" cy="457200"/>
          </a:xfrm>
        </p:spPr>
        <p:txBody>
          <a:bodyPr/>
          <a:lstStyle>
            <a:lvl1pPr algn="l">
              <a:defRPr/>
            </a:lvl1pPr>
          </a:lstStyle>
          <a:p>
            <a:fld id="{E72EB70D-CD01-44DA-83B3-8FEB3383D307}" type="datetime1">
              <a:rPr lang="en-US" smtClean="0"/>
              <a:t>9/11/2025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458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3029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C1D6427-F07F-4D50-B151-455100AF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58CFD-9357-46BE-A189-D637A67C8730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79EFBB2-C5E0-4D57-AB1D-3AA907EC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AE6B7E1-F60B-4D08-9052-423D6FBF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988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1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1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30290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30290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771BF97-4D2A-43A4-8CDC-2250017EB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42EE-B331-4632-BD10-A82FED6B6FC0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020661A-DA07-4679-9226-945B5DD2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EFCE38B-E087-4988-BC3A-FE3B55E70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D3BC439C-E995-4E1F-8DE9-75C32785E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69391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30096C-3491-4EF2-ABB2-D57F3F4B5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BA835-D13F-49F4-8F11-5D576AC65FAD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DA3A85-7147-4F32-944A-B079AF51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DDF50D-95C0-4DA2-BBC6-41774FAC1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214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BEFCA-6D6F-4F26-823F-C86CA694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1799-ACB5-4CB2-86A2-5C574F1C8706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EE2C9-E87D-4495-9EDA-6BC0EDC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557A9-903F-4B36-8B06-D9EADF230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5730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640080"/>
            <a:ext cx="3227715" cy="2551751"/>
          </a:xfrm>
        </p:spPr>
        <p:txBody>
          <a:bodyPr anchor="b">
            <a:norm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0160" y="640080"/>
            <a:ext cx="6949440" cy="5455919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3"/>
            <a:ext cx="3227715" cy="2872197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B904BE8-2080-4FFA-9239-A8929E28FA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ED5DD0D6-7A82-473E-879B-C6ECD6CCCFEC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D5580C6-5CD7-4CDD-977D-0533C84F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94944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18D0320-9B66-443F-8E28-8BCF07E0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145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102651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1503910"/>
            <a:ext cx="3230625" cy="1687924"/>
          </a:xfrm>
        </p:spPr>
        <p:txBody>
          <a:bodyPr anchor="b">
            <a:no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6"/>
            <a:ext cx="3227832" cy="2872194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1C2A9DB-B176-4069-8734-5B4ED352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D4605E03-BC17-41A7-854C-DFAB672737DC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30F9A2F-C2C4-4E1C-B4B3-07ED84F28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464410" cy="45720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FA0A0-2117-4A10-9DAA-080C21559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372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397E4A-EB6A-4FA6-AA4F-69EA0C7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6ED0C-1DA7-41F0-94CF-6218B1FEDFF1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A2F5D-7AC4-4F91-965A-7B6A45D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E8B86-CDB8-482F-9D9F-1BFDA363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662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fld id="{EECF02AB-6034-4B88-BC5A-7C17CB0EF809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7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442220"/>
            <a:ext cx="8770571" cy="1345269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2312276"/>
            <a:ext cx="8770571" cy="3651504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50727" y="6170491"/>
            <a:ext cx="284008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r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C4408324-A84C-4A45-93B6-78D079CCE772}" type="datetime1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0240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3744" y="6170490"/>
            <a:ext cx="1188720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cxnSp>
        <p:nvCxnSpPr>
          <p:cNvPr id="9" name="Straight Connector 8" title="Rule Line">
            <a:extLst>
              <a:ext uri="{FF2B5EF4-FFF2-40B4-BE49-F238E27FC236}">
                <a16:creationId xmlns:a16="http://schemas.microsoft.com/office/drawing/2014/main" id="{430127AE-B29E-4FDF-99D2-A2F1E7003F74}"/>
              </a:ext>
            </a:extLst>
          </p:cNvPr>
          <p:cNvCxnSpPr/>
          <p:nvPr/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025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14" r:id="rId4"/>
    <p:sldLayoutId id="2147483715" r:id="rId5"/>
    <p:sldLayoutId id="2147483720" r:id="rId6"/>
    <p:sldLayoutId id="2147483716" r:id="rId7"/>
    <p:sldLayoutId id="2147483717" r:id="rId8"/>
    <p:sldLayoutId id="2147483718" r:id="rId9"/>
    <p:sldLayoutId id="2147483719" r:id="rId10"/>
    <p:sldLayoutId id="2147483721" r:id="rId11"/>
  </p:sldLayoutIdLst>
  <p:hf sldNum="0" hdr="0" ftr="0" dt="0"/>
  <p:txStyles>
    <p:titleStyle>
      <a:lvl1pPr algn="l" defTabSz="914400" rtl="0" eaLnBrk="1" latinLnBrk="0" hangingPunct="1">
        <a:lnSpc>
          <a:spcPct val="130000"/>
        </a:lnSpc>
        <a:spcBef>
          <a:spcPct val="0"/>
        </a:spcBef>
        <a:buNone/>
        <a:defRPr sz="32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7" Type="http://schemas.openxmlformats.org/officeDocument/2006/relationships/image" Target="../media/image7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5" Type="http://schemas.openxmlformats.org/officeDocument/2006/relationships/slideLayout" Target="../slideLayouts/slideLayout7.xml"/><Relationship Id="rId4" Type="http://schemas.openxmlformats.org/officeDocument/2006/relationships/video" Target="../media/media2.mp4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217F32C-75AA-4B97-ADFB-5E2C3C7EC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4D9722-CA4C-9015-BAD2-6C65170B73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47" b="219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4D76AAEA-AF3A-4616-9F99-E9AA131A5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360" y="0"/>
            <a:ext cx="8168639" cy="6858000"/>
          </a:xfrm>
          <a:prstGeom prst="rect">
            <a:avLst/>
          </a:prstGeom>
          <a:gradFill>
            <a:gsLst>
              <a:gs pos="58000">
                <a:schemeClr val="tx1">
                  <a:alpha val="55000"/>
                </a:schemeClr>
              </a:gs>
              <a:gs pos="33000">
                <a:schemeClr val="tx1">
                  <a:alpha val="40000"/>
                </a:schemeClr>
              </a:gs>
              <a:gs pos="3000">
                <a:schemeClr val="tx1">
                  <a:alpha val="0"/>
                </a:schemeClr>
              </a:gs>
              <a:gs pos="100000">
                <a:schemeClr val="tx1">
                  <a:alpha val="5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7CB3F7-6B45-E46A-E35A-DD9ED21F77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9" y="1346268"/>
            <a:ext cx="5618431" cy="3285207"/>
          </a:xfrm>
        </p:spPr>
        <p:txBody>
          <a:bodyPr>
            <a:normAutofit/>
          </a:bodyPr>
          <a:lstStyle/>
          <a:p>
            <a:r>
              <a:rPr lang="es-MX">
                <a:solidFill>
                  <a:schemeClr val="bg1"/>
                </a:solidFill>
              </a:rPr>
              <a:t>SPSS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68F19C-9398-1505-B9FE-C577CC365B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080" y="4631475"/>
            <a:ext cx="5588349" cy="115020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s-MX" sz="2200">
                <a:solidFill>
                  <a:schemeClr val="bg1"/>
                </a:solidFill>
              </a:rPr>
              <a:t>Tecnológico de Monterrey</a:t>
            </a:r>
          </a:p>
          <a:p>
            <a:pPr>
              <a:lnSpc>
                <a:spcPct val="120000"/>
              </a:lnSpc>
            </a:pPr>
            <a:r>
              <a:rPr lang="es-MX" sz="2200">
                <a:solidFill>
                  <a:schemeClr val="bg1"/>
                </a:solidFill>
              </a:rPr>
              <a:t>EGADE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7101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Blue particles art">
            <a:extLst>
              <a:ext uri="{FF2B5EF4-FFF2-40B4-BE49-F238E27FC236}">
                <a16:creationId xmlns:a16="http://schemas.microsoft.com/office/drawing/2014/main" id="{A89B851D-4F1F-0D8E-9E76-5BD7FC8EB2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" r="1" b="680"/>
          <a:stretch>
            <a:fillRect/>
          </a:stretch>
        </p:blipFill>
        <p:spPr>
          <a:xfrm>
            <a:off x="20" y="10"/>
            <a:ext cx="9947062" cy="6857990"/>
          </a:xfrm>
          <a:prstGeom prst="rect">
            <a:avLst/>
          </a:prstGeom>
        </p:spPr>
      </p:pic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8B598134-D292-43E6-9C55-117198046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1834" y="0"/>
            <a:ext cx="4980168" cy="6858000"/>
          </a:xfrm>
          <a:custGeom>
            <a:avLst/>
            <a:gdLst>
              <a:gd name="connsiteX0" fmla="*/ 1623023 w 4901771"/>
              <a:gd name="connsiteY0" fmla="*/ 0 h 6858000"/>
              <a:gd name="connsiteX1" fmla="*/ 2716256 w 4901771"/>
              <a:gd name="connsiteY1" fmla="*/ 0 h 6858000"/>
              <a:gd name="connsiteX2" fmla="*/ 3496422 w 4901771"/>
              <a:gd name="connsiteY2" fmla="*/ 0 h 6858000"/>
              <a:gd name="connsiteX3" fmla="*/ 4544484 w 4901771"/>
              <a:gd name="connsiteY3" fmla="*/ 0 h 6858000"/>
              <a:gd name="connsiteX4" fmla="*/ 4710787 w 4901771"/>
              <a:gd name="connsiteY4" fmla="*/ 0 h 6858000"/>
              <a:gd name="connsiteX5" fmla="*/ 4901771 w 4901771"/>
              <a:gd name="connsiteY5" fmla="*/ 0 h 6858000"/>
              <a:gd name="connsiteX6" fmla="*/ 4901771 w 4901771"/>
              <a:gd name="connsiteY6" fmla="*/ 6858000 h 6858000"/>
              <a:gd name="connsiteX7" fmla="*/ 4710787 w 4901771"/>
              <a:gd name="connsiteY7" fmla="*/ 6858000 h 6858000"/>
              <a:gd name="connsiteX8" fmla="*/ 4544484 w 4901771"/>
              <a:gd name="connsiteY8" fmla="*/ 6858000 h 6858000"/>
              <a:gd name="connsiteX9" fmla="*/ 3496422 w 4901771"/>
              <a:gd name="connsiteY9" fmla="*/ 6858000 h 6858000"/>
              <a:gd name="connsiteX10" fmla="*/ 2716256 w 4901771"/>
              <a:gd name="connsiteY10" fmla="*/ 6858000 h 6858000"/>
              <a:gd name="connsiteX11" fmla="*/ 2502754 w 4901771"/>
              <a:gd name="connsiteY11" fmla="*/ 6858000 h 6858000"/>
              <a:gd name="connsiteX12" fmla="*/ 2390998 w 4901771"/>
              <a:gd name="connsiteY12" fmla="*/ 6780599 h 6858000"/>
              <a:gd name="connsiteX13" fmla="*/ 1874350 w 4901771"/>
              <a:gd name="connsiteY13" fmla="*/ 6374814 h 6858000"/>
              <a:gd name="connsiteX14" fmla="*/ 0 w 4901771"/>
              <a:gd name="connsiteY14" fmla="*/ 3621656 h 6858000"/>
              <a:gd name="connsiteX15" fmla="*/ 1600899 w 4901771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9701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853CE4-F4F1-A671-73C1-C2559ACC54BD}"/>
              </a:ext>
            </a:extLst>
          </p:cNvPr>
          <p:cNvSpPr txBox="1"/>
          <p:nvPr/>
        </p:nvSpPr>
        <p:spPr>
          <a:xfrm>
            <a:off x="7423484" y="1740394"/>
            <a:ext cx="4768211" cy="2592125"/>
          </a:xfrm>
          <a:prstGeom prst="rect">
            <a:avLst/>
          </a:prstGeom>
        </p:spPr>
        <p:txBody>
          <a:bodyPr vert="horz" lIns="109728" tIns="109728" rIns="109728" bIns="91440" rtlCol="0">
            <a:normAutofit fontScale="85000" lnSpcReduction="20000"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34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Principles:</a:t>
            </a:r>
          </a:p>
          <a:p>
            <a:pPr marL="285750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Customers produce data</a:t>
            </a:r>
          </a:p>
          <a:p>
            <a:pPr marL="285750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Patterns in customers’ data</a:t>
            </a:r>
          </a:p>
          <a:p>
            <a:pPr marL="285750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All/some customers produce data</a:t>
            </a:r>
          </a:p>
          <a:p>
            <a:pPr marL="285750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24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Customers are not irrational, they are reasonable</a:t>
            </a:r>
          </a:p>
        </p:txBody>
      </p:sp>
    </p:spTree>
    <p:extLst>
      <p:ext uri="{BB962C8B-B14F-4D97-AF65-F5344CB8AC3E}">
        <p14:creationId xmlns:p14="http://schemas.microsoft.com/office/powerpoint/2010/main" val="540023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researchgate.net/figure/...">
            <a:extLst>
              <a:ext uri="{FF2B5EF4-FFF2-40B4-BE49-F238E27FC236}">
                <a16:creationId xmlns:a16="http://schemas.microsoft.com/office/drawing/2014/main" id="{81304526-F693-6F6C-ECE4-1C3B37AF88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1" t="11281" r="2244" b="4020"/>
          <a:stretch>
            <a:fillRect/>
          </a:stretch>
        </p:blipFill>
        <p:spPr bwMode="auto">
          <a:xfrm>
            <a:off x="205741" y="1165859"/>
            <a:ext cx="8186178" cy="48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CFCA68-D2F3-5D17-FA8A-9B744BAA0D1D}"/>
              </a:ext>
            </a:extLst>
          </p:cNvPr>
          <p:cNvSpPr txBox="1"/>
          <p:nvPr/>
        </p:nvSpPr>
        <p:spPr>
          <a:xfrm>
            <a:off x="1527879" y="505479"/>
            <a:ext cx="55419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800" dirty="0">
                <a:latin typeface="Helvetica" panose="020B0604020202020204" pitchFamily="34" charset="0"/>
                <a:cs typeface="Helvetica" panose="020B0604020202020204" pitchFamily="34" charset="0"/>
              </a:rPr>
              <a:t>EBK </a:t>
            </a:r>
            <a:r>
              <a:rPr lang="es-MX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MX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MX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MX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MX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consumer</a:t>
            </a:r>
            <a:r>
              <a:rPr lang="es-MX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MX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behavior</a:t>
            </a:r>
            <a:endParaRPr lang="es-MX" sz="2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837EF-81B7-171A-E53B-F4ADDAA057E3}"/>
              </a:ext>
            </a:extLst>
          </p:cNvPr>
          <p:cNvSpPr txBox="1"/>
          <p:nvPr/>
        </p:nvSpPr>
        <p:spPr>
          <a:xfrm>
            <a:off x="8412480" y="2782669"/>
            <a:ext cx="37795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 err="1"/>
              <a:t>We</a:t>
            </a:r>
            <a:r>
              <a:rPr lang="es-MX" sz="2400" dirty="0"/>
              <a:t> </a:t>
            </a:r>
            <a:r>
              <a:rPr lang="es-MX" sz="2400" dirty="0" err="1"/>
              <a:t>need</a:t>
            </a:r>
            <a:r>
              <a:rPr lang="es-MX" sz="2400" dirty="0"/>
              <a:t> </a:t>
            </a:r>
            <a:r>
              <a:rPr lang="es-MX" sz="2400" dirty="0" err="1"/>
              <a:t>theories</a:t>
            </a:r>
            <a:r>
              <a:rPr lang="es-MX" sz="2400" dirty="0"/>
              <a:t>/</a:t>
            </a:r>
            <a:r>
              <a:rPr lang="es-MX" sz="2400" dirty="0" err="1"/>
              <a:t>frameworks</a:t>
            </a:r>
            <a:endParaRPr lang="es-MX" sz="2400" dirty="0"/>
          </a:p>
          <a:p>
            <a:endParaRPr lang="es-MX" sz="2400" dirty="0"/>
          </a:p>
          <a:p>
            <a:r>
              <a:rPr lang="es-MX" sz="2400" dirty="0" err="1"/>
              <a:t>Consumers</a:t>
            </a:r>
            <a:r>
              <a:rPr lang="es-MX" sz="2400" dirty="0"/>
              <a:t> are </a:t>
            </a:r>
            <a:r>
              <a:rPr lang="es-MX" sz="2400" dirty="0" err="1"/>
              <a:t>complex</a:t>
            </a:r>
            <a:r>
              <a:rPr lang="es-MX" sz="2400" dirty="0"/>
              <a:t> and </a:t>
            </a:r>
            <a:r>
              <a:rPr lang="es-MX" sz="2400" dirty="0" err="1"/>
              <a:t>reasonable</a:t>
            </a:r>
            <a:endParaRPr lang="es-MX" sz="2400" dirty="0"/>
          </a:p>
        </p:txBody>
      </p:sp>
    </p:spTree>
    <p:extLst>
      <p:ext uri="{BB962C8B-B14F-4D97-AF65-F5344CB8AC3E}">
        <p14:creationId xmlns:p14="http://schemas.microsoft.com/office/powerpoint/2010/main" val="899525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90" name="Rectangle 89">
            <a:extLst>
              <a:ext uri="{FF2B5EF4-FFF2-40B4-BE49-F238E27FC236}">
                <a16:creationId xmlns:a16="http://schemas.microsoft.com/office/drawing/2014/main" id="{E217F32C-75AA-4B97-ADFB-5E2C3C7EC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Stones balancing on a wood">
            <a:extLst>
              <a:ext uri="{FF2B5EF4-FFF2-40B4-BE49-F238E27FC236}">
                <a16:creationId xmlns:a16="http://schemas.microsoft.com/office/drawing/2014/main" id="{FA226287-43FD-8BF5-F49F-39DE67D4D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3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92" name="Rectangle 91">
            <a:extLst>
              <a:ext uri="{FF2B5EF4-FFF2-40B4-BE49-F238E27FC236}">
                <a16:creationId xmlns:a16="http://schemas.microsoft.com/office/drawing/2014/main" id="{4D76AAEA-AF3A-4616-9F99-E9AA131A5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360" y="0"/>
            <a:ext cx="8168639" cy="6858000"/>
          </a:xfrm>
          <a:prstGeom prst="rect">
            <a:avLst/>
          </a:prstGeom>
          <a:gradFill>
            <a:gsLst>
              <a:gs pos="58000">
                <a:schemeClr val="tx1">
                  <a:alpha val="55000"/>
                </a:schemeClr>
              </a:gs>
              <a:gs pos="33000">
                <a:schemeClr val="tx1">
                  <a:alpha val="40000"/>
                </a:schemeClr>
              </a:gs>
              <a:gs pos="3000">
                <a:schemeClr val="tx1">
                  <a:alpha val="0"/>
                </a:schemeClr>
              </a:gs>
              <a:gs pos="100000">
                <a:schemeClr val="tx1">
                  <a:alpha val="5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4CAD40-2E22-2D48-DCC7-D9C1CCAFBA5A}"/>
              </a:ext>
            </a:extLst>
          </p:cNvPr>
          <p:cNvSpPr txBox="1"/>
          <p:nvPr/>
        </p:nvSpPr>
        <p:spPr>
          <a:xfrm>
            <a:off x="6095999" y="1346268"/>
            <a:ext cx="5618431" cy="3285207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A/B comparison</a:t>
            </a:r>
          </a:p>
        </p:txBody>
      </p:sp>
    </p:spTree>
    <p:extLst>
      <p:ext uri="{BB962C8B-B14F-4D97-AF65-F5344CB8AC3E}">
        <p14:creationId xmlns:p14="http://schemas.microsoft.com/office/powerpoint/2010/main" val="3810403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researchgate.net/figure/...">
            <a:extLst>
              <a:ext uri="{FF2B5EF4-FFF2-40B4-BE49-F238E27FC236}">
                <a16:creationId xmlns:a16="http://schemas.microsoft.com/office/drawing/2014/main" id="{DFA6B2C7-48C7-2767-3272-0830CD0A5F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1" t="11281" r="2244" b="4020"/>
          <a:stretch>
            <a:fillRect/>
          </a:stretch>
        </p:blipFill>
        <p:spPr bwMode="auto">
          <a:xfrm>
            <a:off x="205741" y="1165859"/>
            <a:ext cx="8186178" cy="48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54A099-1892-00BC-9088-14FE05FA0313}"/>
              </a:ext>
            </a:extLst>
          </p:cNvPr>
          <p:cNvSpPr/>
          <p:nvPr/>
        </p:nvSpPr>
        <p:spPr>
          <a:xfrm>
            <a:off x="205741" y="2480310"/>
            <a:ext cx="948689" cy="1257300"/>
          </a:xfrm>
          <a:prstGeom prst="rect">
            <a:avLst/>
          </a:prstGeom>
          <a:solidFill>
            <a:srgbClr val="E54837">
              <a:alpha val="2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EFFA06-456B-D346-2618-D6F6995D2D6C}"/>
              </a:ext>
            </a:extLst>
          </p:cNvPr>
          <p:cNvSpPr txBox="1"/>
          <p:nvPr/>
        </p:nvSpPr>
        <p:spPr>
          <a:xfrm>
            <a:off x="8442361" y="1631632"/>
            <a:ext cx="34562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Let’s</a:t>
            </a:r>
            <a:r>
              <a:rPr lang="es-MX" dirty="0"/>
              <a:t> do </a:t>
            </a:r>
            <a:r>
              <a:rPr lang="es-MX" dirty="0" err="1"/>
              <a:t>an</a:t>
            </a:r>
            <a:r>
              <a:rPr lang="es-MX" dirty="0"/>
              <a:t> A/B test </a:t>
            </a:r>
            <a:r>
              <a:rPr lang="es-MX" dirty="0" err="1"/>
              <a:t>of</a:t>
            </a:r>
            <a:r>
              <a:rPr lang="es-MX" dirty="0"/>
              <a:t> a (</a:t>
            </a:r>
            <a:r>
              <a:rPr lang="es-MX" dirty="0" err="1"/>
              <a:t>tiny</a:t>
            </a:r>
            <a:r>
              <a:rPr lang="es-MX" dirty="0"/>
              <a:t>) </a:t>
            </a:r>
            <a:r>
              <a:rPr lang="es-MX" dirty="0" err="1"/>
              <a:t>portion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</a:t>
            </a:r>
            <a:r>
              <a:rPr lang="es-MX" dirty="0" err="1"/>
              <a:t>this</a:t>
            </a:r>
            <a:r>
              <a:rPr lang="es-MX" dirty="0"/>
              <a:t> </a:t>
            </a:r>
            <a:r>
              <a:rPr lang="es-MX" dirty="0" err="1"/>
              <a:t>theory</a:t>
            </a:r>
            <a:r>
              <a:rPr lang="es-MX" dirty="0"/>
              <a:t> … </a:t>
            </a:r>
          </a:p>
          <a:p>
            <a:endParaRPr lang="es-MX" dirty="0"/>
          </a:p>
          <a:p>
            <a:r>
              <a:rPr lang="es-MX" dirty="0"/>
              <a:t>… and </a:t>
            </a:r>
            <a:r>
              <a:rPr lang="es-MX" dirty="0" err="1"/>
              <a:t>just</a:t>
            </a:r>
            <a:r>
              <a:rPr lang="es-MX" dirty="0"/>
              <a:t> test a </a:t>
            </a:r>
            <a:r>
              <a:rPr lang="es-MX" dirty="0" err="1"/>
              <a:t>direct</a:t>
            </a:r>
            <a:r>
              <a:rPr lang="es-MX" dirty="0"/>
              <a:t> </a:t>
            </a:r>
            <a:r>
              <a:rPr lang="es-MX" dirty="0" err="1"/>
              <a:t>effect</a:t>
            </a:r>
            <a:r>
              <a:rPr lang="es-MX" dirty="0"/>
              <a:t> …</a:t>
            </a:r>
          </a:p>
          <a:p>
            <a:endParaRPr lang="es-MX" dirty="0"/>
          </a:p>
          <a:p>
            <a:r>
              <a:rPr lang="es-MX" dirty="0"/>
              <a:t>… </a:t>
            </a:r>
            <a:r>
              <a:rPr lang="es-MX" dirty="0" err="1"/>
              <a:t>from</a:t>
            </a:r>
            <a:r>
              <a:rPr lang="es-MX" dirty="0"/>
              <a:t> </a:t>
            </a:r>
            <a:r>
              <a:rPr lang="es-MX" dirty="0" err="1"/>
              <a:t>stimuli</a:t>
            </a:r>
            <a:r>
              <a:rPr lang="es-MX" dirty="0"/>
              <a:t> </a:t>
            </a:r>
            <a:r>
              <a:rPr lang="es-MX" dirty="0" err="1"/>
              <a:t>to</a:t>
            </a:r>
            <a:r>
              <a:rPr lang="es-MX" dirty="0"/>
              <a:t> </a:t>
            </a:r>
            <a:r>
              <a:rPr lang="es-MX" dirty="0" err="1"/>
              <a:t>higher</a:t>
            </a:r>
            <a:r>
              <a:rPr lang="es-MX" dirty="0"/>
              <a:t> </a:t>
            </a:r>
            <a:r>
              <a:rPr lang="es-MX" dirty="0" err="1"/>
              <a:t>order</a:t>
            </a:r>
            <a:r>
              <a:rPr lang="es-MX" dirty="0"/>
              <a:t> </a:t>
            </a:r>
            <a:r>
              <a:rPr lang="es-MX" dirty="0" err="1"/>
              <a:t>construct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“</a:t>
            </a:r>
            <a:r>
              <a:rPr lang="es-MX" dirty="0" err="1"/>
              <a:t>life</a:t>
            </a:r>
            <a:r>
              <a:rPr lang="es-MX" dirty="0"/>
              <a:t> -</a:t>
            </a:r>
            <a:r>
              <a:rPr lang="es-MX" dirty="0" err="1"/>
              <a:t>style</a:t>
            </a:r>
            <a:r>
              <a:rPr lang="es-MX" dirty="0"/>
              <a:t>” (a </a:t>
            </a:r>
            <a:r>
              <a:rPr lang="es-MX" dirty="0" err="1"/>
              <a:t>simplification</a:t>
            </a:r>
            <a:r>
              <a:rPr lang="es-MX" dirty="0"/>
              <a:t> </a:t>
            </a:r>
            <a:r>
              <a:rPr lang="es-MX" dirty="0" err="1"/>
              <a:t>indeed</a:t>
            </a:r>
            <a:r>
              <a:rPr lang="es-MX" dirty="0"/>
              <a:t>).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146060-5489-2932-814B-7FDF21FF4CA8}"/>
              </a:ext>
            </a:extLst>
          </p:cNvPr>
          <p:cNvSpPr/>
          <p:nvPr/>
        </p:nvSpPr>
        <p:spPr>
          <a:xfrm>
            <a:off x="5886450" y="3063240"/>
            <a:ext cx="1028700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1C925-BC95-C142-AE19-30713377E6C8}"/>
              </a:ext>
            </a:extLst>
          </p:cNvPr>
          <p:cNvGrpSpPr/>
          <p:nvPr/>
        </p:nvGrpSpPr>
        <p:grpSpPr>
          <a:xfrm>
            <a:off x="5829300" y="2937509"/>
            <a:ext cx="1181734" cy="491491"/>
            <a:chOff x="9966049" y="4457699"/>
            <a:chExt cx="1181734" cy="49149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32D5739-1998-FE99-C00F-C316CF533C2C}"/>
                </a:ext>
              </a:extLst>
            </p:cNvPr>
            <p:cNvSpPr/>
            <p:nvPr/>
          </p:nvSpPr>
          <p:spPr>
            <a:xfrm>
              <a:off x="10016491" y="4457699"/>
              <a:ext cx="1070609" cy="491491"/>
            </a:xfrm>
            <a:prstGeom prst="rect">
              <a:avLst/>
            </a:prstGeom>
            <a:solidFill>
              <a:srgbClr val="00B050">
                <a:alpha val="25098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CFBC1F9-FDDA-503C-A099-60C230E8B8F3}"/>
                </a:ext>
              </a:extLst>
            </p:cNvPr>
            <p:cNvSpPr txBox="1"/>
            <p:nvPr/>
          </p:nvSpPr>
          <p:spPr>
            <a:xfrm>
              <a:off x="9966049" y="4579858"/>
              <a:ext cx="11817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MX" sz="1400" dirty="0"/>
                <a:t>LIFE STYLE</a:t>
              </a: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62FE61D-E547-A249-9923-EBD3CEBF02C7}"/>
              </a:ext>
            </a:extLst>
          </p:cNvPr>
          <p:cNvCxnSpPr/>
          <p:nvPr/>
        </p:nvCxnSpPr>
        <p:spPr>
          <a:xfrm>
            <a:off x="1211580" y="3183254"/>
            <a:ext cx="4617720" cy="1714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0093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2" name="Picture 1" descr="A logo for a restaurant&#10;&#10;AI-generated content may be incorrect.">
            <a:extLst>
              <a:ext uri="{FF2B5EF4-FFF2-40B4-BE49-F238E27FC236}">
                <a16:creationId xmlns:a16="http://schemas.microsoft.com/office/drawing/2014/main" id="{E152A3FA-1FC9-AF8E-AB8C-5BDD4442D2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76" r="1" b="3481"/>
          <a:stretch>
            <a:fillRect/>
          </a:stretch>
        </p:blipFill>
        <p:spPr>
          <a:xfrm>
            <a:off x="20" y="10"/>
            <a:ext cx="9947062" cy="685799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8B598134-D292-43E6-9C55-117198046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1834" y="0"/>
            <a:ext cx="4980168" cy="6858000"/>
          </a:xfrm>
          <a:custGeom>
            <a:avLst/>
            <a:gdLst>
              <a:gd name="connsiteX0" fmla="*/ 1623023 w 4901771"/>
              <a:gd name="connsiteY0" fmla="*/ 0 h 6858000"/>
              <a:gd name="connsiteX1" fmla="*/ 2716256 w 4901771"/>
              <a:gd name="connsiteY1" fmla="*/ 0 h 6858000"/>
              <a:gd name="connsiteX2" fmla="*/ 3496422 w 4901771"/>
              <a:gd name="connsiteY2" fmla="*/ 0 h 6858000"/>
              <a:gd name="connsiteX3" fmla="*/ 4544484 w 4901771"/>
              <a:gd name="connsiteY3" fmla="*/ 0 h 6858000"/>
              <a:gd name="connsiteX4" fmla="*/ 4710787 w 4901771"/>
              <a:gd name="connsiteY4" fmla="*/ 0 h 6858000"/>
              <a:gd name="connsiteX5" fmla="*/ 4901771 w 4901771"/>
              <a:gd name="connsiteY5" fmla="*/ 0 h 6858000"/>
              <a:gd name="connsiteX6" fmla="*/ 4901771 w 4901771"/>
              <a:gd name="connsiteY6" fmla="*/ 6858000 h 6858000"/>
              <a:gd name="connsiteX7" fmla="*/ 4710787 w 4901771"/>
              <a:gd name="connsiteY7" fmla="*/ 6858000 h 6858000"/>
              <a:gd name="connsiteX8" fmla="*/ 4544484 w 4901771"/>
              <a:gd name="connsiteY8" fmla="*/ 6858000 h 6858000"/>
              <a:gd name="connsiteX9" fmla="*/ 3496422 w 4901771"/>
              <a:gd name="connsiteY9" fmla="*/ 6858000 h 6858000"/>
              <a:gd name="connsiteX10" fmla="*/ 2716256 w 4901771"/>
              <a:gd name="connsiteY10" fmla="*/ 6858000 h 6858000"/>
              <a:gd name="connsiteX11" fmla="*/ 2502754 w 4901771"/>
              <a:gd name="connsiteY11" fmla="*/ 6858000 h 6858000"/>
              <a:gd name="connsiteX12" fmla="*/ 2390998 w 4901771"/>
              <a:gd name="connsiteY12" fmla="*/ 6780599 h 6858000"/>
              <a:gd name="connsiteX13" fmla="*/ 1874350 w 4901771"/>
              <a:gd name="connsiteY13" fmla="*/ 6374814 h 6858000"/>
              <a:gd name="connsiteX14" fmla="*/ 0 w 4901771"/>
              <a:gd name="connsiteY14" fmla="*/ 3621656 h 6858000"/>
              <a:gd name="connsiteX15" fmla="*/ 1600899 w 4901771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9701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86676B-B58E-960A-CECB-4505A1995395}"/>
              </a:ext>
            </a:extLst>
          </p:cNvPr>
          <p:cNvSpPr txBox="1"/>
          <p:nvPr/>
        </p:nvSpPr>
        <p:spPr>
          <a:xfrm>
            <a:off x="7463791" y="2350107"/>
            <a:ext cx="4728210" cy="1616103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Santa Fe hired an advertising and marketing company to evaluate which style people like more</a:t>
            </a:r>
          </a:p>
        </p:txBody>
      </p:sp>
    </p:spTree>
    <p:extLst>
      <p:ext uri="{BB962C8B-B14F-4D97-AF65-F5344CB8AC3E}">
        <p14:creationId xmlns:p14="http://schemas.microsoft.com/office/powerpoint/2010/main" val="217848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">
            <a:hlinkClick r:id="" action="ppaction://media"/>
            <a:extLst>
              <a:ext uri="{FF2B5EF4-FFF2-40B4-BE49-F238E27FC236}">
                <a16:creationId xmlns:a16="http://schemas.microsoft.com/office/drawing/2014/main" id="{B113A88A-9692-E029-D903-F33DAD0C502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0" y="2040493"/>
            <a:ext cx="6493510" cy="3652599"/>
          </a:xfrm>
          <a:prstGeom prst="rect">
            <a:avLst/>
          </a:prstGeom>
        </p:spPr>
      </p:pic>
      <p:pic>
        <p:nvPicPr>
          <p:cNvPr id="3" name="B">
            <a:hlinkClick r:id="" action="ppaction://media"/>
            <a:extLst>
              <a:ext uri="{FF2B5EF4-FFF2-40B4-BE49-F238E27FC236}">
                <a16:creationId xmlns:a16="http://schemas.microsoft.com/office/drawing/2014/main" id="{D61F6314-73EF-881B-9455-4751F3916F6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98490" y="2040493"/>
            <a:ext cx="6493510" cy="36525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425DA11-774F-AA4D-F328-DB1D9F0DAC86}"/>
              </a:ext>
            </a:extLst>
          </p:cNvPr>
          <p:cNvSpPr txBox="1"/>
          <p:nvPr/>
        </p:nvSpPr>
        <p:spPr>
          <a:xfrm>
            <a:off x="1902155" y="728960"/>
            <a:ext cx="19623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err="1"/>
              <a:t>Campaign</a:t>
            </a:r>
            <a:r>
              <a:rPr lang="es-MX" dirty="0"/>
              <a:t> A </a:t>
            </a:r>
          </a:p>
          <a:p>
            <a:pPr algn="ctr"/>
            <a:r>
              <a:rPr lang="es-MX" dirty="0"/>
              <a:t>(</a:t>
            </a:r>
            <a:r>
              <a:rPr lang="es-MX" dirty="0" err="1"/>
              <a:t>traditional</a:t>
            </a:r>
            <a:r>
              <a:rPr lang="es-MX" dirty="0"/>
              <a:t> look</a:t>
            </a:r>
          </a:p>
          <a:p>
            <a:pPr algn="ctr"/>
            <a:r>
              <a:rPr lang="es-MX" dirty="0"/>
              <a:t>N=30</a:t>
            </a:r>
          </a:p>
          <a:p>
            <a:pPr algn="ctr"/>
            <a:r>
              <a:rPr lang="es-MX" dirty="0" err="1"/>
              <a:t>Survey</a:t>
            </a:r>
            <a:r>
              <a:rPr lang="es-MX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9C4EA-A690-801B-9584-903EBEA77ACC}"/>
              </a:ext>
            </a:extLst>
          </p:cNvPr>
          <p:cNvSpPr txBox="1"/>
          <p:nvPr/>
        </p:nvSpPr>
        <p:spPr>
          <a:xfrm>
            <a:off x="8097096" y="728960"/>
            <a:ext cx="16962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err="1"/>
              <a:t>Campaign</a:t>
            </a:r>
            <a:r>
              <a:rPr lang="es-MX" dirty="0"/>
              <a:t> B </a:t>
            </a:r>
          </a:p>
          <a:p>
            <a:pPr algn="ctr"/>
            <a:r>
              <a:rPr lang="es-MX" dirty="0"/>
              <a:t>(</a:t>
            </a:r>
            <a:r>
              <a:rPr lang="es-MX" dirty="0" err="1"/>
              <a:t>modern</a:t>
            </a:r>
            <a:r>
              <a:rPr lang="es-MX" dirty="0"/>
              <a:t> look</a:t>
            </a:r>
          </a:p>
          <a:p>
            <a:pPr algn="ctr"/>
            <a:r>
              <a:rPr lang="es-MX" dirty="0"/>
              <a:t>N=30</a:t>
            </a:r>
          </a:p>
          <a:p>
            <a:pPr algn="ctr"/>
            <a:r>
              <a:rPr lang="es-MX" dirty="0" err="1"/>
              <a:t>Survey</a:t>
            </a:r>
            <a:r>
              <a:rPr lang="es-MX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DF30F7-BCDB-0955-B981-3DA016AD7116}"/>
              </a:ext>
            </a:extLst>
          </p:cNvPr>
          <p:cNvSpPr txBox="1"/>
          <p:nvPr/>
        </p:nvSpPr>
        <p:spPr>
          <a:xfrm>
            <a:off x="91440" y="205740"/>
            <a:ext cx="3703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 err="1"/>
              <a:t>Lifestyle</a:t>
            </a:r>
            <a:r>
              <a:rPr lang="es-MX" sz="2800" dirty="0"/>
              <a:t> A/B test</a:t>
            </a:r>
          </a:p>
        </p:txBody>
      </p:sp>
    </p:spTree>
    <p:extLst>
      <p:ext uri="{BB962C8B-B14F-4D97-AF65-F5344CB8AC3E}">
        <p14:creationId xmlns:p14="http://schemas.microsoft.com/office/powerpoint/2010/main" val="3118092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35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835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8D4DC7-55D4-B8F4-593E-524CBBD42F12}"/>
              </a:ext>
            </a:extLst>
          </p:cNvPr>
          <p:cNvSpPr txBox="1"/>
          <p:nvPr/>
        </p:nvSpPr>
        <p:spPr>
          <a:xfrm>
            <a:off x="4212311" y="3136612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Abrir AB_test.xlsx</a:t>
            </a:r>
          </a:p>
        </p:txBody>
      </p:sp>
    </p:spTree>
    <p:extLst>
      <p:ext uri="{BB962C8B-B14F-4D97-AF65-F5344CB8AC3E}">
        <p14:creationId xmlns:p14="http://schemas.microsoft.com/office/powerpoint/2010/main" val="3453252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FF47D-1901-09AB-6708-BCF934057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956" y="1440180"/>
            <a:ext cx="9184775" cy="43649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D5420C-67AE-5C63-EAD5-5F0AD84F259F}"/>
              </a:ext>
            </a:extLst>
          </p:cNvPr>
          <p:cNvSpPr txBox="1"/>
          <p:nvPr/>
        </p:nvSpPr>
        <p:spPr>
          <a:xfrm>
            <a:off x="80010" y="262890"/>
            <a:ext cx="5737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 err="1"/>
              <a:t>Always</a:t>
            </a:r>
            <a:r>
              <a:rPr lang="es-MX" sz="2400" dirty="0"/>
              <a:t> </a:t>
            </a:r>
            <a:r>
              <a:rPr lang="es-MX" sz="2400" dirty="0" err="1"/>
              <a:t>start</a:t>
            </a:r>
            <a:r>
              <a:rPr lang="es-MX" sz="2400" dirty="0"/>
              <a:t> simple, </a:t>
            </a:r>
            <a:r>
              <a:rPr lang="es-MX" sz="2400" dirty="0" err="1"/>
              <a:t>know</a:t>
            </a:r>
            <a:r>
              <a:rPr lang="es-MX" sz="2400" dirty="0"/>
              <a:t> </a:t>
            </a:r>
            <a:r>
              <a:rPr lang="es-MX" sz="2400" dirty="0" err="1"/>
              <a:t>your</a:t>
            </a:r>
            <a:r>
              <a:rPr lang="es-MX" sz="2400" dirty="0"/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3655073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157829-300F-AEDF-744A-E4B5A045E8DC}"/>
              </a:ext>
            </a:extLst>
          </p:cNvPr>
          <p:cNvSpPr txBox="1"/>
          <p:nvPr/>
        </p:nvSpPr>
        <p:spPr>
          <a:xfrm>
            <a:off x="80010" y="262890"/>
            <a:ext cx="5737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 err="1"/>
              <a:t>Always</a:t>
            </a:r>
            <a:r>
              <a:rPr lang="es-MX" sz="2400" dirty="0"/>
              <a:t> </a:t>
            </a:r>
            <a:r>
              <a:rPr lang="es-MX" sz="2400" dirty="0" err="1"/>
              <a:t>start</a:t>
            </a:r>
            <a:r>
              <a:rPr lang="es-MX" sz="2400" dirty="0"/>
              <a:t> simple, </a:t>
            </a:r>
            <a:r>
              <a:rPr lang="es-MX" sz="2400" dirty="0" err="1"/>
              <a:t>know</a:t>
            </a:r>
            <a:r>
              <a:rPr lang="es-MX" sz="2400" dirty="0"/>
              <a:t> </a:t>
            </a:r>
            <a:r>
              <a:rPr lang="es-MX" sz="2400" dirty="0" err="1"/>
              <a:t>your</a:t>
            </a:r>
            <a:r>
              <a:rPr lang="es-MX" sz="2400" dirty="0"/>
              <a:t>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B8C61-9957-3A81-D479-AB73CC02F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204" y="986404"/>
            <a:ext cx="8535591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012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69746D-3C50-C9CE-83D2-97125AADE9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938" r="4927" b="1"/>
          <a:stretch>
            <a:fillRect/>
          </a:stretch>
        </p:blipFill>
        <p:spPr>
          <a:xfrm>
            <a:off x="20" y="10"/>
            <a:ext cx="9947062" cy="6857990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8B598134-D292-43E6-9C55-117198046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1834" y="0"/>
            <a:ext cx="4980168" cy="6858000"/>
          </a:xfrm>
          <a:custGeom>
            <a:avLst/>
            <a:gdLst>
              <a:gd name="connsiteX0" fmla="*/ 1623023 w 4901771"/>
              <a:gd name="connsiteY0" fmla="*/ 0 h 6858000"/>
              <a:gd name="connsiteX1" fmla="*/ 2716256 w 4901771"/>
              <a:gd name="connsiteY1" fmla="*/ 0 h 6858000"/>
              <a:gd name="connsiteX2" fmla="*/ 3496422 w 4901771"/>
              <a:gd name="connsiteY2" fmla="*/ 0 h 6858000"/>
              <a:gd name="connsiteX3" fmla="*/ 4544484 w 4901771"/>
              <a:gd name="connsiteY3" fmla="*/ 0 h 6858000"/>
              <a:gd name="connsiteX4" fmla="*/ 4710787 w 4901771"/>
              <a:gd name="connsiteY4" fmla="*/ 0 h 6858000"/>
              <a:gd name="connsiteX5" fmla="*/ 4901771 w 4901771"/>
              <a:gd name="connsiteY5" fmla="*/ 0 h 6858000"/>
              <a:gd name="connsiteX6" fmla="*/ 4901771 w 4901771"/>
              <a:gd name="connsiteY6" fmla="*/ 6858000 h 6858000"/>
              <a:gd name="connsiteX7" fmla="*/ 4710787 w 4901771"/>
              <a:gd name="connsiteY7" fmla="*/ 6858000 h 6858000"/>
              <a:gd name="connsiteX8" fmla="*/ 4544484 w 4901771"/>
              <a:gd name="connsiteY8" fmla="*/ 6858000 h 6858000"/>
              <a:gd name="connsiteX9" fmla="*/ 3496422 w 4901771"/>
              <a:gd name="connsiteY9" fmla="*/ 6858000 h 6858000"/>
              <a:gd name="connsiteX10" fmla="*/ 2716256 w 4901771"/>
              <a:gd name="connsiteY10" fmla="*/ 6858000 h 6858000"/>
              <a:gd name="connsiteX11" fmla="*/ 2502754 w 4901771"/>
              <a:gd name="connsiteY11" fmla="*/ 6858000 h 6858000"/>
              <a:gd name="connsiteX12" fmla="*/ 2390998 w 4901771"/>
              <a:gd name="connsiteY12" fmla="*/ 6780599 h 6858000"/>
              <a:gd name="connsiteX13" fmla="*/ 1874350 w 4901771"/>
              <a:gd name="connsiteY13" fmla="*/ 6374814 h 6858000"/>
              <a:gd name="connsiteX14" fmla="*/ 0 w 4901771"/>
              <a:gd name="connsiteY14" fmla="*/ 3621656 h 6858000"/>
              <a:gd name="connsiteX15" fmla="*/ 1600899 w 4901771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9701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A62FE4-F49C-487E-0869-6BFCB6618C7B}"/>
              </a:ext>
            </a:extLst>
          </p:cNvPr>
          <p:cNvSpPr txBox="1"/>
          <p:nvPr/>
        </p:nvSpPr>
        <p:spPr>
          <a:xfrm>
            <a:off x="7695125" y="2625918"/>
            <a:ext cx="4013586" cy="2592125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 SPSS: Analyze -&gt; Compare means and proportions -&gt; Independent Samples T-test</a:t>
            </a:r>
          </a:p>
        </p:txBody>
      </p:sp>
    </p:spTree>
    <p:extLst>
      <p:ext uri="{BB962C8B-B14F-4D97-AF65-F5344CB8AC3E}">
        <p14:creationId xmlns:p14="http://schemas.microsoft.com/office/powerpoint/2010/main" val="3999977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FA8CB3-CB34-03BE-D723-732196D13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86" y="245629"/>
            <a:ext cx="5830114" cy="1657581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E2291FC-1D23-0175-2F02-716FDA818DC4}"/>
              </a:ext>
            </a:extLst>
          </p:cNvPr>
          <p:cNvGrpSpPr/>
          <p:nvPr/>
        </p:nvGrpSpPr>
        <p:grpSpPr>
          <a:xfrm>
            <a:off x="129690" y="2033424"/>
            <a:ext cx="8602275" cy="2333951"/>
            <a:chOff x="346860" y="2262024"/>
            <a:chExt cx="8602275" cy="23339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7FCCFBE-7A47-DBB9-960E-9D9DDC738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6860" y="3155604"/>
              <a:ext cx="2896004" cy="137179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59C59DA-CBFB-0D77-2C87-A7AEE99B1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2864" y="2262024"/>
              <a:ext cx="5706271" cy="2333951"/>
            </a:xfrm>
            <a:prstGeom prst="rect">
              <a:avLst/>
            </a:prstGeom>
          </p:spPr>
        </p:pic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26C9A3CC-3AB1-ABC0-8197-83BAEEDF3A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690" y="5030084"/>
            <a:ext cx="6230219" cy="9812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F77E486-24BC-3C90-3F1C-774BD1A42FE9}"/>
              </a:ext>
            </a:extLst>
          </p:cNvPr>
          <p:cNvSpPr txBox="1"/>
          <p:nvPr/>
        </p:nvSpPr>
        <p:spPr>
          <a:xfrm>
            <a:off x="8941362" y="2690336"/>
            <a:ext cx="29686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Consumers</a:t>
            </a:r>
            <a:r>
              <a:rPr lang="es-MX" dirty="0"/>
              <a:t> </a:t>
            </a:r>
            <a:r>
              <a:rPr lang="es-MX" dirty="0" err="1"/>
              <a:t>add</a:t>
            </a:r>
            <a:r>
              <a:rPr lang="es-MX" dirty="0"/>
              <a:t> more </a:t>
            </a:r>
            <a:r>
              <a:rPr lang="es-MX" dirty="0" err="1"/>
              <a:t>to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cart</a:t>
            </a:r>
            <a:r>
              <a:rPr lang="es-MX" dirty="0"/>
              <a:t> in </a:t>
            </a:r>
            <a:r>
              <a:rPr lang="es-MX" dirty="0" err="1"/>
              <a:t>the</a:t>
            </a:r>
            <a:r>
              <a:rPr lang="es-MX" dirty="0"/>
              <a:t> control </a:t>
            </a:r>
            <a:r>
              <a:rPr lang="es-MX" dirty="0" err="1"/>
              <a:t>group</a:t>
            </a:r>
            <a:r>
              <a:rPr lang="es-MX" dirty="0"/>
              <a:t>, </a:t>
            </a:r>
            <a:r>
              <a:rPr lang="es-MX" dirty="0" err="1"/>
              <a:t>strongly</a:t>
            </a:r>
            <a:r>
              <a:rPr lang="es-MX" dirty="0"/>
              <a:t> so, </a:t>
            </a:r>
            <a:r>
              <a:rPr lang="es-MX" dirty="0" err="1"/>
              <a:t>but</a:t>
            </a:r>
            <a:r>
              <a:rPr lang="es-MX" dirty="0"/>
              <a:t> do </a:t>
            </a:r>
            <a:r>
              <a:rPr lang="es-MX" dirty="0" err="1"/>
              <a:t>not</a:t>
            </a:r>
            <a:r>
              <a:rPr lang="es-MX" dirty="0"/>
              <a:t> </a:t>
            </a:r>
            <a:r>
              <a:rPr lang="es-MX" dirty="0" err="1"/>
              <a:t>purchase</a:t>
            </a:r>
            <a:r>
              <a:rPr lang="es-MX" dirty="0"/>
              <a:t> more (p, ES)</a:t>
            </a:r>
          </a:p>
        </p:txBody>
      </p:sp>
    </p:spTree>
    <p:extLst>
      <p:ext uri="{BB962C8B-B14F-4D97-AF65-F5344CB8AC3E}">
        <p14:creationId xmlns:p14="http://schemas.microsoft.com/office/powerpoint/2010/main" val="3964310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9BB7E9A-6937-4BF0-9F51-A20F197B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0939753-89D7-48A8-8441-B9FF25CE8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4167" y="0"/>
            <a:ext cx="5687681" cy="5708856"/>
          </a:xfrm>
          <a:custGeom>
            <a:avLst/>
            <a:gdLst>
              <a:gd name="connsiteX0" fmla="*/ 2787282 w 5687681"/>
              <a:gd name="connsiteY0" fmla="*/ 0 h 5708856"/>
              <a:gd name="connsiteX1" fmla="*/ 3988996 w 5687681"/>
              <a:gd name="connsiteY1" fmla="*/ 0 h 5708856"/>
              <a:gd name="connsiteX2" fmla="*/ 4236253 w 5687681"/>
              <a:gd name="connsiteY2" fmla="*/ 68070 h 5708856"/>
              <a:gd name="connsiteX3" fmla="*/ 4483543 w 5687681"/>
              <a:gd name="connsiteY3" fmla="*/ 168573 h 5708856"/>
              <a:gd name="connsiteX4" fmla="*/ 5265611 w 5687681"/>
              <a:gd name="connsiteY4" fmla="*/ 790441 h 5708856"/>
              <a:gd name="connsiteX5" fmla="*/ 5682608 w 5687681"/>
              <a:gd name="connsiteY5" fmla="*/ 1499885 h 5708856"/>
              <a:gd name="connsiteX6" fmla="*/ 5687681 w 5687681"/>
              <a:gd name="connsiteY6" fmla="*/ 1513862 h 5708856"/>
              <a:gd name="connsiteX7" fmla="*/ 5687681 w 5687681"/>
              <a:gd name="connsiteY7" fmla="*/ 3841322 h 5708856"/>
              <a:gd name="connsiteX8" fmla="*/ 5651147 w 5687681"/>
              <a:gd name="connsiteY8" fmla="*/ 3896489 h 5708856"/>
              <a:gd name="connsiteX9" fmla="*/ 4734255 w 5687681"/>
              <a:gd name="connsiteY9" fmla="*/ 4737639 h 5708856"/>
              <a:gd name="connsiteX10" fmla="*/ 4532663 w 5687681"/>
              <a:gd name="connsiteY10" fmla="*/ 4898543 h 5708856"/>
              <a:gd name="connsiteX11" fmla="*/ 2876165 w 5687681"/>
              <a:gd name="connsiteY11" fmla="*/ 5708856 h 5708856"/>
              <a:gd name="connsiteX12" fmla="*/ 694066 w 5687681"/>
              <a:gd name="connsiteY12" fmla="*/ 4391717 h 5708856"/>
              <a:gd name="connsiteX13" fmla="*/ 461517 w 5687681"/>
              <a:gd name="connsiteY13" fmla="*/ 4054756 h 5708856"/>
              <a:gd name="connsiteX14" fmla="*/ 0 w 5687681"/>
              <a:gd name="connsiteY14" fmla="*/ 2993139 h 5708856"/>
              <a:gd name="connsiteX15" fmla="*/ 278855 w 5687681"/>
              <a:gd name="connsiteY15" fmla="*/ 1849819 h 5708856"/>
              <a:gd name="connsiteX16" fmla="*/ 1047879 w 5687681"/>
              <a:gd name="connsiteY16" fmla="*/ 867400 h 5708856"/>
              <a:gd name="connsiteX17" fmla="*/ 2159714 w 5687681"/>
              <a:gd name="connsiteY17" fmla="*/ 186098 h 5708856"/>
              <a:gd name="connsiteX18" fmla="*/ 2785137 w 5687681"/>
              <a:gd name="connsiteY18" fmla="*/ 372 h 5708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687681" h="5708856">
                <a:moveTo>
                  <a:pt x="2787282" y="0"/>
                </a:moveTo>
                <a:lnTo>
                  <a:pt x="3988996" y="0"/>
                </a:lnTo>
                <a:lnTo>
                  <a:pt x="4236253" y="68070"/>
                </a:lnTo>
                <a:cubicBezTo>
                  <a:pt x="4321147" y="96843"/>
                  <a:pt x="4403628" y="130356"/>
                  <a:pt x="4483543" y="168573"/>
                </a:cubicBezTo>
                <a:cubicBezTo>
                  <a:pt x="4783119" y="311949"/>
                  <a:pt x="5046239" y="521215"/>
                  <a:pt x="5265611" y="790441"/>
                </a:cubicBezTo>
                <a:cubicBezTo>
                  <a:pt x="5433740" y="996857"/>
                  <a:pt x="5573537" y="1235870"/>
                  <a:pt x="5682608" y="1499885"/>
                </a:cubicBezTo>
                <a:lnTo>
                  <a:pt x="5687681" y="1513862"/>
                </a:lnTo>
                <a:lnTo>
                  <a:pt x="5687681" y="3841322"/>
                </a:lnTo>
                <a:lnTo>
                  <a:pt x="5651147" y="3896489"/>
                </a:lnTo>
                <a:cubicBezTo>
                  <a:pt x="5427171" y="4186934"/>
                  <a:pt x="5090625" y="4454446"/>
                  <a:pt x="4734255" y="4737639"/>
                </a:cubicBezTo>
                <a:cubicBezTo>
                  <a:pt x="4668506" y="4789825"/>
                  <a:pt x="4600584" y="4843856"/>
                  <a:pt x="4532663" y="4898543"/>
                </a:cubicBezTo>
                <a:cubicBezTo>
                  <a:pt x="3924681" y="5387974"/>
                  <a:pt x="3480945" y="5708856"/>
                  <a:pt x="2876165" y="5708856"/>
                </a:cubicBezTo>
                <a:cubicBezTo>
                  <a:pt x="1954665" y="5708856"/>
                  <a:pt x="1302047" y="5314966"/>
                  <a:pt x="694066" y="4391717"/>
                </a:cubicBezTo>
                <a:cubicBezTo>
                  <a:pt x="614503" y="4270875"/>
                  <a:pt x="536731" y="4160972"/>
                  <a:pt x="461517" y="4054756"/>
                </a:cubicBezTo>
                <a:cubicBezTo>
                  <a:pt x="149788" y="3614348"/>
                  <a:pt x="0" y="3385316"/>
                  <a:pt x="0" y="2993139"/>
                </a:cubicBezTo>
                <a:cubicBezTo>
                  <a:pt x="0" y="2603731"/>
                  <a:pt x="93889" y="2219065"/>
                  <a:pt x="278855" y="1849819"/>
                </a:cubicBezTo>
                <a:cubicBezTo>
                  <a:pt x="459854" y="1488610"/>
                  <a:pt x="718625" y="1157977"/>
                  <a:pt x="1047879" y="867400"/>
                </a:cubicBezTo>
                <a:cubicBezTo>
                  <a:pt x="1371504" y="581701"/>
                  <a:pt x="1755887" y="346080"/>
                  <a:pt x="2159714" y="186098"/>
                </a:cubicBezTo>
                <a:cubicBezTo>
                  <a:pt x="2367064" y="103803"/>
                  <a:pt x="2576044" y="41801"/>
                  <a:pt x="2785137" y="372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F5CCFC5-858F-4B45-9B10-D49DD0280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5450" y="0"/>
            <a:ext cx="5866550" cy="5788550"/>
          </a:xfrm>
          <a:custGeom>
            <a:avLst/>
            <a:gdLst>
              <a:gd name="connsiteX0" fmla="*/ 2331396 w 5798121"/>
              <a:gd name="connsiteY0" fmla="*/ 0 h 5788550"/>
              <a:gd name="connsiteX1" fmla="*/ 4658651 w 5798121"/>
              <a:gd name="connsiteY1" fmla="*/ 0 h 5788550"/>
              <a:gd name="connsiteX2" fmla="*/ 4682835 w 5798121"/>
              <a:gd name="connsiteY2" fmla="*/ 9816 h 5788550"/>
              <a:gd name="connsiteX3" fmla="*/ 5499667 w 5798121"/>
              <a:gd name="connsiteY3" fmla="*/ 658449 h 5788550"/>
              <a:gd name="connsiteX4" fmla="*/ 5665313 w 5798121"/>
              <a:gd name="connsiteY4" fmla="*/ 884789 h 5788550"/>
              <a:gd name="connsiteX5" fmla="*/ 5798121 w 5798121"/>
              <a:gd name="connsiteY5" fmla="*/ 1110681 h 5788550"/>
              <a:gd name="connsiteX6" fmla="*/ 5798121 w 5798121"/>
              <a:gd name="connsiteY6" fmla="*/ 4016954 h 5788550"/>
              <a:gd name="connsiteX7" fmla="*/ 5706359 w 5798121"/>
              <a:gd name="connsiteY7" fmla="*/ 4121532 h 5788550"/>
              <a:gd name="connsiteX8" fmla="*/ 4944692 w 5798121"/>
              <a:gd name="connsiteY8" fmla="*/ 4775532 h 5788550"/>
              <a:gd name="connsiteX9" fmla="*/ 4734137 w 5798121"/>
              <a:gd name="connsiteY9" fmla="*/ 4943362 h 5788550"/>
              <a:gd name="connsiteX10" fmla="*/ 3004009 w 5798121"/>
              <a:gd name="connsiteY10" fmla="*/ 5788550 h 5788550"/>
              <a:gd name="connsiteX11" fmla="*/ 724917 w 5798121"/>
              <a:gd name="connsiteY11" fmla="*/ 4414722 h 5788550"/>
              <a:gd name="connsiteX12" fmla="*/ 482031 w 5798121"/>
              <a:gd name="connsiteY12" fmla="*/ 4063258 h 5788550"/>
              <a:gd name="connsiteX13" fmla="*/ 0 w 5798121"/>
              <a:gd name="connsiteY13" fmla="*/ 2955950 h 5788550"/>
              <a:gd name="connsiteX14" fmla="*/ 291250 w 5798121"/>
              <a:gd name="connsiteY14" fmla="*/ 1763422 h 5788550"/>
              <a:gd name="connsiteX15" fmla="*/ 1094457 w 5798121"/>
              <a:gd name="connsiteY15" fmla="*/ 738720 h 5788550"/>
              <a:gd name="connsiteX16" fmla="*/ 2255713 w 5798121"/>
              <a:gd name="connsiteY16" fmla="*/ 28095 h 5788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798121" h="5788550">
                <a:moveTo>
                  <a:pt x="2331396" y="0"/>
                </a:moveTo>
                <a:lnTo>
                  <a:pt x="4658651" y="0"/>
                </a:lnTo>
                <a:lnTo>
                  <a:pt x="4682835" y="9816"/>
                </a:lnTo>
                <a:cubicBezTo>
                  <a:pt x="4995727" y="159362"/>
                  <a:pt x="5270543" y="377635"/>
                  <a:pt x="5499667" y="658449"/>
                </a:cubicBezTo>
                <a:cubicBezTo>
                  <a:pt x="5558201" y="730215"/>
                  <a:pt x="5613447" y="805760"/>
                  <a:pt x="5665313" y="884789"/>
                </a:cubicBezTo>
                <a:lnTo>
                  <a:pt x="5798121" y="1110681"/>
                </a:lnTo>
                <a:lnTo>
                  <a:pt x="5798121" y="4016954"/>
                </a:lnTo>
                <a:lnTo>
                  <a:pt x="5706359" y="4121532"/>
                </a:lnTo>
                <a:cubicBezTo>
                  <a:pt x="5491360" y="4341659"/>
                  <a:pt x="5223849" y="4553996"/>
                  <a:pt x="4944692" y="4775532"/>
                </a:cubicBezTo>
                <a:cubicBezTo>
                  <a:pt x="4876021" y="4829964"/>
                  <a:pt x="4805079" y="4886320"/>
                  <a:pt x="4734137" y="4943362"/>
                </a:cubicBezTo>
                <a:cubicBezTo>
                  <a:pt x="4099133" y="5453857"/>
                  <a:pt x="3635672" y="5788550"/>
                  <a:pt x="3004009" y="5788550"/>
                </a:cubicBezTo>
                <a:cubicBezTo>
                  <a:pt x="2041550" y="5788550"/>
                  <a:pt x="1359922" y="5377707"/>
                  <a:pt x="724917" y="4414722"/>
                </a:cubicBezTo>
                <a:cubicBezTo>
                  <a:pt x="641818" y="4288679"/>
                  <a:pt x="560588" y="4174046"/>
                  <a:pt x="482031" y="4063258"/>
                </a:cubicBezTo>
                <a:cubicBezTo>
                  <a:pt x="156446" y="3603895"/>
                  <a:pt x="0" y="3365006"/>
                  <a:pt x="0" y="2955950"/>
                </a:cubicBezTo>
                <a:cubicBezTo>
                  <a:pt x="0" y="2549782"/>
                  <a:pt x="98062" y="2148559"/>
                  <a:pt x="291250" y="1763422"/>
                </a:cubicBezTo>
                <a:cubicBezTo>
                  <a:pt x="480295" y="1386666"/>
                  <a:pt x="750568" y="1041802"/>
                  <a:pt x="1094457" y="738720"/>
                </a:cubicBezTo>
                <a:cubicBezTo>
                  <a:pt x="1432467" y="440725"/>
                  <a:pt x="1833935" y="194963"/>
                  <a:pt x="2255713" y="28095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852D44-5551-C691-EED2-AE292EF66579}"/>
              </a:ext>
            </a:extLst>
          </p:cNvPr>
          <p:cNvSpPr txBox="1"/>
          <p:nvPr/>
        </p:nvSpPr>
        <p:spPr>
          <a:xfrm>
            <a:off x="378217" y="394614"/>
            <a:ext cx="5962774" cy="5183134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Task 9:</a:t>
            </a: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One of the campaigns makes people add more to the cart but do not increase purchases. </a:t>
            </a: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 marketing strategy could you think of to ameliorate such situation for that campaign?</a:t>
            </a: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lvl="0">
              <a:lnSpc>
                <a:spcPct val="140000"/>
              </a:lnSpc>
              <a:spcBef>
                <a:spcPts val="930"/>
              </a:spcBef>
              <a:defRPr/>
            </a:pPr>
            <a:r>
              <a:rPr lang="en-US" spc="150" dirty="0">
                <a:solidFill>
                  <a:prstClr val="black">
                    <a:lumMod val="75000"/>
                    <a:lumOff val="25000"/>
                  </a:prstClr>
                </a:solidFill>
              </a:rPr>
              <a:t>Your answer (in-person):</a:t>
            </a:r>
          </a:p>
          <a:p>
            <a:pPr lvl="0">
              <a:lnSpc>
                <a:spcPct val="140000"/>
              </a:lnSpc>
              <a:spcBef>
                <a:spcPts val="930"/>
              </a:spcBef>
              <a:defRPr/>
            </a:pPr>
            <a:endParaRPr lang="en-US" spc="150" dirty="0">
              <a:solidFill>
                <a:prstClr val="black">
                  <a:lumMod val="75000"/>
                  <a:lumOff val="25000"/>
                </a:prstClr>
              </a:solidFill>
            </a:endParaRPr>
          </a:p>
          <a:p>
            <a:pPr lvl="0">
              <a:lnSpc>
                <a:spcPct val="140000"/>
              </a:lnSpc>
              <a:spcBef>
                <a:spcPts val="930"/>
              </a:spcBef>
              <a:defRPr/>
            </a:pPr>
            <a:r>
              <a:rPr lang="en-US" spc="150" dirty="0">
                <a:solidFill>
                  <a:prstClr val="black">
                    <a:lumMod val="75000"/>
                    <a:lumOff val="25000"/>
                  </a:prstClr>
                </a:solidFill>
              </a:rPr>
              <a:t>Your AI agent answer: </a:t>
            </a: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348ECDC-D455-4B71-90F6-2ECC12B79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23734" y="0"/>
            <a:ext cx="5568114" cy="5577748"/>
          </a:xfrm>
          <a:custGeom>
            <a:avLst/>
            <a:gdLst>
              <a:gd name="connsiteX0" fmla="*/ 2959946 w 5568114"/>
              <a:gd name="connsiteY0" fmla="*/ 0 h 5577748"/>
              <a:gd name="connsiteX1" fmla="*/ 3614224 w 5568114"/>
              <a:gd name="connsiteY1" fmla="*/ 0 h 5577748"/>
              <a:gd name="connsiteX2" fmla="*/ 3844432 w 5568114"/>
              <a:gd name="connsiteY2" fmla="*/ 36392 h 5577748"/>
              <a:gd name="connsiteX3" fmla="*/ 4336826 w 5568114"/>
              <a:gd name="connsiteY3" fmla="*/ 203778 h 5577748"/>
              <a:gd name="connsiteX4" fmla="*/ 5093304 w 5568114"/>
              <a:gd name="connsiteY4" fmla="*/ 806978 h 5577748"/>
              <a:gd name="connsiteX5" fmla="*/ 5496656 w 5568114"/>
              <a:gd name="connsiteY5" fmla="*/ 1495125 h 5577748"/>
              <a:gd name="connsiteX6" fmla="*/ 5568114 w 5568114"/>
              <a:gd name="connsiteY6" fmla="*/ 1692569 h 5577748"/>
              <a:gd name="connsiteX7" fmla="*/ 5568114 w 5568114"/>
              <a:gd name="connsiteY7" fmla="*/ 3665503 h 5577748"/>
              <a:gd name="connsiteX8" fmla="*/ 5466225 w 5568114"/>
              <a:gd name="connsiteY8" fmla="*/ 3819786 h 5577748"/>
              <a:gd name="connsiteX9" fmla="*/ 4579336 w 5568114"/>
              <a:gd name="connsiteY9" fmla="*/ 4635686 h 5577748"/>
              <a:gd name="connsiteX10" fmla="*/ 4384340 w 5568114"/>
              <a:gd name="connsiteY10" fmla="*/ 4791760 h 5577748"/>
              <a:gd name="connsiteX11" fmla="*/ 2782048 w 5568114"/>
              <a:gd name="connsiteY11" fmla="*/ 5577748 h 5577748"/>
              <a:gd name="connsiteX12" fmla="*/ 671354 w 5568114"/>
              <a:gd name="connsiteY12" fmla="*/ 4300148 h 5577748"/>
              <a:gd name="connsiteX13" fmla="*/ 446415 w 5568114"/>
              <a:gd name="connsiteY13" fmla="*/ 3973302 h 5577748"/>
              <a:gd name="connsiteX14" fmla="*/ 0 w 5568114"/>
              <a:gd name="connsiteY14" fmla="*/ 2943554 h 5577748"/>
              <a:gd name="connsiteX15" fmla="*/ 269730 w 5568114"/>
              <a:gd name="connsiteY15" fmla="*/ 1834555 h 5577748"/>
              <a:gd name="connsiteX16" fmla="*/ 1013589 w 5568114"/>
              <a:gd name="connsiteY16" fmla="*/ 881627 h 5577748"/>
              <a:gd name="connsiteX17" fmla="*/ 2089042 w 5568114"/>
              <a:gd name="connsiteY17" fmla="*/ 220777 h 5577748"/>
              <a:gd name="connsiteX18" fmla="*/ 2845684 w 5568114"/>
              <a:gd name="connsiteY18" fmla="*/ 14234 h 5577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568114" h="5577748">
                <a:moveTo>
                  <a:pt x="2959946" y="0"/>
                </a:moveTo>
                <a:lnTo>
                  <a:pt x="3614224" y="0"/>
                </a:lnTo>
                <a:lnTo>
                  <a:pt x="3844432" y="36392"/>
                </a:lnTo>
                <a:cubicBezTo>
                  <a:pt x="4017699" y="73748"/>
                  <a:pt x="4182227" y="129639"/>
                  <a:pt x="4336826" y="203778"/>
                </a:cubicBezTo>
                <a:cubicBezTo>
                  <a:pt x="4626600" y="342850"/>
                  <a:pt x="4881111" y="545834"/>
                  <a:pt x="5093304" y="806978"/>
                </a:cubicBezTo>
                <a:cubicBezTo>
                  <a:pt x="5255931" y="1007198"/>
                  <a:pt x="5391154" y="1239036"/>
                  <a:pt x="5496656" y="1495125"/>
                </a:cubicBezTo>
                <a:lnTo>
                  <a:pt x="5568114" y="1692569"/>
                </a:lnTo>
                <a:lnTo>
                  <a:pt x="5568114" y="3665503"/>
                </a:lnTo>
                <a:lnTo>
                  <a:pt x="5466225" y="3819786"/>
                </a:lnTo>
                <a:cubicBezTo>
                  <a:pt x="5249576" y="4101511"/>
                  <a:pt x="4924044" y="4360994"/>
                  <a:pt x="4579336" y="4635686"/>
                </a:cubicBezTo>
                <a:cubicBezTo>
                  <a:pt x="4515738" y="4686305"/>
                  <a:pt x="4450038" y="4738713"/>
                  <a:pt x="4384340" y="4791760"/>
                </a:cubicBezTo>
                <a:cubicBezTo>
                  <a:pt x="3796254" y="5266498"/>
                  <a:pt x="3367038" y="5577748"/>
                  <a:pt x="2782048" y="5577748"/>
                </a:cubicBezTo>
                <a:cubicBezTo>
                  <a:pt x="1890703" y="5577748"/>
                  <a:pt x="1259439" y="5195682"/>
                  <a:pt x="671354" y="4300148"/>
                </a:cubicBezTo>
                <a:cubicBezTo>
                  <a:pt x="594395" y="4182934"/>
                  <a:pt x="519167" y="4076330"/>
                  <a:pt x="446415" y="3973302"/>
                </a:cubicBezTo>
                <a:cubicBezTo>
                  <a:pt x="144886" y="3546115"/>
                  <a:pt x="0" y="3323958"/>
                  <a:pt x="0" y="2943554"/>
                </a:cubicBezTo>
                <a:cubicBezTo>
                  <a:pt x="0" y="2565835"/>
                  <a:pt x="90816" y="2192716"/>
                  <a:pt x="269730" y="1834555"/>
                </a:cubicBezTo>
                <a:cubicBezTo>
                  <a:pt x="444806" y="1484188"/>
                  <a:pt x="695109" y="1163480"/>
                  <a:pt x="1013589" y="881627"/>
                </a:cubicBezTo>
                <a:cubicBezTo>
                  <a:pt x="1326624" y="604505"/>
                  <a:pt x="1698428" y="375956"/>
                  <a:pt x="2089042" y="220777"/>
                </a:cubicBezTo>
                <a:cubicBezTo>
                  <a:pt x="2339747" y="120996"/>
                  <a:pt x="2592918" y="51971"/>
                  <a:pt x="2845684" y="1423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Small white light bulbs with one large yellow light bulb drawn on a black surface">
            <a:extLst>
              <a:ext uri="{FF2B5EF4-FFF2-40B4-BE49-F238E27FC236}">
                <a16:creationId xmlns:a16="http://schemas.microsoft.com/office/drawing/2014/main" id="{9676B0A1-9B99-5B01-E392-60F092ECCE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55" r="1" b="1"/>
          <a:stretch>
            <a:fillRect/>
          </a:stretch>
        </p:blipFill>
        <p:spPr>
          <a:xfrm>
            <a:off x="6877878" y="294199"/>
            <a:ext cx="5150794" cy="5001370"/>
          </a:xfrm>
          <a:custGeom>
            <a:avLst/>
            <a:gdLst/>
            <a:ahLst/>
            <a:cxnLst/>
            <a:rect l="l" t="t" r="r" b="b"/>
            <a:pathLst>
              <a:path w="5044104" h="4896924">
                <a:moveTo>
                  <a:pt x="2886613" y="0"/>
                </a:moveTo>
                <a:cubicBezTo>
                  <a:pt x="3218269" y="0"/>
                  <a:pt x="3523512" y="65865"/>
                  <a:pt x="3794011" y="195584"/>
                </a:cubicBezTo>
                <a:cubicBezTo>
                  <a:pt x="4047516" y="317247"/>
                  <a:pt x="4270172" y="494825"/>
                  <a:pt x="4455804" y="723284"/>
                </a:cubicBezTo>
                <a:cubicBezTo>
                  <a:pt x="4835198" y="1190375"/>
                  <a:pt x="5044104" y="1854168"/>
                  <a:pt x="5044104" y="2592438"/>
                </a:cubicBezTo>
                <a:cubicBezTo>
                  <a:pt x="5044104" y="2886985"/>
                  <a:pt x="4963247" y="3123382"/>
                  <a:pt x="4782050" y="3358996"/>
                </a:cubicBezTo>
                <a:cubicBezTo>
                  <a:pt x="4592516" y="3605460"/>
                  <a:pt x="4307730" y="3832465"/>
                  <a:pt x="4006167" y="4072775"/>
                </a:cubicBezTo>
                <a:cubicBezTo>
                  <a:pt x="3950530" y="4117058"/>
                  <a:pt x="3893052" y="4162907"/>
                  <a:pt x="3835576" y="4209314"/>
                </a:cubicBezTo>
                <a:cubicBezTo>
                  <a:pt x="3321099" y="4624632"/>
                  <a:pt x="2945605" y="4896924"/>
                  <a:pt x="2433835" y="4896924"/>
                </a:cubicBezTo>
                <a:cubicBezTo>
                  <a:pt x="1654054" y="4896924"/>
                  <a:pt x="1101803" y="4562680"/>
                  <a:pt x="587325" y="3779234"/>
                </a:cubicBezTo>
                <a:cubicBezTo>
                  <a:pt x="519999" y="3676690"/>
                  <a:pt x="454187" y="3583430"/>
                  <a:pt x="390540" y="3493298"/>
                </a:cubicBezTo>
                <a:cubicBezTo>
                  <a:pt x="126752" y="3119579"/>
                  <a:pt x="0" y="2925228"/>
                  <a:pt x="0" y="2592438"/>
                </a:cubicBezTo>
                <a:cubicBezTo>
                  <a:pt x="0" y="2261996"/>
                  <a:pt x="79450" y="1935577"/>
                  <a:pt x="235969" y="1622244"/>
                </a:cubicBezTo>
                <a:cubicBezTo>
                  <a:pt x="389133" y="1315731"/>
                  <a:pt x="608107" y="1035165"/>
                  <a:pt x="886724" y="788590"/>
                </a:cubicBezTo>
                <a:cubicBezTo>
                  <a:pt x="1160578" y="546153"/>
                  <a:pt x="1485846" y="346211"/>
                  <a:pt x="1827568" y="210454"/>
                </a:cubicBezTo>
                <a:cubicBezTo>
                  <a:pt x="2178491" y="70787"/>
                  <a:pt x="2534934" y="0"/>
                  <a:pt x="288661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1146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5B4AA3-039E-A07F-85DF-5DD29FA68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93" y="1750620"/>
            <a:ext cx="8246340" cy="33567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68508E-9597-2595-48BA-A8BD1B9F0F2D}"/>
              </a:ext>
            </a:extLst>
          </p:cNvPr>
          <p:cNvSpPr txBox="1"/>
          <p:nvPr/>
        </p:nvSpPr>
        <p:spPr>
          <a:xfrm>
            <a:off x="321003" y="708660"/>
            <a:ext cx="4193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/>
              <a:t>A </a:t>
            </a:r>
            <a:r>
              <a:rPr lang="es-MX" sz="2400" dirty="0" err="1"/>
              <a:t>reflection</a:t>
            </a:r>
            <a:r>
              <a:rPr lang="es-MX" sz="2400" dirty="0"/>
              <a:t> </a:t>
            </a:r>
            <a:r>
              <a:rPr lang="es-MX" sz="2400" dirty="0" err="1"/>
              <a:t>about</a:t>
            </a:r>
            <a:r>
              <a:rPr lang="es-MX" sz="2400" dirty="0"/>
              <a:t> AB </a:t>
            </a:r>
            <a:r>
              <a:rPr lang="es-MX" sz="2400" dirty="0" err="1"/>
              <a:t>tests</a:t>
            </a:r>
            <a:endParaRPr lang="es-MX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FB1264-DE03-DB60-01E0-3C49FFF441B8}"/>
              </a:ext>
            </a:extLst>
          </p:cNvPr>
          <p:cNvSpPr txBox="1"/>
          <p:nvPr/>
        </p:nvSpPr>
        <p:spPr>
          <a:xfrm>
            <a:off x="8311929" y="2167488"/>
            <a:ext cx="36922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Static</a:t>
            </a:r>
            <a:r>
              <a:rPr lang="es-MX" dirty="0"/>
              <a:t> AB </a:t>
            </a:r>
            <a:r>
              <a:rPr lang="es-MX" dirty="0" err="1"/>
              <a:t>tests</a:t>
            </a:r>
            <a:r>
              <a:rPr lang="es-MX" dirty="0"/>
              <a:t> </a:t>
            </a:r>
            <a:r>
              <a:rPr lang="es-MX" dirty="0" err="1"/>
              <a:t>have</a:t>
            </a:r>
            <a:r>
              <a:rPr lang="es-MX" dirty="0"/>
              <a:t> </a:t>
            </a:r>
            <a:r>
              <a:rPr lang="es-MX" dirty="0" err="1"/>
              <a:t>costs</a:t>
            </a:r>
            <a:r>
              <a:rPr lang="es-MX" dirty="0"/>
              <a:t>:</a:t>
            </a:r>
          </a:p>
          <a:p>
            <a:endParaRPr lang="es-MX" dirty="0"/>
          </a:p>
          <a:p>
            <a:r>
              <a:rPr lang="es-MX" dirty="0" err="1"/>
              <a:t>Users</a:t>
            </a:r>
            <a:r>
              <a:rPr lang="es-MX" dirty="0"/>
              <a:t> </a:t>
            </a:r>
            <a:r>
              <a:rPr lang="es-MX" dirty="0" err="1"/>
              <a:t>who</a:t>
            </a:r>
            <a:r>
              <a:rPr lang="es-MX" dirty="0"/>
              <a:t> </a:t>
            </a:r>
            <a:r>
              <a:rPr lang="es-MX" dirty="0" err="1"/>
              <a:t>experience</a:t>
            </a:r>
            <a:r>
              <a:rPr lang="es-MX" dirty="0"/>
              <a:t> </a:t>
            </a:r>
            <a:r>
              <a:rPr lang="es-MX" dirty="0" err="1"/>
              <a:t>suboptimal</a:t>
            </a:r>
            <a:r>
              <a:rPr lang="es-MX" dirty="0"/>
              <a:t> AB </a:t>
            </a:r>
            <a:r>
              <a:rPr lang="es-MX" dirty="0" err="1"/>
              <a:t>options</a:t>
            </a:r>
            <a:r>
              <a:rPr lang="es-MX" dirty="0"/>
              <a:t>, </a:t>
            </a:r>
            <a:r>
              <a:rPr lang="es-MX" dirty="0" err="1"/>
              <a:t>experience</a:t>
            </a:r>
            <a:r>
              <a:rPr lang="es-MX" dirty="0"/>
              <a:t> </a:t>
            </a:r>
            <a:r>
              <a:rPr lang="es-MX" dirty="0" err="1"/>
              <a:t>disutility</a:t>
            </a:r>
            <a:r>
              <a:rPr lang="es-MX" dirty="0"/>
              <a:t> </a:t>
            </a:r>
            <a:r>
              <a:rPr lang="es-MX" dirty="0" err="1"/>
              <a:t>during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testing</a:t>
            </a:r>
            <a:r>
              <a:rPr lang="es-MX" dirty="0"/>
              <a:t>/</a:t>
            </a:r>
            <a:r>
              <a:rPr lang="es-MX" dirty="0" err="1"/>
              <a:t>exploratory</a:t>
            </a:r>
            <a:r>
              <a:rPr lang="es-MX" dirty="0"/>
              <a:t> </a:t>
            </a:r>
            <a:r>
              <a:rPr lang="es-MX" dirty="0" err="1"/>
              <a:t>period</a:t>
            </a:r>
            <a:r>
              <a:rPr lang="es-MX" dirty="0"/>
              <a:t> (</a:t>
            </a:r>
            <a:r>
              <a:rPr lang="es-MX" dirty="0" err="1"/>
              <a:t>regret</a:t>
            </a:r>
            <a:r>
              <a:rPr lang="es-MX" dirty="0"/>
              <a:t> in Gorman </a:t>
            </a:r>
            <a:r>
              <a:rPr lang="es-MX" dirty="0" err="1"/>
              <a:t>terms</a:t>
            </a:r>
            <a:r>
              <a:rPr lang="es-MX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08613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5056D-21C0-3A7C-F0AF-E81799189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7BBB48-1DC5-F321-46E9-0B8E69BB60BD}"/>
              </a:ext>
            </a:extLst>
          </p:cNvPr>
          <p:cNvSpPr txBox="1"/>
          <p:nvPr/>
        </p:nvSpPr>
        <p:spPr>
          <a:xfrm>
            <a:off x="321003" y="708660"/>
            <a:ext cx="4193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/>
              <a:t>A </a:t>
            </a:r>
            <a:r>
              <a:rPr lang="es-MX" sz="2400" dirty="0" err="1"/>
              <a:t>reflection</a:t>
            </a:r>
            <a:r>
              <a:rPr lang="es-MX" sz="2400" dirty="0"/>
              <a:t> </a:t>
            </a:r>
            <a:r>
              <a:rPr lang="es-MX" sz="2400" dirty="0" err="1"/>
              <a:t>about</a:t>
            </a:r>
            <a:r>
              <a:rPr lang="es-MX" sz="2400" dirty="0"/>
              <a:t> AB </a:t>
            </a:r>
            <a:r>
              <a:rPr lang="es-MX" sz="2400" dirty="0" err="1"/>
              <a:t>tests</a:t>
            </a:r>
            <a:endParaRPr lang="es-MX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818233-2D36-9A8F-AD32-183048DE6B25}"/>
              </a:ext>
            </a:extLst>
          </p:cNvPr>
          <p:cNvSpPr txBox="1"/>
          <p:nvPr/>
        </p:nvSpPr>
        <p:spPr>
          <a:xfrm>
            <a:off x="8059346" y="1757809"/>
            <a:ext cx="389643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AB </a:t>
            </a:r>
            <a:r>
              <a:rPr lang="es-MX" dirty="0" err="1"/>
              <a:t>tests</a:t>
            </a:r>
            <a:r>
              <a:rPr lang="es-MX" dirty="0"/>
              <a:t> can be </a:t>
            </a:r>
            <a:r>
              <a:rPr lang="es-MX" dirty="0" err="1"/>
              <a:t>dynamic</a:t>
            </a:r>
            <a:r>
              <a:rPr lang="es-MX" dirty="0"/>
              <a:t>:</a:t>
            </a:r>
          </a:p>
          <a:p>
            <a:endParaRPr lang="es-MX" dirty="0"/>
          </a:p>
          <a:p>
            <a:r>
              <a:rPr lang="es-MX" dirty="0" err="1"/>
              <a:t>One</a:t>
            </a:r>
            <a:r>
              <a:rPr lang="es-MX" dirty="0"/>
              <a:t> </a:t>
            </a:r>
            <a:r>
              <a:rPr lang="es-MX" dirty="0" err="1"/>
              <a:t>could</a:t>
            </a:r>
            <a:r>
              <a:rPr lang="es-MX" dirty="0"/>
              <a:t> </a:t>
            </a:r>
            <a:r>
              <a:rPr lang="es-MX" dirty="0" err="1"/>
              <a:t>adaptably</a:t>
            </a:r>
            <a:r>
              <a:rPr lang="es-MX" dirty="0"/>
              <a:t> </a:t>
            </a:r>
            <a:r>
              <a:rPr lang="es-MX" dirty="0" err="1"/>
              <a:t>move</a:t>
            </a:r>
            <a:r>
              <a:rPr lang="es-MX" dirty="0"/>
              <a:t> </a:t>
            </a:r>
            <a:r>
              <a:rPr lang="es-MX" dirty="0" err="1"/>
              <a:t>some</a:t>
            </a:r>
            <a:r>
              <a:rPr lang="es-MX" dirty="0"/>
              <a:t> </a:t>
            </a:r>
            <a:r>
              <a:rPr lang="es-MX" dirty="0" err="1"/>
              <a:t>users</a:t>
            </a:r>
            <a:r>
              <a:rPr lang="es-MX" dirty="0"/>
              <a:t> </a:t>
            </a:r>
            <a:r>
              <a:rPr lang="es-MX" dirty="0" err="1"/>
              <a:t>to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best</a:t>
            </a:r>
            <a:r>
              <a:rPr lang="es-MX" dirty="0"/>
              <a:t> </a:t>
            </a:r>
            <a:r>
              <a:rPr lang="es-MX" dirty="0" err="1"/>
              <a:t>option</a:t>
            </a:r>
            <a:r>
              <a:rPr lang="es-MX" dirty="0"/>
              <a:t> so </a:t>
            </a:r>
            <a:r>
              <a:rPr lang="es-MX" dirty="0" err="1"/>
              <a:t>far</a:t>
            </a:r>
            <a:r>
              <a:rPr lang="es-MX" dirty="0"/>
              <a:t>, and reduce </a:t>
            </a:r>
            <a:r>
              <a:rPr lang="es-MX" dirty="0" err="1"/>
              <a:t>disutility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</a:t>
            </a:r>
            <a:r>
              <a:rPr lang="es-MX" dirty="0" err="1"/>
              <a:t>customers</a:t>
            </a:r>
            <a:r>
              <a:rPr lang="es-MX" dirty="0"/>
              <a:t> </a:t>
            </a:r>
            <a:r>
              <a:rPr lang="es-MX" dirty="0" err="1"/>
              <a:t>during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testing</a:t>
            </a:r>
            <a:r>
              <a:rPr lang="es-MX" dirty="0"/>
              <a:t> </a:t>
            </a:r>
            <a:r>
              <a:rPr lang="es-MX" dirty="0" err="1"/>
              <a:t>period</a:t>
            </a:r>
            <a:r>
              <a:rPr lang="es-MX" dirty="0"/>
              <a:t>.</a:t>
            </a:r>
          </a:p>
          <a:p>
            <a:endParaRPr lang="es-MX" dirty="0"/>
          </a:p>
          <a:p>
            <a:r>
              <a:rPr lang="es-MX" dirty="0"/>
              <a:t>Netflix,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instance</a:t>
            </a:r>
            <a:r>
              <a:rPr lang="es-MX" dirty="0"/>
              <a:t>, has </a:t>
            </a:r>
            <a:r>
              <a:rPr lang="es-MX" dirty="0" err="1"/>
              <a:t>used</a:t>
            </a:r>
            <a:r>
              <a:rPr lang="es-MX" dirty="0"/>
              <a:t> </a:t>
            </a:r>
            <a:r>
              <a:rPr lang="es-MX" dirty="0" err="1"/>
              <a:t>reinforced</a:t>
            </a:r>
            <a:r>
              <a:rPr lang="es-MX" dirty="0"/>
              <a:t> </a:t>
            </a:r>
            <a:r>
              <a:rPr lang="es-MX" dirty="0" err="1"/>
              <a:t>learning</a:t>
            </a:r>
            <a:r>
              <a:rPr lang="es-MX" dirty="0"/>
              <a:t> </a:t>
            </a:r>
            <a:r>
              <a:rPr lang="es-MX" dirty="0" err="1"/>
              <a:t>to</a:t>
            </a:r>
            <a:r>
              <a:rPr lang="es-MX" dirty="0"/>
              <a:t> do adaptable AB </a:t>
            </a:r>
            <a:r>
              <a:rPr lang="es-MX" dirty="0" err="1"/>
              <a:t>tests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their</a:t>
            </a:r>
            <a:r>
              <a:rPr lang="es-MX" dirty="0"/>
              <a:t> </a:t>
            </a:r>
            <a:r>
              <a:rPr lang="es-MX" dirty="0" err="1"/>
              <a:t>content</a:t>
            </a:r>
            <a:r>
              <a:rPr lang="es-MX" dirty="0"/>
              <a:t> </a:t>
            </a:r>
            <a:r>
              <a:rPr lang="es-MX" dirty="0" err="1"/>
              <a:t>recommendations</a:t>
            </a:r>
            <a:r>
              <a:rPr lang="es-MX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42DEB6-2E1D-FC5B-578C-3206BE0887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6163"/>
            <a:ext cx="7978140" cy="358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5994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8B4743-A8B0-D0AE-3A9F-BF02C0ECE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7F5D751-A79A-CC86-C893-861A7E494F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24E4EA0E-F122-2CA3-E664-0A832E40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F9182C62-DA27-21D5-98DD-58BBC1DA0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45C0596-9A7E-B627-2330-C75665D616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9361F67-4646-87F4-BA41-70808F827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59C228E0-43C6-7257-55E9-F5ED5839A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4D53AA38-9000-B08B-F40A-CD1CDC6D9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C653973-FC71-FDD4-8B17-02BD12B09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90" name="Rectangle 89">
            <a:extLst>
              <a:ext uri="{FF2B5EF4-FFF2-40B4-BE49-F238E27FC236}">
                <a16:creationId xmlns:a16="http://schemas.microsoft.com/office/drawing/2014/main" id="{CF79FC10-FBAD-B749-D6A6-665A42345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Stones balancing on a wood">
            <a:extLst>
              <a:ext uri="{FF2B5EF4-FFF2-40B4-BE49-F238E27FC236}">
                <a16:creationId xmlns:a16="http://schemas.microsoft.com/office/drawing/2014/main" id="{DFEAABB4-ADED-D3BC-60D2-022B0C793F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3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92" name="Rectangle 91">
            <a:extLst>
              <a:ext uri="{FF2B5EF4-FFF2-40B4-BE49-F238E27FC236}">
                <a16:creationId xmlns:a16="http://schemas.microsoft.com/office/drawing/2014/main" id="{73E07B4C-DDF9-710E-2D65-4F066A5FC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360" y="0"/>
            <a:ext cx="8168639" cy="6858000"/>
          </a:xfrm>
          <a:prstGeom prst="rect">
            <a:avLst/>
          </a:prstGeom>
          <a:gradFill>
            <a:gsLst>
              <a:gs pos="58000">
                <a:schemeClr val="tx1">
                  <a:alpha val="55000"/>
                </a:schemeClr>
              </a:gs>
              <a:gs pos="33000">
                <a:schemeClr val="tx1">
                  <a:alpha val="40000"/>
                </a:schemeClr>
              </a:gs>
              <a:gs pos="3000">
                <a:schemeClr val="tx1">
                  <a:alpha val="0"/>
                </a:schemeClr>
              </a:gs>
              <a:gs pos="100000">
                <a:schemeClr val="tx1">
                  <a:alpha val="5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8EC3F3-07D2-5D31-941E-49815673129F}"/>
              </a:ext>
            </a:extLst>
          </p:cNvPr>
          <p:cNvSpPr txBox="1"/>
          <p:nvPr/>
        </p:nvSpPr>
        <p:spPr>
          <a:xfrm>
            <a:off x="6095999" y="1346268"/>
            <a:ext cx="5618431" cy="3285207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rPr>
              <a:t>Discrete Choice Experiment</a:t>
            </a:r>
          </a:p>
        </p:txBody>
      </p:sp>
    </p:spTree>
    <p:extLst>
      <p:ext uri="{BB962C8B-B14F-4D97-AF65-F5344CB8AC3E}">
        <p14:creationId xmlns:p14="http://schemas.microsoft.com/office/powerpoint/2010/main" val="25283815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3DF5FD-B4F0-D274-B19B-0FA28746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4BBA999-7799-1CE3-3000-4F96BF18F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754124-E5FF-0B56-2C8A-8044474386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2" name="Picture 1" descr="A logo for a restaurant&#10;&#10;AI-generated content may be incorrect.">
            <a:extLst>
              <a:ext uri="{FF2B5EF4-FFF2-40B4-BE49-F238E27FC236}">
                <a16:creationId xmlns:a16="http://schemas.microsoft.com/office/drawing/2014/main" id="{CFC8E893-15AC-9C2E-BE8E-C70597EF3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76" r="1" b="3481"/>
          <a:stretch>
            <a:fillRect/>
          </a:stretch>
        </p:blipFill>
        <p:spPr>
          <a:xfrm>
            <a:off x="20" y="10"/>
            <a:ext cx="9947062" cy="685799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4E22CFD-A28A-4094-0375-359BFB39B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373ACBC8-4AB8-A31C-7A11-5EACC466E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1834" y="0"/>
            <a:ext cx="4980168" cy="6858000"/>
          </a:xfrm>
          <a:custGeom>
            <a:avLst/>
            <a:gdLst>
              <a:gd name="connsiteX0" fmla="*/ 1623023 w 4901771"/>
              <a:gd name="connsiteY0" fmla="*/ 0 h 6858000"/>
              <a:gd name="connsiteX1" fmla="*/ 2716256 w 4901771"/>
              <a:gd name="connsiteY1" fmla="*/ 0 h 6858000"/>
              <a:gd name="connsiteX2" fmla="*/ 3496422 w 4901771"/>
              <a:gd name="connsiteY2" fmla="*/ 0 h 6858000"/>
              <a:gd name="connsiteX3" fmla="*/ 4544484 w 4901771"/>
              <a:gd name="connsiteY3" fmla="*/ 0 h 6858000"/>
              <a:gd name="connsiteX4" fmla="*/ 4710787 w 4901771"/>
              <a:gd name="connsiteY4" fmla="*/ 0 h 6858000"/>
              <a:gd name="connsiteX5" fmla="*/ 4901771 w 4901771"/>
              <a:gd name="connsiteY5" fmla="*/ 0 h 6858000"/>
              <a:gd name="connsiteX6" fmla="*/ 4901771 w 4901771"/>
              <a:gd name="connsiteY6" fmla="*/ 6858000 h 6858000"/>
              <a:gd name="connsiteX7" fmla="*/ 4710787 w 4901771"/>
              <a:gd name="connsiteY7" fmla="*/ 6858000 h 6858000"/>
              <a:gd name="connsiteX8" fmla="*/ 4544484 w 4901771"/>
              <a:gd name="connsiteY8" fmla="*/ 6858000 h 6858000"/>
              <a:gd name="connsiteX9" fmla="*/ 3496422 w 4901771"/>
              <a:gd name="connsiteY9" fmla="*/ 6858000 h 6858000"/>
              <a:gd name="connsiteX10" fmla="*/ 2716256 w 4901771"/>
              <a:gd name="connsiteY10" fmla="*/ 6858000 h 6858000"/>
              <a:gd name="connsiteX11" fmla="*/ 2502754 w 4901771"/>
              <a:gd name="connsiteY11" fmla="*/ 6858000 h 6858000"/>
              <a:gd name="connsiteX12" fmla="*/ 2390998 w 4901771"/>
              <a:gd name="connsiteY12" fmla="*/ 6780599 h 6858000"/>
              <a:gd name="connsiteX13" fmla="*/ 1874350 w 4901771"/>
              <a:gd name="connsiteY13" fmla="*/ 6374814 h 6858000"/>
              <a:gd name="connsiteX14" fmla="*/ 0 w 4901771"/>
              <a:gd name="connsiteY14" fmla="*/ 3621656 h 6858000"/>
              <a:gd name="connsiteX15" fmla="*/ 1600899 w 4901771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9188EBC-099F-206E-277E-CD3651DDE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9701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9E2CF9-6388-6BD0-6A66-D7DCD46E32DA}"/>
              </a:ext>
            </a:extLst>
          </p:cNvPr>
          <p:cNvSpPr txBox="1"/>
          <p:nvPr/>
        </p:nvSpPr>
        <p:spPr>
          <a:xfrm>
            <a:off x="7463791" y="2350107"/>
            <a:ext cx="4728210" cy="1616103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15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Meiryo"/>
                <a:ea typeface="+mn-ea"/>
                <a:cs typeface="+mn-cs"/>
              </a:rPr>
              <a:t>Santa Fe hired an advertising and marketing company to evaluate consumer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3818012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577485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5C54A75-E44A-4147-B9D0-FF46CFD31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54925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Baking ingredients on a table">
            <a:extLst>
              <a:ext uri="{FF2B5EF4-FFF2-40B4-BE49-F238E27FC236}">
                <a16:creationId xmlns:a16="http://schemas.microsoft.com/office/drawing/2014/main" id="{47757D13-4C09-E49F-B5C6-C2E93B4C05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281" r="1168" b="-1"/>
          <a:stretch>
            <a:fillRect/>
          </a:stretch>
        </p:blipFill>
        <p:spPr>
          <a:xfrm>
            <a:off x="7203882" y="10"/>
            <a:ext cx="4988118" cy="6857990"/>
          </a:xfrm>
          <a:custGeom>
            <a:avLst/>
            <a:gdLst/>
            <a:ahLst/>
            <a:cxnLst/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DC679FA-B3B4-F77B-0449-81AD20E4CDAE}"/>
              </a:ext>
            </a:extLst>
          </p:cNvPr>
          <p:cNvSpPr txBox="1"/>
          <p:nvPr/>
        </p:nvSpPr>
        <p:spPr>
          <a:xfrm>
            <a:off x="2396596" y="2176009"/>
            <a:ext cx="298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dirty="0" err="1"/>
              <a:t>Menu</a:t>
            </a:r>
            <a:r>
              <a:rPr lang="es-MX" sz="2400" dirty="0"/>
              <a:t> </a:t>
            </a:r>
            <a:r>
              <a:rPr lang="es-MX" sz="2400" dirty="0" err="1"/>
              <a:t>Size</a:t>
            </a:r>
            <a:endParaRPr lang="es-MX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dirty="0" err="1"/>
              <a:t>Location</a:t>
            </a:r>
            <a:endParaRPr lang="es-MX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dirty="0"/>
              <a:t>Restaurant </a:t>
            </a:r>
            <a:r>
              <a:rPr lang="es-MX" sz="2400" dirty="0" err="1"/>
              <a:t>Size</a:t>
            </a:r>
            <a:endParaRPr lang="es-MX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dirty="0"/>
              <a:t>Price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8DDF-EB63-6CC6-465C-94997F5C0A56}"/>
              </a:ext>
            </a:extLst>
          </p:cNvPr>
          <p:cNvSpPr txBox="1"/>
          <p:nvPr/>
        </p:nvSpPr>
        <p:spPr>
          <a:xfrm>
            <a:off x="162211" y="567886"/>
            <a:ext cx="66396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 err="1"/>
              <a:t>What</a:t>
            </a:r>
            <a:r>
              <a:rPr lang="es-MX" sz="2800" dirty="0"/>
              <a:t> mixture </a:t>
            </a:r>
            <a:r>
              <a:rPr lang="es-MX" sz="2800" dirty="0" err="1"/>
              <a:t>of</a:t>
            </a:r>
            <a:r>
              <a:rPr lang="es-MX" sz="2800" dirty="0"/>
              <a:t> </a:t>
            </a:r>
            <a:r>
              <a:rPr lang="es-MX" sz="2800" dirty="0" err="1"/>
              <a:t>features</a:t>
            </a:r>
            <a:r>
              <a:rPr lang="es-MX" sz="2800" dirty="0"/>
              <a:t> Santa Fe </a:t>
            </a:r>
            <a:r>
              <a:rPr lang="es-MX" sz="2800" dirty="0" err="1"/>
              <a:t>clients</a:t>
            </a:r>
            <a:r>
              <a:rPr lang="es-MX" sz="2800" dirty="0"/>
              <a:t> </a:t>
            </a:r>
            <a:r>
              <a:rPr lang="es-MX" sz="2800" dirty="0" err="1"/>
              <a:t>value</a:t>
            </a:r>
            <a:r>
              <a:rPr lang="es-MX" sz="2800" dirty="0"/>
              <a:t> more?</a:t>
            </a:r>
          </a:p>
        </p:txBody>
      </p:sp>
    </p:spTree>
    <p:extLst>
      <p:ext uri="{BB962C8B-B14F-4D97-AF65-F5344CB8AC3E}">
        <p14:creationId xmlns:p14="http://schemas.microsoft.com/office/powerpoint/2010/main" val="2494639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A3F6CF-E786-450A-BD3C-392903E69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09" y="892810"/>
            <a:ext cx="10376906" cy="5072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3DC350-EA74-6EC2-59C0-291C381A5BF3}"/>
              </a:ext>
            </a:extLst>
          </p:cNvPr>
          <p:cNvSpPr txBox="1"/>
          <p:nvPr/>
        </p:nvSpPr>
        <p:spPr>
          <a:xfrm>
            <a:off x="91440" y="240030"/>
            <a:ext cx="11792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 err="1"/>
              <a:t>Each</a:t>
            </a:r>
            <a:r>
              <a:rPr lang="es-MX" sz="2400" dirty="0"/>
              <a:t> </a:t>
            </a:r>
            <a:r>
              <a:rPr lang="es-MX" sz="2400" dirty="0" err="1"/>
              <a:t>respondant</a:t>
            </a:r>
            <a:r>
              <a:rPr lang="es-MX" sz="2400" dirty="0"/>
              <a:t> (n=200) </a:t>
            </a:r>
            <a:r>
              <a:rPr lang="es-MX" sz="2400" dirty="0" err="1"/>
              <a:t>answers</a:t>
            </a:r>
            <a:r>
              <a:rPr lang="es-MX" sz="2400" dirty="0"/>
              <a:t> </a:t>
            </a:r>
            <a:r>
              <a:rPr lang="es-MX" sz="2400" dirty="0" err="1"/>
              <a:t>this</a:t>
            </a:r>
            <a:r>
              <a:rPr lang="es-MX" sz="2400" dirty="0"/>
              <a:t> ten times </a:t>
            </a:r>
            <a:r>
              <a:rPr lang="es-MX" sz="2400" dirty="0" err="1"/>
              <a:t>with</a:t>
            </a:r>
            <a:r>
              <a:rPr lang="es-MX" sz="2400" dirty="0"/>
              <a:t> </a:t>
            </a:r>
            <a:r>
              <a:rPr lang="es-MX" sz="2400" dirty="0" err="1"/>
              <a:t>different</a:t>
            </a:r>
            <a:r>
              <a:rPr lang="es-MX" sz="2400" dirty="0"/>
              <a:t> </a:t>
            </a:r>
            <a:r>
              <a:rPr lang="es-MX" sz="2400" dirty="0" err="1"/>
              <a:t>combinations</a:t>
            </a:r>
            <a:endParaRPr lang="es-MX" sz="2400" dirty="0"/>
          </a:p>
        </p:txBody>
      </p:sp>
    </p:spTree>
    <p:extLst>
      <p:ext uri="{BB962C8B-B14F-4D97-AF65-F5344CB8AC3E}">
        <p14:creationId xmlns:p14="http://schemas.microsoft.com/office/powerpoint/2010/main" val="41680728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049DCF-2556-CDE8-8BB7-02F6929600B0}"/>
                  </a:ext>
                </a:extLst>
              </p:cNvPr>
              <p:cNvSpPr txBox="1"/>
              <p:nvPr/>
            </p:nvSpPr>
            <p:spPr>
              <a:xfrm>
                <a:off x="4109084" y="2645575"/>
                <a:ext cx="3563989" cy="10367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400" b="0" i="1" smtClean="0">
                          <a:latin typeface="Cambria Math" panose="02040503050406030204" pitchFamily="18" charset="0"/>
                        </a:rPr>
                        <m:t>𝑈𝑡𝑖𝑙𝑖𝑡</m:t>
                      </m:r>
                      <m:sSub>
                        <m:sSubPr>
                          <m:ctrlPr>
                            <a:rPr lang="es-MX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MX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s-MX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  <m:e>
                          <m:sSub>
                            <m:sSubPr>
                              <m:ctrlP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𝐹𝑒𝑎𝑡𝑢𝑟</m:t>
                          </m:r>
                          <m:sSub>
                            <m:sSubPr>
                              <m:ctrlP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MX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049DCF-2556-CDE8-8BB7-02F692960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9084" y="2645575"/>
                <a:ext cx="3563989" cy="10367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2ADF483-EFB6-EC75-B435-D0005919C3F7}"/>
              </a:ext>
            </a:extLst>
          </p:cNvPr>
          <p:cNvSpPr txBox="1"/>
          <p:nvPr/>
        </p:nvSpPr>
        <p:spPr>
          <a:xfrm>
            <a:off x="205740" y="616749"/>
            <a:ext cx="119862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Discrete </a:t>
            </a:r>
            <a:r>
              <a:rPr lang="es-MX" sz="2400" dirty="0" err="1"/>
              <a:t>choice</a:t>
            </a:r>
            <a:r>
              <a:rPr lang="es-MX" sz="2400" dirty="0"/>
              <a:t> </a:t>
            </a:r>
            <a:r>
              <a:rPr lang="es-MX" sz="2400" dirty="0" err="1"/>
              <a:t>model</a:t>
            </a:r>
            <a:r>
              <a:rPr lang="es-MX" sz="2400" dirty="0"/>
              <a:t>:</a:t>
            </a:r>
          </a:p>
          <a:p>
            <a:endParaRPr lang="es-MX" sz="2400" dirty="0"/>
          </a:p>
          <a:p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utility</a:t>
            </a:r>
            <a:r>
              <a:rPr lang="es-MX" sz="2400" dirty="0"/>
              <a:t> </a:t>
            </a:r>
            <a:r>
              <a:rPr lang="es-MX" sz="2400" dirty="0" err="1"/>
              <a:t>of</a:t>
            </a:r>
            <a:r>
              <a:rPr lang="es-MX" sz="2400" dirty="0"/>
              <a:t> a particular </a:t>
            </a:r>
            <a:r>
              <a:rPr lang="es-MX" sz="2400" dirty="0" err="1"/>
              <a:t>option</a:t>
            </a:r>
            <a:r>
              <a:rPr lang="es-MX" sz="2400" dirty="0"/>
              <a:t> i </a:t>
            </a:r>
            <a:r>
              <a:rPr lang="es-MX" sz="2400" dirty="0" err="1"/>
              <a:t>is</a:t>
            </a:r>
            <a:r>
              <a:rPr lang="es-MX" sz="2400" dirty="0"/>
              <a:t> a </a:t>
            </a:r>
            <a:r>
              <a:rPr lang="es-MX" sz="2400" dirty="0" err="1"/>
              <a:t>weighted</a:t>
            </a:r>
            <a:r>
              <a:rPr lang="es-MX" sz="2400" dirty="0"/>
              <a:t> sum </a:t>
            </a:r>
            <a:r>
              <a:rPr lang="es-MX" sz="2400" dirty="0" err="1"/>
              <a:t>of</a:t>
            </a:r>
            <a:r>
              <a:rPr lang="es-MX" sz="2400" dirty="0"/>
              <a:t> </a:t>
            </a:r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value</a:t>
            </a:r>
            <a:r>
              <a:rPr lang="es-MX" sz="2400" dirty="0"/>
              <a:t> </a:t>
            </a:r>
            <a:r>
              <a:rPr lang="es-MX" sz="2400" dirty="0" err="1"/>
              <a:t>of</a:t>
            </a:r>
            <a:r>
              <a:rPr lang="es-MX" sz="2400" dirty="0"/>
              <a:t> </a:t>
            </a:r>
            <a:r>
              <a:rPr lang="es-MX" sz="2400" dirty="0" err="1"/>
              <a:t>the</a:t>
            </a:r>
            <a:r>
              <a:rPr lang="es-MX" sz="2400" dirty="0"/>
              <a:t> k </a:t>
            </a:r>
            <a:r>
              <a:rPr lang="es-MX" sz="2400" dirty="0" err="1"/>
              <a:t>features</a:t>
            </a:r>
            <a:r>
              <a:rPr lang="es-MX" sz="2400" dirty="0"/>
              <a:t> </a:t>
            </a:r>
            <a:r>
              <a:rPr lang="es-MX" sz="2400" dirty="0" err="1"/>
              <a:t>available</a:t>
            </a:r>
            <a:r>
              <a:rPr lang="es-MX" sz="2400" dirty="0"/>
              <a:t> in </a:t>
            </a:r>
            <a:r>
              <a:rPr lang="es-MX" sz="2400" dirty="0" err="1"/>
              <a:t>that</a:t>
            </a:r>
            <a:r>
              <a:rPr lang="es-MX" sz="2400" dirty="0"/>
              <a:t> </a:t>
            </a:r>
            <a:r>
              <a:rPr lang="es-MX" sz="2400" dirty="0" err="1"/>
              <a:t>option</a:t>
            </a:r>
            <a:r>
              <a:rPr lang="es-MX" sz="24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9A51CB-96FF-3601-E9E4-94FB3EB76A03}"/>
                  </a:ext>
                </a:extLst>
              </p:cNvPr>
              <p:cNvSpPr txBox="1"/>
              <p:nvPr/>
            </p:nvSpPr>
            <p:spPr>
              <a:xfrm>
                <a:off x="4413944" y="4926330"/>
                <a:ext cx="3000693" cy="8472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s-MX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s-MX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s-MX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s-MX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MX" sz="2400" b="0" i="1" smtClean="0">
                                      <a:latin typeface="Cambria Math" panose="02040503050406030204" pitchFamily="18" charset="0"/>
                                    </a:rPr>
                                    <m:t>𝑈𝑡𝑖𝑙𝑖𝑡𝑦</m:t>
                                  </m:r>
                                </m:e>
                                <m:sub>
                                  <m:r>
                                    <a:rPr lang="es-MX" sz="2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MX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MX" sz="24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s-MX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MX" sz="2400" b="0" i="1" smtClean="0">
                                          <a:latin typeface="Cambria Math" panose="02040503050406030204" pitchFamily="18" charset="0"/>
                                        </a:rPr>
                                        <m:t>𝑈𝑡𝑖𝑙𝑖𝑡𝑦</m:t>
                                      </m:r>
                                    </m:e>
                                    <m:sub>
                                      <m:r>
                                        <a:rPr lang="es-MX" sz="2400" b="0" i="1" smtClean="0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s-MX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9A51CB-96FF-3601-E9E4-94FB3EB76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3944" y="4926330"/>
                <a:ext cx="3000693" cy="8472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D09BE87-CDE7-D83F-A4B2-773B6C5FA58A}"/>
              </a:ext>
            </a:extLst>
          </p:cNvPr>
          <p:cNvSpPr txBox="1"/>
          <p:nvPr/>
        </p:nvSpPr>
        <p:spPr>
          <a:xfrm>
            <a:off x="488632" y="4141500"/>
            <a:ext cx="109070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prob</a:t>
            </a:r>
            <a:r>
              <a:rPr lang="es-MX" sz="2400" dirty="0"/>
              <a:t>. </a:t>
            </a:r>
            <a:r>
              <a:rPr lang="es-MX" sz="2400" dirty="0" err="1"/>
              <a:t>of</a:t>
            </a:r>
            <a:r>
              <a:rPr lang="es-MX" sz="2400" dirty="0"/>
              <a:t> </a:t>
            </a:r>
            <a:r>
              <a:rPr lang="es-MX" sz="2400" dirty="0" err="1"/>
              <a:t>choosing</a:t>
            </a:r>
            <a:r>
              <a:rPr lang="es-MX" sz="2400" dirty="0"/>
              <a:t> </a:t>
            </a:r>
            <a:r>
              <a:rPr lang="es-MX" sz="2400" dirty="0" err="1"/>
              <a:t>option</a:t>
            </a:r>
            <a:r>
              <a:rPr lang="es-MX" sz="2400" dirty="0"/>
              <a:t> i </a:t>
            </a:r>
            <a:r>
              <a:rPr lang="es-MX" sz="2400" dirty="0" err="1"/>
              <a:t>depends</a:t>
            </a:r>
            <a:r>
              <a:rPr lang="es-MX" sz="2400" dirty="0"/>
              <a:t> </a:t>
            </a:r>
            <a:r>
              <a:rPr lang="es-MX" sz="2400" dirty="0" err="1"/>
              <a:t>on</a:t>
            </a:r>
            <a:r>
              <a:rPr lang="es-MX" sz="2400" dirty="0"/>
              <a:t> </a:t>
            </a:r>
            <a:r>
              <a:rPr lang="es-MX" sz="2400" dirty="0" err="1"/>
              <a:t>its</a:t>
            </a:r>
            <a:r>
              <a:rPr lang="es-MX" sz="2400" dirty="0"/>
              <a:t> </a:t>
            </a:r>
            <a:r>
              <a:rPr lang="es-MX" sz="2400" dirty="0" err="1"/>
              <a:t>utility</a:t>
            </a:r>
            <a:r>
              <a:rPr lang="es-MX" sz="2400" dirty="0"/>
              <a:t> relative </a:t>
            </a:r>
            <a:r>
              <a:rPr lang="es-MX" sz="2400" dirty="0" err="1"/>
              <a:t>to</a:t>
            </a:r>
            <a:r>
              <a:rPr lang="es-MX" sz="2400" dirty="0"/>
              <a:t> </a:t>
            </a:r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utility</a:t>
            </a:r>
            <a:r>
              <a:rPr lang="es-MX" sz="2400" dirty="0"/>
              <a:t> </a:t>
            </a:r>
            <a:r>
              <a:rPr lang="es-MX" sz="2400" dirty="0" err="1"/>
              <a:t>of</a:t>
            </a:r>
            <a:r>
              <a:rPr lang="es-MX" sz="2400" dirty="0"/>
              <a:t> </a:t>
            </a:r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other</a:t>
            </a:r>
            <a:r>
              <a:rPr lang="es-MX" sz="2400" dirty="0"/>
              <a:t> </a:t>
            </a:r>
            <a:r>
              <a:rPr lang="es-MX" sz="2400" dirty="0" err="1"/>
              <a:t>options</a:t>
            </a:r>
            <a:r>
              <a:rPr lang="es-MX" sz="2400" dirty="0"/>
              <a:t> o:</a:t>
            </a:r>
          </a:p>
        </p:txBody>
      </p:sp>
    </p:spTree>
    <p:extLst>
      <p:ext uri="{BB962C8B-B14F-4D97-AF65-F5344CB8AC3E}">
        <p14:creationId xmlns:p14="http://schemas.microsoft.com/office/powerpoint/2010/main" val="38087336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AC8EEB0F-BA72-49AC-956F-331B60FDE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Vibrant multicolor checkered floor design">
            <a:extLst>
              <a:ext uri="{FF2B5EF4-FFF2-40B4-BE49-F238E27FC236}">
                <a16:creationId xmlns:a16="http://schemas.microsoft.com/office/drawing/2014/main" id="{9B555F22-D7D1-A2BF-AA6C-F86A053D58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005" r="-1" b="1640"/>
          <a:stretch>
            <a:fillRect/>
          </a:stretch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28A581D-1BC9-4759-AB42-F7685630E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52" y="3260035"/>
            <a:ext cx="5959692" cy="3597965"/>
          </a:xfrm>
          <a:custGeom>
            <a:avLst/>
            <a:gdLst>
              <a:gd name="connsiteX0" fmla="*/ 3008109 w 5959692"/>
              <a:gd name="connsiteY0" fmla="*/ 42 h 3560169"/>
              <a:gd name="connsiteX1" fmla="*/ 4702247 w 5959692"/>
              <a:gd name="connsiteY1" fmla="*/ 626282 h 3560169"/>
              <a:gd name="connsiteX2" fmla="*/ 5069411 w 5959692"/>
              <a:gd name="connsiteY2" fmla="*/ 865826 h 3560169"/>
              <a:gd name="connsiteX3" fmla="*/ 5895906 w 5959692"/>
              <a:gd name="connsiteY3" fmla="*/ 1594994 h 3560169"/>
              <a:gd name="connsiteX4" fmla="*/ 5959691 w 5959692"/>
              <a:gd name="connsiteY4" fmla="*/ 1728783 h 3560169"/>
              <a:gd name="connsiteX5" fmla="*/ 5959692 w 5959692"/>
              <a:gd name="connsiteY5" fmla="*/ 3560169 h 3560169"/>
              <a:gd name="connsiteX6" fmla="*/ 635 w 5959692"/>
              <a:gd name="connsiteY6" fmla="*/ 3560169 h 3560169"/>
              <a:gd name="connsiteX7" fmla="*/ 0 w 5959692"/>
              <a:gd name="connsiteY7" fmla="*/ 3534810 h 3560169"/>
              <a:gd name="connsiteX8" fmla="*/ 56896 w 5959692"/>
              <a:gd name="connsiteY8" fmla="*/ 3142342 h 3560169"/>
              <a:gd name="connsiteX9" fmla="*/ 605568 w 5959692"/>
              <a:gd name="connsiteY9" fmla="*/ 1932853 h 3560169"/>
              <a:gd name="connsiteX10" fmla="*/ 736162 w 5959692"/>
              <a:gd name="connsiteY10" fmla="*/ 1690788 h 3560169"/>
              <a:gd name="connsiteX11" fmla="*/ 2021319 w 5959692"/>
              <a:gd name="connsiteY11" fmla="*/ 209863 h 3560169"/>
              <a:gd name="connsiteX12" fmla="*/ 3008109 w 5959692"/>
              <a:gd name="connsiteY12" fmla="*/ 42 h 3560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959692" h="3560169">
                <a:moveTo>
                  <a:pt x="3008109" y="42"/>
                </a:moveTo>
                <a:cubicBezTo>
                  <a:pt x="3549058" y="3372"/>
                  <a:pt x="4091345" y="208628"/>
                  <a:pt x="4702247" y="626282"/>
                </a:cubicBezTo>
                <a:cubicBezTo>
                  <a:pt x="4830168" y="713755"/>
                  <a:pt x="4951806" y="791097"/>
                  <a:pt x="5069411" y="865826"/>
                </a:cubicBezTo>
                <a:cubicBezTo>
                  <a:pt x="5495976" y="1136988"/>
                  <a:pt x="5734167" y="1298128"/>
                  <a:pt x="5895906" y="1594994"/>
                </a:cubicBezTo>
                <a:lnTo>
                  <a:pt x="5959691" y="1728783"/>
                </a:lnTo>
                <a:lnTo>
                  <a:pt x="5959692" y="3560169"/>
                </a:lnTo>
                <a:lnTo>
                  <a:pt x="635" y="3560169"/>
                </a:lnTo>
                <a:lnTo>
                  <a:pt x="0" y="3534810"/>
                </a:lnTo>
                <a:cubicBezTo>
                  <a:pt x="2402" y="3407978"/>
                  <a:pt x="21463" y="3278501"/>
                  <a:pt x="56896" y="3142342"/>
                </a:cubicBezTo>
                <a:cubicBezTo>
                  <a:pt x="155720" y="2762537"/>
                  <a:pt x="374193" y="2359525"/>
                  <a:pt x="605568" y="1932853"/>
                </a:cubicBezTo>
                <a:cubicBezTo>
                  <a:pt x="648282" y="1854194"/>
                  <a:pt x="692359" y="1772817"/>
                  <a:pt x="736162" y="1690788"/>
                </a:cubicBezTo>
                <a:cubicBezTo>
                  <a:pt x="1128289" y="956620"/>
                  <a:pt x="1429537" y="456850"/>
                  <a:pt x="2021319" y="209863"/>
                </a:cubicBezTo>
                <a:cubicBezTo>
                  <a:pt x="2359453" y="68739"/>
                  <a:pt x="2683541" y="-1956"/>
                  <a:pt x="3008109" y="42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7CE1C1F-C9E2-4C83-BA54-D7BC5D521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52" y="3406833"/>
            <a:ext cx="5724034" cy="3451167"/>
          </a:xfrm>
          <a:custGeom>
            <a:avLst/>
            <a:gdLst>
              <a:gd name="connsiteX0" fmla="*/ 2808622 w 5724034"/>
              <a:gd name="connsiteY0" fmla="*/ 207 h 3451167"/>
              <a:gd name="connsiteX1" fmla="*/ 4400004 w 5724034"/>
              <a:gd name="connsiteY1" fmla="*/ 607462 h 3451167"/>
              <a:gd name="connsiteX2" fmla="*/ 4745277 w 5724034"/>
              <a:gd name="connsiteY2" fmla="*/ 837612 h 3451167"/>
              <a:gd name="connsiteX3" fmla="*/ 5584627 w 5724034"/>
              <a:gd name="connsiteY3" fmla="*/ 1665805 h 3451167"/>
              <a:gd name="connsiteX4" fmla="*/ 5682689 w 5724034"/>
              <a:gd name="connsiteY4" fmla="*/ 1947596 h 3451167"/>
              <a:gd name="connsiteX5" fmla="*/ 5724034 w 5724034"/>
              <a:gd name="connsiteY5" fmla="*/ 2133764 h 3451167"/>
              <a:gd name="connsiteX6" fmla="*/ 5724034 w 5724034"/>
              <a:gd name="connsiteY6" fmla="*/ 3254784 h 3451167"/>
              <a:gd name="connsiteX7" fmla="*/ 5682668 w 5724034"/>
              <a:gd name="connsiteY7" fmla="*/ 3451167 h 3451167"/>
              <a:gd name="connsiteX8" fmla="*/ 3398 w 5724034"/>
              <a:gd name="connsiteY8" fmla="*/ 3451167 h 3451167"/>
              <a:gd name="connsiteX9" fmla="*/ 0 w 5724034"/>
              <a:gd name="connsiteY9" fmla="*/ 3332475 h 3451167"/>
              <a:gd name="connsiteX10" fmla="*/ 51930 w 5724034"/>
              <a:gd name="connsiteY10" fmla="*/ 2960389 h 3451167"/>
              <a:gd name="connsiteX11" fmla="*/ 562146 w 5724034"/>
              <a:gd name="connsiteY11" fmla="*/ 1816544 h 3451167"/>
              <a:gd name="connsiteX12" fmla="*/ 683754 w 5724034"/>
              <a:gd name="connsiteY12" fmla="*/ 1587775 h 3451167"/>
              <a:gd name="connsiteX13" fmla="*/ 1883792 w 5724034"/>
              <a:gd name="connsiteY13" fmla="*/ 191878 h 3451167"/>
              <a:gd name="connsiteX14" fmla="*/ 2808622 w 5724034"/>
              <a:gd name="connsiteY14" fmla="*/ 207 h 3451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724034" h="3451167">
                <a:moveTo>
                  <a:pt x="2808622" y="207"/>
                </a:moveTo>
                <a:cubicBezTo>
                  <a:pt x="3316039" y="7471"/>
                  <a:pt x="3825452" y="206405"/>
                  <a:pt x="4400004" y="607462"/>
                </a:cubicBezTo>
                <a:cubicBezTo>
                  <a:pt x="4520314" y="691458"/>
                  <a:pt x="4634691" y="765791"/>
                  <a:pt x="4745277" y="837612"/>
                </a:cubicBezTo>
                <a:cubicBezTo>
                  <a:pt x="5203686" y="1135457"/>
                  <a:pt x="5430786" y="1295036"/>
                  <a:pt x="5584627" y="1665805"/>
                </a:cubicBezTo>
                <a:cubicBezTo>
                  <a:pt x="5622816" y="1757843"/>
                  <a:pt x="5655511" y="1851832"/>
                  <a:pt x="5682689" y="1947596"/>
                </a:cubicBezTo>
                <a:lnTo>
                  <a:pt x="5724034" y="2133764"/>
                </a:lnTo>
                <a:lnTo>
                  <a:pt x="5724034" y="3254784"/>
                </a:lnTo>
                <a:lnTo>
                  <a:pt x="5682668" y="3451167"/>
                </a:lnTo>
                <a:lnTo>
                  <a:pt x="3398" y="3451167"/>
                </a:lnTo>
                <a:lnTo>
                  <a:pt x="0" y="3332475"/>
                </a:lnTo>
                <a:cubicBezTo>
                  <a:pt x="1789" y="3212109"/>
                  <a:pt x="19193" y="3089357"/>
                  <a:pt x="51930" y="2960389"/>
                </a:cubicBezTo>
                <a:cubicBezTo>
                  <a:pt x="143234" y="2600640"/>
                  <a:pt x="346682" y="2219774"/>
                  <a:pt x="562146" y="1816544"/>
                </a:cubicBezTo>
                <a:cubicBezTo>
                  <a:pt x="601922" y="1742209"/>
                  <a:pt x="642967" y="1665303"/>
                  <a:pt x="683754" y="1587775"/>
                </a:cubicBezTo>
                <a:cubicBezTo>
                  <a:pt x="1048876" y="893902"/>
                  <a:pt x="1329611" y="421821"/>
                  <a:pt x="1883792" y="191878"/>
                </a:cubicBezTo>
                <a:cubicBezTo>
                  <a:pt x="2200442" y="60492"/>
                  <a:pt x="2504173" y="-4151"/>
                  <a:pt x="2808622" y="20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31C0CFE-AC9D-4032-8A9F-36B1BA171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38" y="3568843"/>
            <a:ext cx="5185263" cy="3289157"/>
          </a:xfrm>
          <a:custGeom>
            <a:avLst/>
            <a:gdLst>
              <a:gd name="connsiteX0" fmla="*/ 2789606 w 5185263"/>
              <a:gd name="connsiteY0" fmla="*/ 547 h 3289157"/>
              <a:gd name="connsiteX1" fmla="*/ 3615203 w 5185263"/>
              <a:gd name="connsiteY1" fmla="*/ 212024 h 3289157"/>
              <a:gd name="connsiteX2" fmla="*/ 4640523 w 5185263"/>
              <a:gd name="connsiteY2" fmla="*/ 1554014 h 3289157"/>
              <a:gd name="connsiteX3" fmla="*/ 4740928 w 5185263"/>
              <a:gd name="connsiteY3" fmla="*/ 1771262 h 3289157"/>
              <a:gd name="connsiteX4" fmla="*/ 5154813 w 5185263"/>
              <a:gd name="connsiteY4" fmla="*/ 2853998 h 3289157"/>
              <a:gd name="connsiteX5" fmla="*/ 5185263 w 5185263"/>
              <a:gd name="connsiteY5" fmla="*/ 3088987 h 3289157"/>
              <a:gd name="connsiteX6" fmla="*/ 5179508 w 5185263"/>
              <a:gd name="connsiteY6" fmla="*/ 3289157 h 3289157"/>
              <a:gd name="connsiteX7" fmla="*/ 106551 w 5185263"/>
              <a:gd name="connsiteY7" fmla="*/ 3289157 h 3289157"/>
              <a:gd name="connsiteX8" fmla="*/ 64243 w 5185263"/>
              <a:gd name="connsiteY8" fmla="*/ 3124220 h 3289157"/>
              <a:gd name="connsiteX9" fmla="*/ 275 w 5185263"/>
              <a:gd name="connsiteY9" fmla="*/ 2548847 h 3289157"/>
              <a:gd name="connsiteX10" fmla="*/ 221692 w 5185263"/>
              <a:gd name="connsiteY10" fmla="*/ 1451188 h 3289157"/>
              <a:gd name="connsiteX11" fmla="*/ 1011126 w 5185263"/>
              <a:gd name="connsiteY11" fmla="*/ 710513 h 3289157"/>
              <a:gd name="connsiteX12" fmla="*/ 1331439 w 5185263"/>
              <a:gd name="connsiteY12" fmla="*/ 508693 h 3289157"/>
              <a:gd name="connsiteX13" fmla="*/ 2789606 w 5185263"/>
              <a:gd name="connsiteY13" fmla="*/ 547 h 328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185263" h="3289157">
                <a:moveTo>
                  <a:pt x="2789606" y="547"/>
                </a:moveTo>
                <a:cubicBezTo>
                  <a:pt x="3064091" y="7389"/>
                  <a:pt x="3335164" y="78419"/>
                  <a:pt x="3615203" y="212024"/>
                </a:cubicBezTo>
                <a:cubicBezTo>
                  <a:pt x="4105311" y="445850"/>
                  <a:pt x="4339344" y="895220"/>
                  <a:pt x="4640523" y="1554014"/>
                </a:cubicBezTo>
                <a:cubicBezTo>
                  <a:pt x="4674166" y="1627622"/>
                  <a:pt x="4708067" y="1700661"/>
                  <a:pt x="4740928" y="1771262"/>
                </a:cubicBezTo>
                <a:cubicBezTo>
                  <a:pt x="4918908" y="2154224"/>
                  <a:pt x="5086959" y="2515945"/>
                  <a:pt x="5154813" y="2853998"/>
                </a:cubicBezTo>
                <a:cubicBezTo>
                  <a:pt x="5171032" y="2934791"/>
                  <a:pt x="5181222" y="3012769"/>
                  <a:pt x="5185263" y="3088987"/>
                </a:cubicBezTo>
                <a:lnTo>
                  <a:pt x="5179508" y="3289157"/>
                </a:lnTo>
                <a:lnTo>
                  <a:pt x="106551" y="3289157"/>
                </a:lnTo>
                <a:lnTo>
                  <a:pt x="64243" y="3124220"/>
                </a:lnTo>
                <a:cubicBezTo>
                  <a:pt x="24356" y="2932449"/>
                  <a:pt x="2942" y="2740198"/>
                  <a:pt x="275" y="2548847"/>
                </a:cubicBezTo>
                <a:cubicBezTo>
                  <a:pt x="-5129" y="2157654"/>
                  <a:pt x="69311" y="1788324"/>
                  <a:pt x="221692" y="1451188"/>
                </a:cubicBezTo>
                <a:cubicBezTo>
                  <a:pt x="375157" y="1111655"/>
                  <a:pt x="586167" y="971279"/>
                  <a:pt x="1011126" y="710513"/>
                </a:cubicBezTo>
                <a:cubicBezTo>
                  <a:pt x="1113643" y="647635"/>
                  <a:pt x="1219676" y="582554"/>
                  <a:pt x="1331439" y="508693"/>
                </a:cubicBezTo>
                <a:cubicBezTo>
                  <a:pt x="1865178" y="156035"/>
                  <a:pt x="2332131" y="-10858"/>
                  <a:pt x="2789606" y="547"/>
                </a:cubicBezTo>
                <a:close/>
              </a:path>
            </a:pathLst>
          </a:cu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1066C3-E8D3-B52C-BE97-4567AE3E75B9}"/>
              </a:ext>
            </a:extLst>
          </p:cNvPr>
          <p:cNvSpPr txBox="1"/>
          <p:nvPr/>
        </p:nvSpPr>
        <p:spPr>
          <a:xfrm>
            <a:off x="1052121" y="3870285"/>
            <a:ext cx="3848430" cy="2186393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500" b="1" spc="15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Let’s move to another statistical software (Python)</a:t>
            </a:r>
          </a:p>
        </p:txBody>
      </p:sp>
    </p:spTree>
    <p:extLst>
      <p:ext uri="{BB962C8B-B14F-4D97-AF65-F5344CB8AC3E}">
        <p14:creationId xmlns:p14="http://schemas.microsoft.com/office/powerpoint/2010/main" val="2615296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12F97B-D2A3-DF19-FE21-39F94FFE6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24" y="1298981"/>
            <a:ext cx="5516236" cy="40984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6FD721-6672-D2C2-27F4-A48D614161A2}"/>
              </a:ext>
            </a:extLst>
          </p:cNvPr>
          <p:cNvSpPr txBox="1"/>
          <p:nvPr/>
        </p:nvSpPr>
        <p:spPr>
          <a:xfrm>
            <a:off x="6096001" y="1771650"/>
            <a:ext cx="54483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People </a:t>
            </a:r>
            <a:r>
              <a:rPr lang="es-MX" dirty="0" err="1"/>
              <a:t>value</a:t>
            </a:r>
            <a:r>
              <a:rPr lang="es-MX" dirty="0"/>
              <a:t>:</a:t>
            </a:r>
          </a:p>
          <a:p>
            <a:endParaRPr lang="es-MX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/>
              <a:t>Larger</a:t>
            </a:r>
            <a:r>
              <a:rPr lang="es-MX" dirty="0"/>
              <a:t> </a:t>
            </a:r>
            <a:r>
              <a:rPr lang="es-MX" dirty="0" err="1"/>
              <a:t>menu</a:t>
            </a:r>
            <a:r>
              <a:rPr lang="es-MX" dirty="0"/>
              <a:t> </a:t>
            </a:r>
            <a:r>
              <a:rPr lang="es-MX" dirty="0" err="1"/>
              <a:t>sizes</a:t>
            </a:r>
            <a:r>
              <a:rPr lang="es-MX" dirty="0"/>
              <a:t> </a:t>
            </a:r>
            <a:r>
              <a:rPr lang="es-MX" sz="1200" dirty="0"/>
              <a:t>(+ beta)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/>
              <a:t>Smaller</a:t>
            </a:r>
            <a:r>
              <a:rPr lang="es-MX" dirty="0"/>
              <a:t> </a:t>
            </a:r>
            <a:r>
              <a:rPr lang="es-MX" dirty="0" err="1"/>
              <a:t>prices</a:t>
            </a:r>
            <a:r>
              <a:rPr lang="es-MX" dirty="0"/>
              <a:t> </a:t>
            </a:r>
            <a:r>
              <a:rPr lang="es-MX" sz="1200" dirty="0"/>
              <a:t>(- beta)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/>
              <a:t>Larger</a:t>
            </a:r>
            <a:r>
              <a:rPr lang="es-MX" dirty="0"/>
              <a:t> restaurants </a:t>
            </a:r>
            <a:r>
              <a:rPr lang="es-MX" sz="1200" dirty="0"/>
              <a:t>(+beta, _sz1 </a:t>
            </a:r>
            <a:r>
              <a:rPr lang="es-MX" sz="1200" dirty="0" err="1"/>
              <a:t>is</a:t>
            </a:r>
            <a:r>
              <a:rPr lang="es-MX" sz="1200" dirty="0"/>
              <a:t> linear </a:t>
            </a:r>
            <a:r>
              <a:rPr lang="es-MX" sz="1200" dirty="0" err="1"/>
              <a:t>rest_sz</a:t>
            </a:r>
            <a:r>
              <a:rPr lang="es-MX" sz="1200" dirty="0"/>
              <a:t>), </a:t>
            </a:r>
            <a:r>
              <a:rPr lang="es-MX" dirty="0"/>
              <a:t>up </a:t>
            </a:r>
            <a:r>
              <a:rPr lang="es-MX" dirty="0" err="1"/>
              <a:t>to</a:t>
            </a:r>
            <a:r>
              <a:rPr lang="es-MX" dirty="0"/>
              <a:t> a </a:t>
            </a:r>
            <a:r>
              <a:rPr lang="es-MX" dirty="0" err="1"/>
              <a:t>point</a:t>
            </a:r>
            <a:r>
              <a:rPr lang="es-MX" dirty="0"/>
              <a:t> </a:t>
            </a:r>
            <a:r>
              <a:rPr lang="es-MX" sz="1200" dirty="0"/>
              <a:t>(-beta, _sz2 </a:t>
            </a:r>
            <a:r>
              <a:rPr lang="es-MX" sz="1200" dirty="0" err="1"/>
              <a:t>is</a:t>
            </a:r>
            <a:r>
              <a:rPr lang="es-MX" sz="1200" dirty="0"/>
              <a:t> </a:t>
            </a:r>
            <a:r>
              <a:rPr lang="es-MX" sz="1200" dirty="0" err="1"/>
              <a:t>squared</a:t>
            </a:r>
            <a:r>
              <a:rPr lang="es-MX" sz="1200" dirty="0"/>
              <a:t> </a:t>
            </a:r>
            <a:r>
              <a:rPr lang="es-MX" sz="1200" dirty="0" err="1"/>
              <a:t>rest_sz</a:t>
            </a:r>
            <a:r>
              <a:rPr lang="es-MX" sz="1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/>
              <a:t>They</a:t>
            </a:r>
            <a:r>
              <a:rPr lang="es-MX" dirty="0"/>
              <a:t> </a:t>
            </a:r>
            <a:r>
              <a:rPr lang="es-MX" dirty="0" err="1"/>
              <a:t>prefer</a:t>
            </a:r>
            <a:r>
              <a:rPr lang="es-MX" dirty="0"/>
              <a:t> </a:t>
            </a:r>
            <a:r>
              <a:rPr lang="es-MX" dirty="0" err="1"/>
              <a:t>suburban</a:t>
            </a:r>
            <a:r>
              <a:rPr lang="es-MX" dirty="0"/>
              <a:t> </a:t>
            </a:r>
            <a:r>
              <a:rPr lang="es-MX" sz="1200" dirty="0"/>
              <a:t>(loc1)</a:t>
            </a:r>
            <a:r>
              <a:rPr lang="es-MX" dirty="0"/>
              <a:t> and </a:t>
            </a:r>
            <a:r>
              <a:rPr lang="es-MX" dirty="0" err="1"/>
              <a:t>riverside</a:t>
            </a:r>
            <a:r>
              <a:rPr lang="es-MX" dirty="0"/>
              <a:t> </a:t>
            </a:r>
            <a:r>
              <a:rPr lang="es-MX" sz="1200" dirty="0"/>
              <a:t>(loc2)</a:t>
            </a:r>
            <a:r>
              <a:rPr lang="es-MX" dirty="0"/>
              <a:t> </a:t>
            </a:r>
            <a:r>
              <a:rPr lang="es-MX" dirty="0" err="1"/>
              <a:t>over</a:t>
            </a:r>
            <a:r>
              <a:rPr lang="es-MX" dirty="0"/>
              <a:t> a </a:t>
            </a:r>
            <a:r>
              <a:rPr lang="es-MX" dirty="0" err="1"/>
              <a:t>generic</a:t>
            </a:r>
            <a:r>
              <a:rPr lang="es-MX" dirty="0"/>
              <a:t> </a:t>
            </a:r>
            <a:r>
              <a:rPr lang="es-MX" dirty="0" err="1"/>
              <a:t>downtown</a:t>
            </a:r>
            <a:r>
              <a:rPr lang="es-MX" dirty="0"/>
              <a:t> </a:t>
            </a:r>
            <a:r>
              <a:rPr lang="es-MX" dirty="0" err="1"/>
              <a:t>location</a:t>
            </a:r>
            <a:r>
              <a:rPr lang="es-MX" dirty="0"/>
              <a:t> </a:t>
            </a:r>
            <a:r>
              <a:rPr lang="es-MX" sz="1400" dirty="0"/>
              <a:t>(</a:t>
            </a:r>
            <a:r>
              <a:rPr lang="es-MX" sz="1400" dirty="0" err="1"/>
              <a:t>ref</a:t>
            </a:r>
            <a:r>
              <a:rPr lang="es-MX" sz="1400" dirty="0"/>
              <a:t>)</a:t>
            </a:r>
            <a:r>
              <a:rPr 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3149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66C19B-1628-A295-21C2-625FBE448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CE15114-E640-4B0A-949A-BC3130282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38BCA46-048D-3321-5311-EEF1523CD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981120-87C0-1B91-B33B-37807B3636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4167" y="0"/>
            <a:ext cx="5687681" cy="5708856"/>
          </a:xfrm>
          <a:custGeom>
            <a:avLst/>
            <a:gdLst>
              <a:gd name="connsiteX0" fmla="*/ 2787282 w 5687681"/>
              <a:gd name="connsiteY0" fmla="*/ 0 h 5708856"/>
              <a:gd name="connsiteX1" fmla="*/ 3988996 w 5687681"/>
              <a:gd name="connsiteY1" fmla="*/ 0 h 5708856"/>
              <a:gd name="connsiteX2" fmla="*/ 4236253 w 5687681"/>
              <a:gd name="connsiteY2" fmla="*/ 68070 h 5708856"/>
              <a:gd name="connsiteX3" fmla="*/ 4483543 w 5687681"/>
              <a:gd name="connsiteY3" fmla="*/ 168573 h 5708856"/>
              <a:gd name="connsiteX4" fmla="*/ 5265611 w 5687681"/>
              <a:gd name="connsiteY4" fmla="*/ 790441 h 5708856"/>
              <a:gd name="connsiteX5" fmla="*/ 5682608 w 5687681"/>
              <a:gd name="connsiteY5" fmla="*/ 1499885 h 5708856"/>
              <a:gd name="connsiteX6" fmla="*/ 5687681 w 5687681"/>
              <a:gd name="connsiteY6" fmla="*/ 1513862 h 5708856"/>
              <a:gd name="connsiteX7" fmla="*/ 5687681 w 5687681"/>
              <a:gd name="connsiteY7" fmla="*/ 3841322 h 5708856"/>
              <a:gd name="connsiteX8" fmla="*/ 5651147 w 5687681"/>
              <a:gd name="connsiteY8" fmla="*/ 3896489 h 5708856"/>
              <a:gd name="connsiteX9" fmla="*/ 4734255 w 5687681"/>
              <a:gd name="connsiteY9" fmla="*/ 4737639 h 5708856"/>
              <a:gd name="connsiteX10" fmla="*/ 4532663 w 5687681"/>
              <a:gd name="connsiteY10" fmla="*/ 4898543 h 5708856"/>
              <a:gd name="connsiteX11" fmla="*/ 2876165 w 5687681"/>
              <a:gd name="connsiteY11" fmla="*/ 5708856 h 5708856"/>
              <a:gd name="connsiteX12" fmla="*/ 694066 w 5687681"/>
              <a:gd name="connsiteY12" fmla="*/ 4391717 h 5708856"/>
              <a:gd name="connsiteX13" fmla="*/ 461517 w 5687681"/>
              <a:gd name="connsiteY13" fmla="*/ 4054756 h 5708856"/>
              <a:gd name="connsiteX14" fmla="*/ 0 w 5687681"/>
              <a:gd name="connsiteY14" fmla="*/ 2993139 h 5708856"/>
              <a:gd name="connsiteX15" fmla="*/ 278855 w 5687681"/>
              <a:gd name="connsiteY15" fmla="*/ 1849819 h 5708856"/>
              <a:gd name="connsiteX16" fmla="*/ 1047879 w 5687681"/>
              <a:gd name="connsiteY16" fmla="*/ 867400 h 5708856"/>
              <a:gd name="connsiteX17" fmla="*/ 2159714 w 5687681"/>
              <a:gd name="connsiteY17" fmla="*/ 186098 h 5708856"/>
              <a:gd name="connsiteX18" fmla="*/ 2785137 w 5687681"/>
              <a:gd name="connsiteY18" fmla="*/ 372 h 5708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687681" h="5708856">
                <a:moveTo>
                  <a:pt x="2787282" y="0"/>
                </a:moveTo>
                <a:lnTo>
                  <a:pt x="3988996" y="0"/>
                </a:lnTo>
                <a:lnTo>
                  <a:pt x="4236253" y="68070"/>
                </a:lnTo>
                <a:cubicBezTo>
                  <a:pt x="4321147" y="96843"/>
                  <a:pt x="4403628" y="130356"/>
                  <a:pt x="4483543" y="168573"/>
                </a:cubicBezTo>
                <a:cubicBezTo>
                  <a:pt x="4783119" y="311949"/>
                  <a:pt x="5046239" y="521215"/>
                  <a:pt x="5265611" y="790441"/>
                </a:cubicBezTo>
                <a:cubicBezTo>
                  <a:pt x="5433740" y="996857"/>
                  <a:pt x="5573537" y="1235870"/>
                  <a:pt x="5682608" y="1499885"/>
                </a:cubicBezTo>
                <a:lnTo>
                  <a:pt x="5687681" y="1513862"/>
                </a:lnTo>
                <a:lnTo>
                  <a:pt x="5687681" y="3841322"/>
                </a:lnTo>
                <a:lnTo>
                  <a:pt x="5651147" y="3896489"/>
                </a:lnTo>
                <a:cubicBezTo>
                  <a:pt x="5427171" y="4186934"/>
                  <a:pt x="5090625" y="4454446"/>
                  <a:pt x="4734255" y="4737639"/>
                </a:cubicBezTo>
                <a:cubicBezTo>
                  <a:pt x="4668506" y="4789825"/>
                  <a:pt x="4600584" y="4843856"/>
                  <a:pt x="4532663" y="4898543"/>
                </a:cubicBezTo>
                <a:cubicBezTo>
                  <a:pt x="3924681" y="5387974"/>
                  <a:pt x="3480945" y="5708856"/>
                  <a:pt x="2876165" y="5708856"/>
                </a:cubicBezTo>
                <a:cubicBezTo>
                  <a:pt x="1954665" y="5708856"/>
                  <a:pt x="1302047" y="5314966"/>
                  <a:pt x="694066" y="4391717"/>
                </a:cubicBezTo>
                <a:cubicBezTo>
                  <a:pt x="614503" y="4270875"/>
                  <a:pt x="536731" y="4160972"/>
                  <a:pt x="461517" y="4054756"/>
                </a:cubicBezTo>
                <a:cubicBezTo>
                  <a:pt x="149788" y="3614348"/>
                  <a:pt x="0" y="3385316"/>
                  <a:pt x="0" y="2993139"/>
                </a:cubicBezTo>
                <a:cubicBezTo>
                  <a:pt x="0" y="2603731"/>
                  <a:pt x="93889" y="2219065"/>
                  <a:pt x="278855" y="1849819"/>
                </a:cubicBezTo>
                <a:cubicBezTo>
                  <a:pt x="459854" y="1488610"/>
                  <a:pt x="718625" y="1157977"/>
                  <a:pt x="1047879" y="867400"/>
                </a:cubicBezTo>
                <a:cubicBezTo>
                  <a:pt x="1371504" y="581701"/>
                  <a:pt x="1755887" y="346080"/>
                  <a:pt x="2159714" y="186098"/>
                </a:cubicBezTo>
                <a:cubicBezTo>
                  <a:pt x="2367064" y="103803"/>
                  <a:pt x="2576044" y="41801"/>
                  <a:pt x="2785137" y="372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38695A9-1281-5595-08D5-2C6D105D5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5450" y="0"/>
            <a:ext cx="5866550" cy="5788550"/>
          </a:xfrm>
          <a:custGeom>
            <a:avLst/>
            <a:gdLst>
              <a:gd name="connsiteX0" fmla="*/ 2331396 w 5798121"/>
              <a:gd name="connsiteY0" fmla="*/ 0 h 5788550"/>
              <a:gd name="connsiteX1" fmla="*/ 4658651 w 5798121"/>
              <a:gd name="connsiteY1" fmla="*/ 0 h 5788550"/>
              <a:gd name="connsiteX2" fmla="*/ 4682835 w 5798121"/>
              <a:gd name="connsiteY2" fmla="*/ 9816 h 5788550"/>
              <a:gd name="connsiteX3" fmla="*/ 5499667 w 5798121"/>
              <a:gd name="connsiteY3" fmla="*/ 658449 h 5788550"/>
              <a:gd name="connsiteX4" fmla="*/ 5665313 w 5798121"/>
              <a:gd name="connsiteY4" fmla="*/ 884789 h 5788550"/>
              <a:gd name="connsiteX5" fmla="*/ 5798121 w 5798121"/>
              <a:gd name="connsiteY5" fmla="*/ 1110681 h 5788550"/>
              <a:gd name="connsiteX6" fmla="*/ 5798121 w 5798121"/>
              <a:gd name="connsiteY6" fmla="*/ 4016954 h 5788550"/>
              <a:gd name="connsiteX7" fmla="*/ 5706359 w 5798121"/>
              <a:gd name="connsiteY7" fmla="*/ 4121532 h 5788550"/>
              <a:gd name="connsiteX8" fmla="*/ 4944692 w 5798121"/>
              <a:gd name="connsiteY8" fmla="*/ 4775532 h 5788550"/>
              <a:gd name="connsiteX9" fmla="*/ 4734137 w 5798121"/>
              <a:gd name="connsiteY9" fmla="*/ 4943362 h 5788550"/>
              <a:gd name="connsiteX10" fmla="*/ 3004009 w 5798121"/>
              <a:gd name="connsiteY10" fmla="*/ 5788550 h 5788550"/>
              <a:gd name="connsiteX11" fmla="*/ 724917 w 5798121"/>
              <a:gd name="connsiteY11" fmla="*/ 4414722 h 5788550"/>
              <a:gd name="connsiteX12" fmla="*/ 482031 w 5798121"/>
              <a:gd name="connsiteY12" fmla="*/ 4063258 h 5788550"/>
              <a:gd name="connsiteX13" fmla="*/ 0 w 5798121"/>
              <a:gd name="connsiteY13" fmla="*/ 2955950 h 5788550"/>
              <a:gd name="connsiteX14" fmla="*/ 291250 w 5798121"/>
              <a:gd name="connsiteY14" fmla="*/ 1763422 h 5788550"/>
              <a:gd name="connsiteX15" fmla="*/ 1094457 w 5798121"/>
              <a:gd name="connsiteY15" fmla="*/ 738720 h 5788550"/>
              <a:gd name="connsiteX16" fmla="*/ 2255713 w 5798121"/>
              <a:gd name="connsiteY16" fmla="*/ 28095 h 5788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798121" h="5788550">
                <a:moveTo>
                  <a:pt x="2331396" y="0"/>
                </a:moveTo>
                <a:lnTo>
                  <a:pt x="4658651" y="0"/>
                </a:lnTo>
                <a:lnTo>
                  <a:pt x="4682835" y="9816"/>
                </a:lnTo>
                <a:cubicBezTo>
                  <a:pt x="4995727" y="159362"/>
                  <a:pt x="5270543" y="377635"/>
                  <a:pt x="5499667" y="658449"/>
                </a:cubicBezTo>
                <a:cubicBezTo>
                  <a:pt x="5558201" y="730215"/>
                  <a:pt x="5613447" y="805760"/>
                  <a:pt x="5665313" y="884789"/>
                </a:cubicBezTo>
                <a:lnTo>
                  <a:pt x="5798121" y="1110681"/>
                </a:lnTo>
                <a:lnTo>
                  <a:pt x="5798121" y="4016954"/>
                </a:lnTo>
                <a:lnTo>
                  <a:pt x="5706359" y="4121532"/>
                </a:lnTo>
                <a:cubicBezTo>
                  <a:pt x="5491360" y="4341659"/>
                  <a:pt x="5223849" y="4553996"/>
                  <a:pt x="4944692" y="4775532"/>
                </a:cubicBezTo>
                <a:cubicBezTo>
                  <a:pt x="4876021" y="4829964"/>
                  <a:pt x="4805079" y="4886320"/>
                  <a:pt x="4734137" y="4943362"/>
                </a:cubicBezTo>
                <a:cubicBezTo>
                  <a:pt x="4099133" y="5453857"/>
                  <a:pt x="3635672" y="5788550"/>
                  <a:pt x="3004009" y="5788550"/>
                </a:cubicBezTo>
                <a:cubicBezTo>
                  <a:pt x="2041550" y="5788550"/>
                  <a:pt x="1359922" y="5377707"/>
                  <a:pt x="724917" y="4414722"/>
                </a:cubicBezTo>
                <a:cubicBezTo>
                  <a:pt x="641818" y="4288679"/>
                  <a:pt x="560588" y="4174046"/>
                  <a:pt x="482031" y="4063258"/>
                </a:cubicBezTo>
                <a:cubicBezTo>
                  <a:pt x="156446" y="3603895"/>
                  <a:pt x="0" y="3365006"/>
                  <a:pt x="0" y="2955950"/>
                </a:cubicBezTo>
                <a:cubicBezTo>
                  <a:pt x="0" y="2549782"/>
                  <a:pt x="98062" y="2148559"/>
                  <a:pt x="291250" y="1763422"/>
                </a:cubicBezTo>
                <a:cubicBezTo>
                  <a:pt x="480295" y="1386666"/>
                  <a:pt x="750568" y="1041802"/>
                  <a:pt x="1094457" y="738720"/>
                </a:cubicBezTo>
                <a:cubicBezTo>
                  <a:pt x="1432467" y="440725"/>
                  <a:pt x="1833935" y="194963"/>
                  <a:pt x="2255713" y="28095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DB98DF-8FBF-0C05-FE95-3EBAEF66925C}"/>
              </a:ext>
            </a:extLst>
          </p:cNvPr>
          <p:cNvSpPr txBox="1"/>
          <p:nvPr/>
        </p:nvSpPr>
        <p:spPr>
          <a:xfrm>
            <a:off x="86432" y="1069450"/>
            <a:ext cx="6290663" cy="4376890"/>
          </a:xfrm>
          <a:prstGeom prst="rect">
            <a:avLst/>
          </a:prstGeom>
        </p:spPr>
        <p:txBody>
          <a:bodyPr vert="horz" lIns="109728" tIns="109728" rIns="109728" bIns="91440" rtlCol="0" anchor="t">
            <a:normAutofit fontScale="850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15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Meiryo"/>
                <a:ea typeface="+mn-ea"/>
                <a:cs typeface="+mn-cs"/>
              </a:rPr>
              <a:t>Task 10:</a:t>
            </a: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r>
              <a:rPr lang="en-US" spc="150" dirty="0">
                <a:solidFill>
                  <a:prstClr val="black">
                    <a:lumMod val="75000"/>
                    <a:lumOff val="25000"/>
                  </a:prstClr>
                </a:solidFill>
                <a:latin typeface="Meiryo"/>
              </a:rPr>
              <a:t>The results indicate people like low prices, but you cannot compete with Southwestern in that dimension, you just do not know how they offer their low prices.</a:t>
            </a: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endParaRPr kumimoji="0" lang="en-US" sz="1800" b="0" i="0" u="none" strike="noStrike" kern="1200" cap="none" spc="15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r>
              <a:rPr lang="en-US" spc="150" dirty="0">
                <a:solidFill>
                  <a:prstClr val="black">
                    <a:lumMod val="75000"/>
                    <a:lumOff val="25000"/>
                  </a:prstClr>
                </a:solidFill>
                <a:latin typeface="Meiryo"/>
              </a:rPr>
              <a:t>Based on the discrete choice and AB experiment results what would be your strategy?</a:t>
            </a: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endParaRPr kumimoji="0" lang="en-US" sz="1800" b="0" i="0" u="none" strike="noStrike" kern="1200" cap="none" spc="15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r>
              <a:rPr lang="en-US" spc="150" dirty="0">
                <a:solidFill>
                  <a:prstClr val="black">
                    <a:lumMod val="75000"/>
                    <a:lumOff val="25000"/>
                  </a:prstClr>
                </a:solidFill>
                <a:latin typeface="Meiryo"/>
              </a:rPr>
              <a:t>Your answer (in-person):</a:t>
            </a: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endParaRPr kumimoji="0" lang="en-US" sz="1800" b="0" i="0" u="none" strike="noStrike" kern="1200" cap="none" spc="15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15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Meiryo"/>
                <a:ea typeface="+mn-ea"/>
                <a:cs typeface="+mn-cs"/>
              </a:rPr>
              <a:t>Your AI agent answer: 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4369DB6-ADF1-44F2-E0F7-C2E845103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23734" y="0"/>
            <a:ext cx="5568114" cy="5577748"/>
          </a:xfrm>
          <a:custGeom>
            <a:avLst/>
            <a:gdLst>
              <a:gd name="connsiteX0" fmla="*/ 2959946 w 5568114"/>
              <a:gd name="connsiteY0" fmla="*/ 0 h 5577748"/>
              <a:gd name="connsiteX1" fmla="*/ 3614224 w 5568114"/>
              <a:gd name="connsiteY1" fmla="*/ 0 h 5577748"/>
              <a:gd name="connsiteX2" fmla="*/ 3844432 w 5568114"/>
              <a:gd name="connsiteY2" fmla="*/ 36392 h 5577748"/>
              <a:gd name="connsiteX3" fmla="*/ 4336826 w 5568114"/>
              <a:gd name="connsiteY3" fmla="*/ 203778 h 5577748"/>
              <a:gd name="connsiteX4" fmla="*/ 5093304 w 5568114"/>
              <a:gd name="connsiteY4" fmla="*/ 806978 h 5577748"/>
              <a:gd name="connsiteX5" fmla="*/ 5496656 w 5568114"/>
              <a:gd name="connsiteY5" fmla="*/ 1495125 h 5577748"/>
              <a:gd name="connsiteX6" fmla="*/ 5568114 w 5568114"/>
              <a:gd name="connsiteY6" fmla="*/ 1692569 h 5577748"/>
              <a:gd name="connsiteX7" fmla="*/ 5568114 w 5568114"/>
              <a:gd name="connsiteY7" fmla="*/ 3665503 h 5577748"/>
              <a:gd name="connsiteX8" fmla="*/ 5466225 w 5568114"/>
              <a:gd name="connsiteY8" fmla="*/ 3819786 h 5577748"/>
              <a:gd name="connsiteX9" fmla="*/ 4579336 w 5568114"/>
              <a:gd name="connsiteY9" fmla="*/ 4635686 h 5577748"/>
              <a:gd name="connsiteX10" fmla="*/ 4384340 w 5568114"/>
              <a:gd name="connsiteY10" fmla="*/ 4791760 h 5577748"/>
              <a:gd name="connsiteX11" fmla="*/ 2782048 w 5568114"/>
              <a:gd name="connsiteY11" fmla="*/ 5577748 h 5577748"/>
              <a:gd name="connsiteX12" fmla="*/ 671354 w 5568114"/>
              <a:gd name="connsiteY12" fmla="*/ 4300148 h 5577748"/>
              <a:gd name="connsiteX13" fmla="*/ 446415 w 5568114"/>
              <a:gd name="connsiteY13" fmla="*/ 3973302 h 5577748"/>
              <a:gd name="connsiteX14" fmla="*/ 0 w 5568114"/>
              <a:gd name="connsiteY14" fmla="*/ 2943554 h 5577748"/>
              <a:gd name="connsiteX15" fmla="*/ 269730 w 5568114"/>
              <a:gd name="connsiteY15" fmla="*/ 1834555 h 5577748"/>
              <a:gd name="connsiteX16" fmla="*/ 1013589 w 5568114"/>
              <a:gd name="connsiteY16" fmla="*/ 881627 h 5577748"/>
              <a:gd name="connsiteX17" fmla="*/ 2089042 w 5568114"/>
              <a:gd name="connsiteY17" fmla="*/ 220777 h 5577748"/>
              <a:gd name="connsiteX18" fmla="*/ 2845684 w 5568114"/>
              <a:gd name="connsiteY18" fmla="*/ 14234 h 5577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568114" h="5577748">
                <a:moveTo>
                  <a:pt x="2959946" y="0"/>
                </a:moveTo>
                <a:lnTo>
                  <a:pt x="3614224" y="0"/>
                </a:lnTo>
                <a:lnTo>
                  <a:pt x="3844432" y="36392"/>
                </a:lnTo>
                <a:cubicBezTo>
                  <a:pt x="4017699" y="73748"/>
                  <a:pt x="4182227" y="129639"/>
                  <a:pt x="4336826" y="203778"/>
                </a:cubicBezTo>
                <a:cubicBezTo>
                  <a:pt x="4626600" y="342850"/>
                  <a:pt x="4881111" y="545834"/>
                  <a:pt x="5093304" y="806978"/>
                </a:cubicBezTo>
                <a:cubicBezTo>
                  <a:pt x="5255931" y="1007198"/>
                  <a:pt x="5391154" y="1239036"/>
                  <a:pt x="5496656" y="1495125"/>
                </a:cubicBezTo>
                <a:lnTo>
                  <a:pt x="5568114" y="1692569"/>
                </a:lnTo>
                <a:lnTo>
                  <a:pt x="5568114" y="3665503"/>
                </a:lnTo>
                <a:lnTo>
                  <a:pt x="5466225" y="3819786"/>
                </a:lnTo>
                <a:cubicBezTo>
                  <a:pt x="5249576" y="4101511"/>
                  <a:pt x="4924044" y="4360994"/>
                  <a:pt x="4579336" y="4635686"/>
                </a:cubicBezTo>
                <a:cubicBezTo>
                  <a:pt x="4515738" y="4686305"/>
                  <a:pt x="4450038" y="4738713"/>
                  <a:pt x="4384340" y="4791760"/>
                </a:cubicBezTo>
                <a:cubicBezTo>
                  <a:pt x="3796254" y="5266498"/>
                  <a:pt x="3367038" y="5577748"/>
                  <a:pt x="2782048" y="5577748"/>
                </a:cubicBezTo>
                <a:cubicBezTo>
                  <a:pt x="1890703" y="5577748"/>
                  <a:pt x="1259439" y="5195682"/>
                  <a:pt x="671354" y="4300148"/>
                </a:cubicBezTo>
                <a:cubicBezTo>
                  <a:pt x="594395" y="4182934"/>
                  <a:pt x="519167" y="4076330"/>
                  <a:pt x="446415" y="3973302"/>
                </a:cubicBezTo>
                <a:cubicBezTo>
                  <a:pt x="144886" y="3546115"/>
                  <a:pt x="0" y="3323958"/>
                  <a:pt x="0" y="2943554"/>
                </a:cubicBezTo>
                <a:cubicBezTo>
                  <a:pt x="0" y="2565835"/>
                  <a:pt x="90816" y="2192716"/>
                  <a:pt x="269730" y="1834555"/>
                </a:cubicBezTo>
                <a:cubicBezTo>
                  <a:pt x="444806" y="1484188"/>
                  <a:pt x="695109" y="1163480"/>
                  <a:pt x="1013589" y="881627"/>
                </a:cubicBezTo>
                <a:cubicBezTo>
                  <a:pt x="1326624" y="604505"/>
                  <a:pt x="1698428" y="375956"/>
                  <a:pt x="2089042" y="220777"/>
                </a:cubicBezTo>
                <a:cubicBezTo>
                  <a:pt x="2339747" y="120996"/>
                  <a:pt x="2592918" y="51971"/>
                  <a:pt x="2845684" y="1423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Small white light bulbs with one large yellow light bulb drawn on a black surface">
            <a:extLst>
              <a:ext uri="{FF2B5EF4-FFF2-40B4-BE49-F238E27FC236}">
                <a16:creationId xmlns:a16="http://schemas.microsoft.com/office/drawing/2014/main" id="{C07FF4B5-3D3B-3F01-A16D-0FEACF984B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55" r="1" b="1"/>
          <a:stretch>
            <a:fillRect/>
          </a:stretch>
        </p:blipFill>
        <p:spPr>
          <a:xfrm>
            <a:off x="6877878" y="294199"/>
            <a:ext cx="5150794" cy="5001370"/>
          </a:xfrm>
          <a:custGeom>
            <a:avLst/>
            <a:gdLst/>
            <a:ahLst/>
            <a:cxnLst/>
            <a:rect l="l" t="t" r="r" b="b"/>
            <a:pathLst>
              <a:path w="5044104" h="4896924">
                <a:moveTo>
                  <a:pt x="2886613" y="0"/>
                </a:moveTo>
                <a:cubicBezTo>
                  <a:pt x="3218269" y="0"/>
                  <a:pt x="3523512" y="65865"/>
                  <a:pt x="3794011" y="195584"/>
                </a:cubicBezTo>
                <a:cubicBezTo>
                  <a:pt x="4047516" y="317247"/>
                  <a:pt x="4270172" y="494825"/>
                  <a:pt x="4455804" y="723284"/>
                </a:cubicBezTo>
                <a:cubicBezTo>
                  <a:pt x="4835198" y="1190375"/>
                  <a:pt x="5044104" y="1854168"/>
                  <a:pt x="5044104" y="2592438"/>
                </a:cubicBezTo>
                <a:cubicBezTo>
                  <a:pt x="5044104" y="2886985"/>
                  <a:pt x="4963247" y="3123382"/>
                  <a:pt x="4782050" y="3358996"/>
                </a:cubicBezTo>
                <a:cubicBezTo>
                  <a:pt x="4592516" y="3605460"/>
                  <a:pt x="4307730" y="3832465"/>
                  <a:pt x="4006167" y="4072775"/>
                </a:cubicBezTo>
                <a:cubicBezTo>
                  <a:pt x="3950530" y="4117058"/>
                  <a:pt x="3893052" y="4162907"/>
                  <a:pt x="3835576" y="4209314"/>
                </a:cubicBezTo>
                <a:cubicBezTo>
                  <a:pt x="3321099" y="4624632"/>
                  <a:pt x="2945605" y="4896924"/>
                  <a:pt x="2433835" y="4896924"/>
                </a:cubicBezTo>
                <a:cubicBezTo>
                  <a:pt x="1654054" y="4896924"/>
                  <a:pt x="1101803" y="4562680"/>
                  <a:pt x="587325" y="3779234"/>
                </a:cubicBezTo>
                <a:cubicBezTo>
                  <a:pt x="519999" y="3676690"/>
                  <a:pt x="454187" y="3583430"/>
                  <a:pt x="390540" y="3493298"/>
                </a:cubicBezTo>
                <a:cubicBezTo>
                  <a:pt x="126752" y="3119579"/>
                  <a:pt x="0" y="2925228"/>
                  <a:pt x="0" y="2592438"/>
                </a:cubicBezTo>
                <a:cubicBezTo>
                  <a:pt x="0" y="2261996"/>
                  <a:pt x="79450" y="1935577"/>
                  <a:pt x="235969" y="1622244"/>
                </a:cubicBezTo>
                <a:cubicBezTo>
                  <a:pt x="389133" y="1315731"/>
                  <a:pt x="608107" y="1035165"/>
                  <a:pt x="886724" y="788590"/>
                </a:cubicBezTo>
                <a:cubicBezTo>
                  <a:pt x="1160578" y="546153"/>
                  <a:pt x="1485846" y="346211"/>
                  <a:pt x="1827568" y="210454"/>
                </a:cubicBezTo>
                <a:cubicBezTo>
                  <a:pt x="2178491" y="70787"/>
                  <a:pt x="2534934" y="0"/>
                  <a:pt x="288661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47154154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LinesVTI">
  <a:themeElements>
    <a:clrScheme name="SketchLines">
      <a:dk1>
        <a:sysClr val="windowText" lastClr="000000"/>
      </a:dk1>
      <a:lt1>
        <a:sysClr val="window" lastClr="FFFFFF"/>
      </a:lt1>
      <a:dk2>
        <a:srgbClr val="564E4E"/>
      </a:dk2>
      <a:lt2>
        <a:srgbClr val="EEEBE2"/>
      </a:lt2>
      <a:accent1>
        <a:srgbClr val="E54837"/>
      </a:accent1>
      <a:accent2>
        <a:srgbClr val="947F53"/>
      </a:accent2>
      <a:accent3>
        <a:srgbClr val="BE8D64"/>
      </a:accent3>
      <a:accent4>
        <a:srgbClr val="E0C171"/>
      </a:accent4>
      <a:accent5>
        <a:srgbClr val="968572"/>
      </a:accent5>
      <a:accent6>
        <a:srgbClr val="855D5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LinesVTI" id="{8C0B0F05-C8D0-4078-9615-83E590287484}" vid="{43A7BC57-C1E3-4EE6-BDBC-5422DD574AF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7177</TotalTime>
  <Words>570</Words>
  <Application>Microsoft Office PowerPoint</Application>
  <PresentationFormat>Widescreen</PresentationFormat>
  <Paragraphs>87</Paragraphs>
  <Slides>23</Slides>
  <Notes>2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Meiryo</vt:lpstr>
      <vt:lpstr>Aptos</vt:lpstr>
      <vt:lpstr>Arial</vt:lpstr>
      <vt:lpstr>Cambria Math</vt:lpstr>
      <vt:lpstr>Corbel</vt:lpstr>
      <vt:lpstr>Helvetica</vt:lpstr>
      <vt:lpstr>SketchLinesVTI</vt:lpstr>
      <vt:lpstr>SPSS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Santiago Alonso Diaz</dc:creator>
  <cp:lastModifiedBy>Santiago Alonso Diaz</cp:lastModifiedBy>
  <cp:revision>7</cp:revision>
  <dcterms:created xsi:type="dcterms:W3CDTF">2025-09-05T18:25:55Z</dcterms:created>
  <dcterms:modified xsi:type="dcterms:W3CDTF">2025-09-11T15:31:16Z</dcterms:modified>
</cp:coreProperties>
</file>