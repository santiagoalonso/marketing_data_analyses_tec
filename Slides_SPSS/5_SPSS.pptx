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9" r:id="rId4"/>
    <p:sldId id="261" r:id="rId5"/>
    <p:sldId id="260" r:id="rId6"/>
    <p:sldId id="272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4" r:id="rId16"/>
    <p:sldId id="275" r:id="rId17"/>
    <p:sldId id="271" r:id="rId18"/>
    <p:sldId id="276" r:id="rId19"/>
    <p:sldId id="270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48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7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865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9/10/2025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5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98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9391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214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73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145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372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662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7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025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20" r:id="rId6"/>
    <p:sldLayoutId id="2147483716" r:id="rId7"/>
    <p:sldLayoutId id="2147483717" r:id="rId8"/>
    <p:sldLayoutId id="2147483718" r:id="rId9"/>
    <p:sldLayoutId id="2147483719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2.mp4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217F32C-75AA-4B97-ADFB-5E2C3C7EC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4D9722-CA4C-9015-BAD2-6C65170B7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47" b="219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D76AAEA-AF3A-4616-9F99-E9AA131A5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3360" y="0"/>
            <a:ext cx="8168639" cy="6858000"/>
          </a:xfrm>
          <a:prstGeom prst="rect">
            <a:avLst/>
          </a:prstGeom>
          <a:gradFill>
            <a:gsLst>
              <a:gs pos="58000">
                <a:schemeClr val="tx1">
                  <a:alpha val="55000"/>
                </a:schemeClr>
              </a:gs>
              <a:gs pos="33000">
                <a:schemeClr val="tx1">
                  <a:alpha val="40000"/>
                </a:schemeClr>
              </a:gs>
              <a:gs pos="3000">
                <a:schemeClr val="tx1">
                  <a:alpha val="0"/>
                </a:schemeClr>
              </a:gs>
              <a:gs pos="100000">
                <a:schemeClr val="tx1">
                  <a:alpha val="5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CB3F7-6B45-E46A-E35A-DD9ED21F7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1346268"/>
            <a:ext cx="5618431" cy="3285207"/>
          </a:xfrm>
        </p:spPr>
        <p:txBody>
          <a:bodyPr>
            <a:normAutofit/>
          </a:bodyPr>
          <a:lstStyle/>
          <a:p>
            <a:r>
              <a:rPr lang="es-MX">
                <a:solidFill>
                  <a:schemeClr val="bg1"/>
                </a:solidFill>
              </a:rPr>
              <a:t>SPSS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8F19C-9398-1505-B9FE-C577CC365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080" y="4631475"/>
            <a:ext cx="5588349" cy="11502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MX" sz="2200">
                <a:solidFill>
                  <a:schemeClr val="bg1"/>
                </a:solidFill>
              </a:rPr>
              <a:t>Tecnológico de Monterrey</a:t>
            </a:r>
          </a:p>
          <a:p>
            <a:pPr>
              <a:lnSpc>
                <a:spcPct val="120000"/>
              </a:lnSpc>
            </a:pPr>
            <a:r>
              <a:rPr lang="es-MX" sz="2200">
                <a:solidFill>
                  <a:schemeClr val="bg1"/>
                </a:solidFill>
              </a:rPr>
              <a:t>EGADE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71018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30127AE-B29E-4FDF-99D2-A2F1E7003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Blue particles art">
            <a:extLst>
              <a:ext uri="{FF2B5EF4-FFF2-40B4-BE49-F238E27FC236}">
                <a16:creationId xmlns:a16="http://schemas.microsoft.com/office/drawing/2014/main" id="{A89B851D-4F1F-0D8E-9E76-5BD7FC8EB2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9" r="1" b="680"/>
          <a:stretch>
            <a:fillRect/>
          </a:stretch>
        </p:blipFill>
        <p:spPr>
          <a:xfrm>
            <a:off x="20" y="10"/>
            <a:ext cx="9947062" cy="6857990"/>
          </a:xfrm>
          <a:prstGeom prst="rect">
            <a:avLst/>
          </a:prstGeom>
        </p:spPr>
      </p:pic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8B598134-D292-43E6-9C55-117198046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1834" y="0"/>
            <a:ext cx="4980168" cy="6858000"/>
          </a:xfrm>
          <a:custGeom>
            <a:avLst/>
            <a:gdLst>
              <a:gd name="connsiteX0" fmla="*/ 1623023 w 4901771"/>
              <a:gd name="connsiteY0" fmla="*/ 0 h 6858000"/>
              <a:gd name="connsiteX1" fmla="*/ 2716256 w 4901771"/>
              <a:gd name="connsiteY1" fmla="*/ 0 h 6858000"/>
              <a:gd name="connsiteX2" fmla="*/ 3496422 w 4901771"/>
              <a:gd name="connsiteY2" fmla="*/ 0 h 6858000"/>
              <a:gd name="connsiteX3" fmla="*/ 4544484 w 4901771"/>
              <a:gd name="connsiteY3" fmla="*/ 0 h 6858000"/>
              <a:gd name="connsiteX4" fmla="*/ 4710787 w 4901771"/>
              <a:gd name="connsiteY4" fmla="*/ 0 h 6858000"/>
              <a:gd name="connsiteX5" fmla="*/ 4901771 w 4901771"/>
              <a:gd name="connsiteY5" fmla="*/ 0 h 6858000"/>
              <a:gd name="connsiteX6" fmla="*/ 4901771 w 4901771"/>
              <a:gd name="connsiteY6" fmla="*/ 6858000 h 6858000"/>
              <a:gd name="connsiteX7" fmla="*/ 4710787 w 4901771"/>
              <a:gd name="connsiteY7" fmla="*/ 6858000 h 6858000"/>
              <a:gd name="connsiteX8" fmla="*/ 4544484 w 4901771"/>
              <a:gd name="connsiteY8" fmla="*/ 6858000 h 6858000"/>
              <a:gd name="connsiteX9" fmla="*/ 3496422 w 4901771"/>
              <a:gd name="connsiteY9" fmla="*/ 6858000 h 6858000"/>
              <a:gd name="connsiteX10" fmla="*/ 2716256 w 4901771"/>
              <a:gd name="connsiteY10" fmla="*/ 6858000 h 6858000"/>
              <a:gd name="connsiteX11" fmla="*/ 2502754 w 4901771"/>
              <a:gd name="connsiteY11" fmla="*/ 6858000 h 6858000"/>
              <a:gd name="connsiteX12" fmla="*/ 2390998 w 4901771"/>
              <a:gd name="connsiteY12" fmla="*/ 6780599 h 6858000"/>
              <a:gd name="connsiteX13" fmla="*/ 1874350 w 4901771"/>
              <a:gd name="connsiteY13" fmla="*/ 6374814 h 6858000"/>
              <a:gd name="connsiteX14" fmla="*/ 0 w 4901771"/>
              <a:gd name="connsiteY14" fmla="*/ 3621656 h 6858000"/>
              <a:gd name="connsiteX15" fmla="*/ 1600899 w 4901771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853CE4-F4F1-A671-73C1-C2559ACC54BD}"/>
              </a:ext>
            </a:extLst>
          </p:cNvPr>
          <p:cNvSpPr txBox="1"/>
          <p:nvPr/>
        </p:nvSpPr>
        <p:spPr>
          <a:xfrm>
            <a:off x="7423484" y="1740394"/>
            <a:ext cx="4768211" cy="2592125"/>
          </a:xfrm>
          <a:prstGeom prst="rect">
            <a:avLst/>
          </a:prstGeom>
        </p:spPr>
        <p:txBody>
          <a:bodyPr vert="horz" lIns="109728" tIns="109728" rIns="109728" bIns="91440" rtlCol="0">
            <a:normAutofit fontScale="85000" lnSpcReduction="20000"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z="3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Principles:</a:t>
            </a:r>
          </a:p>
          <a:p>
            <a:pPr marL="285750" indent="-285750"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3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Customers produce data</a:t>
            </a:r>
          </a:p>
          <a:p>
            <a:pPr marL="285750" indent="-285750"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3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Patterns in customers’ data</a:t>
            </a:r>
          </a:p>
          <a:p>
            <a:pPr marL="285750" indent="-285750"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13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All/some customers produce data</a:t>
            </a:r>
          </a:p>
          <a:p>
            <a:pPr marL="285750" indent="-285750">
              <a:lnSpc>
                <a:spcPct val="140000"/>
              </a:lnSpc>
              <a:spcBef>
                <a:spcPts val="930"/>
              </a:spcBef>
              <a:buFont typeface="Arial" panose="020B0604020202020204" pitchFamily="34" charset="0"/>
              <a:buChar char="•"/>
            </a:pPr>
            <a:r>
              <a:rPr lang="en-US" sz="2400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Customers are not irrational, they are reasonable</a:t>
            </a:r>
          </a:p>
        </p:txBody>
      </p:sp>
    </p:spTree>
    <p:extLst>
      <p:ext uri="{BB962C8B-B14F-4D97-AF65-F5344CB8AC3E}">
        <p14:creationId xmlns:p14="http://schemas.microsoft.com/office/powerpoint/2010/main" val="54002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researchgate.net/figure/...">
            <a:extLst>
              <a:ext uri="{FF2B5EF4-FFF2-40B4-BE49-F238E27FC236}">
                <a16:creationId xmlns:a16="http://schemas.microsoft.com/office/drawing/2014/main" id="{81304526-F693-6F6C-ECE4-1C3B37AF88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1" t="11281" r="2244" b="4020"/>
          <a:stretch>
            <a:fillRect/>
          </a:stretch>
        </p:blipFill>
        <p:spPr bwMode="auto">
          <a:xfrm>
            <a:off x="205741" y="1165859"/>
            <a:ext cx="8186178" cy="48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CFCA68-D2F3-5D17-FA8A-9B744BAA0D1D}"/>
              </a:ext>
            </a:extLst>
          </p:cNvPr>
          <p:cNvSpPr txBox="1"/>
          <p:nvPr/>
        </p:nvSpPr>
        <p:spPr>
          <a:xfrm>
            <a:off x="1527879" y="505479"/>
            <a:ext cx="55419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latin typeface="Helvetica" panose="020B0604020202020204" pitchFamily="34" charset="0"/>
                <a:cs typeface="Helvetica" panose="020B0604020202020204" pitchFamily="34" charset="0"/>
              </a:rPr>
              <a:t>EBK </a:t>
            </a:r>
            <a:r>
              <a:rPr lang="es-MX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MX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MX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MX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MX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consumer</a:t>
            </a:r>
            <a:r>
              <a:rPr lang="es-MX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MX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behavior</a:t>
            </a:r>
            <a:endParaRPr lang="es-MX" sz="2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837EF-81B7-171A-E53B-F4ADDAA057E3}"/>
              </a:ext>
            </a:extLst>
          </p:cNvPr>
          <p:cNvSpPr txBox="1"/>
          <p:nvPr/>
        </p:nvSpPr>
        <p:spPr>
          <a:xfrm>
            <a:off x="8412480" y="2782669"/>
            <a:ext cx="3779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 err="1"/>
              <a:t>We</a:t>
            </a:r>
            <a:r>
              <a:rPr lang="es-MX" sz="2400" dirty="0"/>
              <a:t> </a:t>
            </a:r>
            <a:r>
              <a:rPr lang="es-MX" sz="2400" dirty="0" err="1"/>
              <a:t>need</a:t>
            </a:r>
            <a:r>
              <a:rPr lang="es-MX" sz="2400" dirty="0"/>
              <a:t> </a:t>
            </a:r>
            <a:r>
              <a:rPr lang="es-MX" sz="2400" dirty="0" err="1"/>
              <a:t>theories</a:t>
            </a:r>
            <a:r>
              <a:rPr lang="es-MX" sz="2400" dirty="0"/>
              <a:t>/</a:t>
            </a:r>
            <a:r>
              <a:rPr lang="es-MX" sz="2400" dirty="0" err="1"/>
              <a:t>frameworks</a:t>
            </a:r>
            <a:endParaRPr lang="es-MX" sz="2400" dirty="0"/>
          </a:p>
          <a:p>
            <a:endParaRPr lang="es-MX" sz="2400" dirty="0"/>
          </a:p>
          <a:p>
            <a:r>
              <a:rPr lang="es-MX" sz="2400" dirty="0" err="1"/>
              <a:t>Consumers</a:t>
            </a:r>
            <a:r>
              <a:rPr lang="es-MX" sz="2400" dirty="0"/>
              <a:t> are </a:t>
            </a:r>
            <a:r>
              <a:rPr lang="es-MX" sz="2400" dirty="0" err="1"/>
              <a:t>complex</a:t>
            </a:r>
            <a:r>
              <a:rPr lang="es-MX" sz="2400" dirty="0"/>
              <a:t> and </a:t>
            </a:r>
            <a:r>
              <a:rPr lang="es-MX" sz="2400" dirty="0" err="1"/>
              <a:t>reasonable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899525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E217F32C-75AA-4B97-ADFB-5E2C3C7EC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ones balancing on a wood">
            <a:extLst>
              <a:ext uri="{FF2B5EF4-FFF2-40B4-BE49-F238E27FC236}">
                <a16:creationId xmlns:a16="http://schemas.microsoft.com/office/drawing/2014/main" id="{FA226287-43FD-8BF5-F49F-39DE67D4DE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2" name="Rectangle 91">
            <a:extLst>
              <a:ext uri="{FF2B5EF4-FFF2-40B4-BE49-F238E27FC236}">
                <a16:creationId xmlns:a16="http://schemas.microsoft.com/office/drawing/2014/main" id="{4D76AAEA-AF3A-4616-9F99-E9AA131A5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3360" y="0"/>
            <a:ext cx="8168639" cy="6858000"/>
          </a:xfrm>
          <a:prstGeom prst="rect">
            <a:avLst/>
          </a:prstGeom>
          <a:gradFill>
            <a:gsLst>
              <a:gs pos="58000">
                <a:schemeClr val="tx1">
                  <a:alpha val="55000"/>
                </a:schemeClr>
              </a:gs>
              <a:gs pos="33000">
                <a:schemeClr val="tx1">
                  <a:alpha val="40000"/>
                </a:schemeClr>
              </a:gs>
              <a:gs pos="3000">
                <a:schemeClr val="tx1">
                  <a:alpha val="0"/>
                </a:schemeClr>
              </a:gs>
              <a:gs pos="100000">
                <a:schemeClr val="tx1">
                  <a:alpha val="5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CAD40-2E22-2D48-DCC7-D9C1CCAFBA5A}"/>
              </a:ext>
            </a:extLst>
          </p:cNvPr>
          <p:cNvSpPr txBox="1"/>
          <p:nvPr/>
        </p:nvSpPr>
        <p:spPr>
          <a:xfrm>
            <a:off x="6095999" y="1346268"/>
            <a:ext cx="5618431" cy="3285207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spc="15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A/B comparison</a:t>
            </a:r>
          </a:p>
        </p:txBody>
      </p:sp>
    </p:spTree>
    <p:extLst>
      <p:ext uri="{BB962C8B-B14F-4D97-AF65-F5344CB8AC3E}">
        <p14:creationId xmlns:p14="http://schemas.microsoft.com/office/powerpoint/2010/main" val="3810403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researchgate.net/figure/...">
            <a:extLst>
              <a:ext uri="{FF2B5EF4-FFF2-40B4-BE49-F238E27FC236}">
                <a16:creationId xmlns:a16="http://schemas.microsoft.com/office/drawing/2014/main" id="{DFA6B2C7-48C7-2767-3272-0830CD0A5F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1" t="11281" r="2244" b="4020"/>
          <a:stretch>
            <a:fillRect/>
          </a:stretch>
        </p:blipFill>
        <p:spPr bwMode="auto">
          <a:xfrm>
            <a:off x="205741" y="1165859"/>
            <a:ext cx="8186178" cy="48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554A099-1892-00BC-9088-14FE05FA0313}"/>
              </a:ext>
            </a:extLst>
          </p:cNvPr>
          <p:cNvSpPr/>
          <p:nvPr/>
        </p:nvSpPr>
        <p:spPr>
          <a:xfrm>
            <a:off x="205741" y="2480310"/>
            <a:ext cx="948689" cy="1257300"/>
          </a:xfrm>
          <a:prstGeom prst="rect">
            <a:avLst/>
          </a:prstGeom>
          <a:solidFill>
            <a:srgbClr val="E54837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FFA06-456B-D346-2618-D6F6995D2D6C}"/>
              </a:ext>
            </a:extLst>
          </p:cNvPr>
          <p:cNvSpPr txBox="1"/>
          <p:nvPr/>
        </p:nvSpPr>
        <p:spPr>
          <a:xfrm>
            <a:off x="8442361" y="1631632"/>
            <a:ext cx="345626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Let’s</a:t>
            </a:r>
            <a:r>
              <a:rPr lang="es-MX" dirty="0"/>
              <a:t> do </a:t>
            </a:r>
            <a:r>
              <a:rPr lang="es-MX" dirty="0" err="1"/>
              <a:t>an</a:t>
            </a:r>
            <a:r>
              <a:rPr lang="es-MX" dirty="0"/>
              <a:t> A/B test </a:t>
            </a:r>
            <a:r>
              <a:rPr lang="es-MX" dirty="0" err="1"/>
              <a:t>of</a:t>
            </a:r>
            <a:r>
              <a:rPr lang="es-MX" dirty="0"/>
              <a:t> a (</a:t>
            </a:r>
            <a:r>
              <a:rPr lang="es-MX" dirty="0" err="1"/>
              <a:t>tiny</a:t>
            </a:r>
            <a:r>
              <a:rPr lang="es-MX" dirty="0"/>
              <a:t>) </a:t>
            </a:r>
            <a:r>
              <a:rPr lang="es-MX" dirty="0" err="1"/>
              <a:t>portion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this</a:t>
            </a:r>
            <a:r>
              <a:rPr lang="es-MX" dirty="0"/>
              <a:t> </a:t>
            </a:r>
            <a:r>
              <a:rPr lang="es-MX" dirty="0" err="1"/>
              <a:t>theory</a:t>
            </a:r>
            <a:r>
              <a:rPr lang="es-MX" dirty="0"/>
              <a:t> … </a:t>
            </a:r>
          </a:p>
          <a:p>
            <a:endParaRPr lang="es-MX" dirty="0"/>
          </a:p>
          <a:p>
            <a:r>
              <a:rPr lang="es-MX" dirty="0"/>
              <a:t>… and </a:t>
            </a:r>
            <a:r>
              <a:rPr lang="es-MX" dirty="0" err="1"/>
              <a:t>just</a:t>
            </a:r>
            <a:r>
              <a:rPr lang="es-MX" dirty="0"/>
              <a:t> test a </a:t>
            </a:r>
            <a:r>
              <a:rPr lang="es-MX" dirty="0" err="1"/>
              <a:t>direct</a:t>
            </a:r>
            <a:r>
              <a:rPr lang="es-MX" dirty="0"/>
              <a:t> </a:t>
            </a:r>
            <a:r>
              <a:rPr lang="es-MX" dirty="0" err="1"/>
              <a:t>effect</a:t>
            </a:r>
            <a:r>
              <a:rPr lang="es-MX" dirty="0"/>
              <a:t> …</a:t>
            </a:r>
          </a:p>
          <a:p>
            <a:endParaRPr lang="es-MX" dirty="0"/>
          </a:p>
          <a:p>
            <a:r>
              <a:rPr lang="es-MX" dirty="0"/>
              <a:t>… </a:t>
            </a:r>
            <a:r>
              <a:rPr lang="es-MX" dirty="0" err="1"/>
              <a:t>from</a:t>
            </a:r>
            <a:r>
              <a:rPr lang="es-MX" dirty="0"/>
              <a:t> </a:t>
            </a:r>
            <a:r>
              <a:rPr lang="es-MX" dirty="0" err="1"/>
              <a:t>stimuli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higher</a:t>
            </a:r>
            <a:r>
              <a:rPr lang="es-MX" dirty="0"/>
              <a:t> </a:t>
            </a:r>
            <a:r>
              <a:rPr lang="es-MX" dirty="0" err="1"/>
              <a:t>order</a:t>
            </a:r>
            <a:r>
              <a:rPr lang="es-MX" dirty="0"/>
              <a:t> </a:t>
            </a:r>
            <a:r>
              <a:rPr lang="es-MX" dirty="0" err="1"/>
              <a:t>construct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“</a:t>
            </a:r>
            <a:r>
              <a:rPr lang="es-MX" dirty="0" err="1"/>
              <a:t>life</a:t>
            </a:r>
            <a:r>
              <a:rPr lang="es-MX" dirty="0"/>
              <a:t> -</a:t>
            </a:r>
            <a:r>
              <a:rPr lang="es-MX" dirty="0" err="1"/>
              <a:t>style</a:t>
            </a:r>
            <a:r>
              <a:rPr lang="es-MX" dirty="0"/>
              <a:t>” (a </a:t>
            </a:r>
            <a:r>
              <a:rPr lang="es-MX" dirty="0" err="1"/>
              <a:t>simplification</a:t>
            </a:r>
            <a:r>
              <a:rPr lang="es-MX" dirty="0"/>
              <a:t> </a:t>
            </a:r>
            <a:r>
              <a:rPr lang="es-MX" dirty="0" err="1"/>
              <a:t>indeed</a:t>
            </a:r>
            <a:r>
              <a:rPr lang="es-MX" dirty="0"/>
              <a:t>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146060-5489-2932-814B-7FDF21FF4CA8}"/>
              </a:ext>
            </a:extLst>
          </p:cNvPr>
          <p:cNvSpPr/>
          <p:nvPr/>
        </p:nvSpPr>
        <p:spPr>
          <a:xfrm>
            <a:off x="5886450" y="3063240"/>
            <a:ext cx="102870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A1C925-BC95-C142-AE19-30713377E6C8}"/>
              </a:ext>
            </a:extLst>
          </p:cNvPr>
          <p:cNvGrpSpPr/>
          <p:nvPr/>
        </p:nvGrpSpPr>
        <p:grpSpPr>
          <a:xfrm>
            <a:off x="5829300" y="2937509"/>
            <a:ext cx="1181734" cy="491491"/>
            <a:chOff x="9966049" y="4457699"/>
            <a:chExt cx="1181734" cy="49149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32D5739-1998-FE99-C00F-C316CF533C2C}"/>
                </a:ext>
              </a:extLst>
            </p:cNvPr>
            <p:cNvSpPr/>
            <p:nvPr/>
          </p:nvSpPr>
          <p:spPr>
            <a:xfrm>
              <a:off x="10016491" y="4457699"/>
              <a:ext cx="1070609" cy="491491"/>
            </a:xfrm>
            <a:prstGeom prst="rect">
              <a:avLst/>
            </a:prstGeom>
            <a:solidFill>
              <a:srgbClr val="00B050">
                <a:alpha val="2509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FBC1F9-FDDA-503C-A099-60C230E8B8F3}"/>
                </a:ext>
              </a:extLst>
            </p:cNvPr>
            <p:cNvSpPr txBox="1"/>
            <p:nvPr/>
          </p:nvSpPr>
          <p:spPr>
            <a:xfrm>
              <a:off x="9966049" y="4579858"/>
              <a:ext cx="1181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400" dirty="0"/>
                <a:t>LIFE STYLE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2FE61D-E547-A249-9923-EBD3CEBF02C7}"/>
              </a:ext>
            </a:extLst>
          </p:cNvPr>
          <p:cNvCxnSpPr/>
          <p:nvPr/>
        </p:nvCxnSpPr>
        <p:spPr>
          <a:xfrm>
            <a:off x="1211580" y="3183254"/>
            <a:ext cx="4617720" cy="171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093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0127AE-B29E-4FDF-99D2-A2F1E7003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" name="Picture 1" descr="A logo for a restaurant&#10;&#10;AI-generated content may be incorrect.">
            <a:extLst>
              <a:ext uri="{FF2B5EF4-FFF2-40B4-BE49-F238E27FC236}">
                <a16:creationId xmlns:a16="http://schemas.microsoft.com/office/drawing/2014/main" id="{E152A3FA-1FC9-AF8E-AB8C-5BDD4442D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76" r="1" b="3481"/>
          <a:stretch>
            <a:fillRect/>
          </a:stretch>
        </p:blipFill>
        <p:spPr>
          <a:xfrm>
            <a:off x="20" y="10"/>
            <a:ext cx="9947062" cy="685799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B598134-D292-43E6-9C55-117198046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1834" y="0"/>
            <a:ext cx="4980168" cy="6858000"/>
          </a:xfrm>
          <a:custGeom>
            <a:avLst/>
            <a:gdLst>
              <a:gd name="connsiteX0" fmla="*/ 1623023 w 4901771"/>
              <a:gd name="connsiteY0" fmla="*/ 0 h 6858000"/>
              <a:gd name="connsiteX1" fmla="*/ 2716256 w 4901771"/>
              <a:gd name="connsiteY1" fmla="*/ 0 h 6858000"/>
              <a:gd name="connsiteX2" fmla="*/ 3496422 w 4901771"/>
              <a:gd name="connsiteY2" fmla="*/ 0 h 6858000"/>
              <a:gd name="connsiteX3" fmla="*/ 4544484 w 4901771"/>
              <a:gd name="connsiteY3" fmla="*/ 0 h 6858000"/>
              <a:gd name="connsiteX4" fmla="*/ 4710787 w 4901771"/>
              <a:gd name="connsiteY4" fmla="*/ 0 h 6858000"/>
              <a:gd name="connsiteX5" fmla="*/ 4901771 w 4901771"/>
              <a:gd name="connsiteY5" fmla="*/ 0 h 6858000"/>
              <a:gd name="connsiteX6" fmla="*/ 4901771 w 4901771"/>
              <a:gd name="connsiteY6" fmla="*/ 6858000 h 6858000"/>
              <a:gd name="connsiteX7" fmla="*/ 4710787 w 4901771"/>
              <a:gd name="connsiteY7" fmla="*/ 6858000 h 6858000"/>
              <a:gd name="connsiteX8" fmla="*/ 4544484 w 4901771"/>
              <a:gd name="connsiteY8" fmla="*/ 6858000 h 6858000"/>
              <a:gd name="connsiteX9" fmla="*/ 3496422 w 4901771"/>
              <a:gd name="connsiteY9" fmla="*/ 6858000 h 6858000"/>
              <a:gd name="connsiteX10" fmla="*/ 2716256 w 4901771"/>
              <a:gd name="connsiteY10" fmla="*/ 6858000 h 6858000"/>
              <a:gd name="connsiteX11" fmla="*/ 2502754 w 4901771"/>
              <a:gd name="connsiteY11" fmla="*/ 6858000 h 6858000"/>
              <a:gd name="connsiteX12" fmla="*/ 2390998 w 4901771"/>
              <a:gd name="connsiteY12" fmla="*/ 6780599 h 6858000"/>
              <a:gd name="connsiteX13" fmla="*/ 1874350 w 4901771"/>
              <a:gd name="connsiteY13" fmla="*/ 6374814 h 6858000"/>
              <a:gd name="connsiteX14" fmla="*/ 0 w 4901771"/>
              <a:gd name="connsiteY14" fmla="*/ 3621656 h 6858000"/>
              <a:gd name="connsiteX15" fmla="*/ 1600899 w 4901771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86676B-B58E-960A-CECB-4505A1995395}"/>
              </a:ext>
            </a:extLst>
          </p:cNvPr>
          <p:cNvSpPr txBox="1"/>
          <p:nvPr/>
        </p:nvSpPr>
        <p:spPr>
          <a:xfrm>
            <a:off x="7463791" y="2350107"/>
            <a:ext cx="4728210" cy="1616103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Santa Fe hired an advertising and marketing company to evaluate which style people like more</a:t>
            </a:r>
          </a:p>
        </p:txBody>
      </p:sp>
    </p:spTree>
    <p:extLst>
      <p:ext uri="{BB962C8B-B14F-4D97-AF65-F5344CB8AC3E}">
        <p14:creationId xmlns:p14="http://schemas.microsoft.com/office/powerpoint/2010/main" val="217848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">
            <a:hlinkClick r:id="" action="ppaction://media"/>
            <a:extLst>
              <a:ext uri="{FF2B5EF4-FFF2-40B4-BE49-F238E27FC236}">
                <a16:creationId xmlns:a16="http://schemas.microsoft.com/office/drawing/2014/main" id="{B113A88A-9692-E029-D903-F33DAD0C502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2040493"/>
            <a:ext cx="6493510" cy="3652599"/>
          </a:xfrm>
          <a:prstGeom prst="rect">
            <a:avLst/>
          </a:prstGeom>
        </p:spPr>
      </p:pic>
      <p:pic>
        <p:nvPicPr>
          <p:cNvPr id="3" name="B">
            <a:hlinkClick r:id="" action="ppaction://media"/>
            <a:extLst>
              <a:ext uri="{FF2B5EF4-FFF2-40B4-BE49-F238E27FC236}">
                <a16:creationId xmlns:a16="http://schemas.microsoft.com/office/drawing/2014/main" id="{D61F6314-73EF-881B-9455-4751F3916F61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98490" y="2040493"/>
            <a:ext cx="6493510" cy="36525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25DA11-774F-AA4D-F328-DB1D9F0DAC86}"/>
              </a:ext>
            </a:extLst>
          </p:cNvPr>
          <p:cNvSpPr txBox="1"/>
          <p:nvPr/>
        </p:nvSpPr>
        <p:spPr>
          <a:xfrm>
            <a:off x="1902155" y="728960"/>
            <a:ext cx="19623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 err="1"/>
              <a:t>Campaign</a:t>
            </a:r>
            <a:r>
              <a:rPr lang="es-MX" dirty="0"/>
              <a:t> A </a:t>
            </a:r>
          </a:p>
          <a:p>
            <a:pPr algn="ctr"/>
            <a:r>
              <a:rPr lang="es-MX" dirty="0"/>
              <a:t>(</a:t>
            </a:r>
            <a:r>
              <a:rPr lang="es-MX" dirty="0" err="1"/>
              <a:t>traditional</a:t>
            </a:r>
            <a:r>
              <a:rPr lang="es-MX" dirty="0"/>
              <a:t> look</a:t>
            </a:r>
          </a:p>
          <a:p>
            <a:pPr algn="ctr"/>
            <a:r>
              <a:rPr lang="es-MX" dirty="0"/>
              <a:t>N=30</a:t>
            </a:r>
          </a:p>
          <a:p>
            <a:pPr algn="ctr"/>
            <a:r>
              <a:rPr lang="es-MX" dirty="0" err="1"/>
              <a:t>Survey</a:t>
            </a:r>
            <a:r>
              <a:rPr lang="es-MX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9C4EA-A690-801B-9584-903EBEA77ACC}"/>
              </a:ext>
            </a:extLst>
          </p:cNvPr>
          <p:cNvSpPr txBox="1"/>
          <p:nvPr/>
        </p:nvSpPr>
        <p:spPr>
          <a:xfrm>
            <a:off x="8097096" y="728960"/>
            <a:ext cx="16962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 err="1"/>
              <a:t>Campaign</a:t>
            </a:r>
            <a:r>
              <a:rPr lang="es-MX" dirty="0"/>
              <a:t> B </a:t>
            </a:r>
          </a:p>
          <a:p>
            <a:pPr algn="ctr"/>
            <a:r>
              <a:rPr lang="es-MX" dirty="0"/>
              <a:t>(</a:t>
            </a:r>
            <a:r>
              <a:rPr lang="es-MX" dirty="0" err="1"/>
              <a:t>modern</a:t>
            </a:r>
            <a:r>
              <a:rPr lang="es-MX" dirty="0"/>
              <a:t> look</a:t>
            </a:r>
          </a:p>
          <a:p>
            <a:pPr algn="ctr"/>
            <a:r>
              <a:rPr lang="es-MX" dirty="0"/>
              <a:t>N=30</a:t>
            </a:r>
          </a:p>
          <a:p>
            <a:pPr algn="ctr"/>
            <a:r>
              <a:rPr lang="es-MX" dirty="0" err="1"/>
              <a:t>Survey</a:t>
            </a:r>
            <a:r>
              <a:rPr lang="es-MX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DF30F7-BCDB-0955-B981-3DA016AD7116}"/>
              </a:ext>
            </a:extLst>
          </p:cNvPr>
          <p:cNvSpPr txBox="1"/>
          <p:nvPr/>
        </p:nvSpPr>
        <p:spPr>
          <a:xfrm>
            <a:off x="91440" y="205740"/>
            <a:ext cx="3703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err="1"/>
              <a:t>Lifestyle</a:t>
            </a:r>
            <a:r>
              <a:rPr lang="es-MX" sz="2800" dirty="0"/>
              <a:t> A/B test</a:t>
            </a:r>
          </a:p>
        </p:txBody>
      </p:sp>
    </p:spTree>
    <p:extLst>
      <p:ext uri="{BB962C8B-B14F-4D97-AF65-F5344CB8AC3E}">
        <p14:creationId xmlns:p14="http://schemas.microsoft.com/office/powerpoint/2010/main" val="311809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3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83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8D4DC7-55D4-B8F4-593E-524CBBD42F12}"/>
              </a:ext>
            </a:extLst>
          </p:cNvPr>
          <p:cNvSpPr txBox="1"/>
          <p:nvPr/>
        </p:nvSpPr>
        <p:spPr>
          <a:xfrm>
            <a:off x="4212311" y="3136612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Abrir AB_test.xlsx</a:t>
            </a:r>
          </a:p>
        </p:txBody>
      </p:sp>
    </p:spTree>
    <p:extLst>
      <p:ext uri="{BB962C8B-B14F-4D97-AF65-F5344CB8AC3E}">
        <p14:creationId xmlns:p14="http://schemas.microsoft.com/office/powerpoint/2010/main" val="3453252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FF47D-1901-09AB-6708-BCF934057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956" y="1440180"/>
            <a:ext cx="9184775" cy="43649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D5420C-67AE-5C63-EAD5-5F0AD84F259F}"/>
              </a:ext>
            </a:extLst>
          </p:cNvPr>
          <p:cNvSpPr txBox="1"/>
          <p:nvPr/>
        </p:nvSpPr>
        <p:spPr>
          <a:xfrm>
            <a:off x="80010" y="262890"/>
            <a:ext cx="5737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 err="1"/>
              <a:t>Always</a:t>
            </a:r>
            <a:r>
              <a:rPr lang="es-MX" sz="2400" dirty="0"/>
              <a:t> </a:t>
            </a:r>
            <a:r>
              <a:rPr lang="es-MX" sz="2400" dirty="0" err="1"/>
              <a:t>start</a:t>
            </a:r>
            <a:r>
              <a:rPr lang="es-MX" sz="2400" dirty="0"/>
              <a:t> simple, </a:t>
            </a:r>
            <a:r>
              <a:rPr lang="es-MX" sz="2400" dirty="0" err="1"/>
              <a:t>know</a:t>
            </a:r>
            <a:r>
              <a:rPr lang="es-MX" sz="2400" dirty="0"/>
              <a:t> </a:t>
            </a:r>
            <a:r>
              <a:rPr lang="es-MX" sz="2400" dirty="0" err="1"/>
              <a:t>your</a:t>
            </a:r>
            <a:r>
              <a:rPr lang="es-MX" sz="240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655073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157829-300F-AEDF-744A-E4B5A045E8DC}"/>
              </a:ext>
            </a:extLst>
          </p:cNvPr>
          <p:cNvSpPr txBox="1"/>
          <p:nvPr/>
        </p:nvSpPr>
        <p:spPr>
          <a:xfrm>
            <a:off x="80010" y="262890"/>
            <a:ext cx="5737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 err="1"/>
              <a:t>Always</a:t>
            </a:r>
            <a:r>
              <a:rPr lang="es-MX" sz="2400" dirty="0"/>
              <a:t> </a:t>
            </a:r>
            <a:r>
              <a:rPr lang="es-MX" sz="2400" dirty="0" err="1"/>
              <a:t>start</a:t>
            </a:r>
            <a:r>
              <a:rPr lang="es-MX" sz="2400" dirty="0"/>
              <a:t> simple, </a:t>
            </a:r>
            <a:r>
              <a:rPr lang="es-MX" sz="2400" dirty="0" err="1"/>
              <a:t>know</a:t>
            </a:r>
            <a:r>
              <a:rPr lang="es-MX" sz="2400" dirty="0"/>
              <a:t> </a:t>
            </a:r>
            <a:r>
              <a:rPr lang="es-MX" sz="2400" dirty="0" err="1"/>
              <a:t>your</a:t>
            </a:r>
            <a:r>
              <a:rPr lang="es-MX" sz="2400" dirty="0"/>
              <a:t>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BB8C61-9957-3A81-D479-AB73CC02F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04" y="986404"/>
            <a:ext cx="8535591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012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0127AE-B29E-4FDF-99D2-A2F1E7003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9746D-3C50-C9CE-83D2-97125AADE9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38" r="4927" b="1"/>
          <a:stretch>
            <a:fillRect/>
          </a:stretch>
        </p:blipFill>
        <p:spPr>
          <a:xfrm>
            <a:off x="20" y="10"/>
            <a:ext cx="9947062" cy="685799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8B598134-D292-43E6-9C55-117198046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1834" y="0"/>
            <a:ext cx="4980168" cy="6858000"/>
          </a:xfrm>
          <a:custGeom>
            <a:avLst/>
            <a:gdLst>
              <a:gd name="connsiteX0" fmla="*/ 1623023 w 4901771"/>
              <a:gd name="connsiteY0" fmla="*/ 0 h 6858000"/>
              <a:gd name="connsiteX1" fmla="*/ 2716256 w 4901771"/>
              <a:gd name="connsiteY1" fmla="*/ 0 h 6858000"/>
              <a:gd name="connsiteX2" fmla="*/ 3496422 w 4901771"/>
              <a:gd name="connsiteY2" fmla="*/ 0 h 6858000"/>
              <a:gd name="connsiteX3" fmla="*/ 4544484 w 4901771"/>
              <a:gd name="connsiteY3" fmla="*/ 0 h 6858000"/>
              <a:gd name="connsiteX4" fmla="*/ 4710787 w 4901771"/>
              <a:gd name="connsiteY4" fmla="*/ 0 h 6858000"/>
              <a:gd name="connsiteX5" fmla="*/ 4901771 w 4901771"/>
              <a:gd name="connsiteY5" fmla="*/ 0 h 6858000"/>
              <a:gd name="connsiteX6" fmla="*/ 4901771 w 4901771"/>
              <a:gd name="connsiteY6" fmla="*/ 6858000 h 6858000"/>
              <a:gd name="connsiteX7" fmla="*/ 4710787 w 4901771"/>
              <a:gd name="connsiteY7" fmla="*/ 6858000 h 6858000"/>
              <a:gd name="connsiteX8" fmla="*/ 4544484 w 4901771"/>
              <a:gd name="connsiteY8" fmla="*/ 6858000 h 6858000"/>
              <a:gd name="connsiteX9" fmla="*/ 3496422 w 4901771"/>
              <a:gd name="connsiteY9" fmla="*/ 6858000 h 6858000"/>
              <a:gd name="connsiteX10" fmla="*/ 2716256 w 4901771"/>
              <a:gd name="connsiteY10" fmla="*/ 6858000 h 6858000"/>
              <a:gd name="connsiteX11" fmla="*/ 2502754 w 4901771"/>
              <a:gd name="connsiteY11" fmla="*/ 6858000 h 6858000"/>
              <a:gd name="connsiteX12" fmla="*/ 2390998 w 4901771"/>
              <a:gd name="connsiteY12" fmla="*/ 6780599 h 6858000"/>
              <a:gd name="connsiteX13" fmla="*/ 1874350 w 4901771"/>
              <a:gd name="connsiteY13" fmla="*/ 6374814 h 6858000"/>
              <a:gd name="connsiteX14" fmla="*/ 0 w 4901771"/>
              <a:gd name="connsiteY14" fmla="*/ 3621656 h 6858000"/>
              <a:gd name="connsiteX15" fmla="*/ 1600899 w 4901771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A62FE4-F49C-487E-0869-6BFCB6618C7B}"/>
              </a:ext>
            </a:extLst>
          </p:cNvPr>
          <p:cNvSpPr txBox="1"/>
          <p:nvPr/>
        </p:nvSpPr>
        <p:spPr>
          <a:xfrm>
            <a:off x="7695125" y="2625918"/>
            <a:ext cx="4013586" cy="2592125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SPSS: Analyze -&gt; Compare means and proportions -&gt; Independent Samples T-test</a:t>
            </a:r>
          </a:p>
        </p:txBody>
      </p:sp>
    </p:spTree>
    <p:extLst>
      <p:ext uri="{BB962C8B-B14F-4D97-AF65-F5344CB8AC3E}">
        <p14:creationId xmlns:p14="http://schemas.microsoft.com/office/powerpoint/2010/main" val="3999977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A8CB3-CB34-03BE-D723-732196D13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86" y="245629"/>
            <a:ext cx="5830114" cy="165758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E2291FC-1D23-0175-2F02-716FDA818DC4}"/>
              </a:ext>
            </a:extLst>
          </p:cNvPr>
          <p:cNvGrpSpPr/>
          <p:nvPr/>
        </p:nvGrpSpPr>
        <p:grpSpPr>
          <a:xfrm>
            <a:off x="129690" y="2033424"/>
            <a:ext cx="8602275" cy="2333951"/>
            <a:chOff x="346860" y="2262024"/>
            <a:chExt cx="8602275" cy="233395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7FCCFBE-7A47-DBB9-960E-9D9DDC738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6860" y="3155604"/>
              <a:ext cx="2896004" cy="137179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59C59DA-CBFB-0D77-2C87-A7AEE99B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2864" y="2262024"/>
              <a:ext cx="5706271" cy="2333951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6C9A3CC-3AB1-ABC0-8197-83BAEEDF3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90" y="5030084"/>
            <a:ext cx="6230219" cy="9812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77E486-24BC-3C90-3F1C-774BD1A42FE9}"/>
              </a:ext>
            </a:extLst>
          </p:cNvPr>
          <p:cNvSpPr txBox="1"/>
          <p:nvPr/>
        </p:nvSpPr>
        <p:spPr>
          <a:xfrm>
            <a:off x="8941362" y="2690336"/>
            <a:ext cx="29686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Consumers</a:t>
            </a:r>
            <a:r>
              <a:rPr lang="es-MX" dirty="0"/>
              <a:t> </a:t>
            </a:r>
            <a:r>
              <a:rPr lang="es-MX" dirty="0" err="1"/>
              <a:t>add</a:t>
            </a:r>
            <a:r>
              <a:rPr lang="es-MX" dirty="0"/>
              <a:t> more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cart</a:t>
            </a:r>
            <a:r>
              <a:rPr lang="es-MX" dirty="0"/>
              <a:t> in </a:t>
            </a:r>
            <a:r>
              <a:rPr lang="es-MX" dirty="0" err="1"/>
              <a:t>the</a:t>
            </a:r>
            <a:r>
              <a:rPr lang="es-MX" dirty="0"/>
              <a:t> control </a:t>
            </a:r>
            <a:r>
              <a:rPr lang="es-MX" dirty="0" err="1"/>
              <a:t>group</a:t>
            </a:r>
            <a:r>
              <a:rPr lang="es-MX" dirty="0"/>
              <a:t>, </a:t>
            </a:r>
            <a:r>
              <a:rPr lang="es-MX" dirty="0" err="1"/>
              <a:t>strongly</a:t>
            </a:r>
            <a:r>
              <a:rPr lang="es-MX" dirty="0"/>
              <a:t> so, </a:t>
            </a:r>
            <a:r>
              <a:rPr lang="es-MX" dirty="0" err="1"/>
              <a:t>but</a:t>
            </a:r>
            <a:r>
              <a:rPr lang="es-MX" dirty="0"/>
              <a:t> do </a:t>
            </a:r>
            <a:r>
              <a:rPr lang="es-MX" dirty="0" err="1"/>
              <a:t>not</a:t>
            </a:r>
            <a:r>
              <a:rPr lang="es-MX" dirty="0"/>
              <a:t> </a:t>
            </a:r>
            <a:r>
              <a:rPr lang="es-MX" dirty="0" err="1"/>
              <a:t>purchase</a:t>
            </a:r>
            <a:r>
              <a:rPr lang="es-MX" dirty="0"/>
              <a:t> more (p, ES)</a:t>
            </a:r>
          </a:p>
        </p:txBody>
      </p:sp>
    </p:spTree>
    <p:extLst>
      <p:ext uri="{BB962C8B-B14F-4D97-AF65-F5344CB8AC3E}">
        <p14:creationId xmlns:p14="http://schemas.microsoft.com/office/powerpoint/2010/main" val="3964310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0127AE-B29E-4FDF-99D2-A2F1E7003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9BB7E9A-6937-4BF0-9F51-A20F197B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0939753-89D7-48A8-8441-B9FF25CE8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4167" y="0"/>
            <a:ext cx="5687681" cy="5708856"/>
          </a:xfrm>
          <a:custGeom>
            <a:avLst/>
            <a:gdLst>
              <a:gd name="connsiteX0" fmla="*/ 2787282 w 5687681"/>
              <a:gd name="connsiteY0" fmla="*/ 0 h 5708856"/>
              <a:gd name="connsiteX1" fmla="*/ 3988996 w 5687681"/>
              <a:gd name="connsiteY1" fmla="*/ 0 h 5708856"/>
              <a:gd name="connsiteX2" fmla="*/ 4236253 w 5687681"/>
              <a:gd name="connsiteY2" fmla="*/ 68070 h 5708856"/>
              <a:gd name="connsiteX3" fmla="*/ 4483543 w 5687681"/>
              <a:gd name="connsiteY3" fmla="*/ 168573 h 5708856"/>
              <a:gd name="connsiteX4" fmla="*/ 5265611 w 5687681"/>
              <a:gd name="connsiteY4" fmla="*/ 790441 h 5708856"/>
              <a:gd name="connsiteX5" fmla="*/ 5682608 w 5687681"/>
              <a:gd name="connsiteY5" fmla="*/ 1499885 h 5708856"/>
              <a:gd name="connsiteX6" fmla="*/ 5687681 w 5687681"/>
              <a:gd name="connsiteY6" fmla="*/ 1513862 h 5708856"/>
              <a:gd name="connsiteX7" fmla="*/ 5687681 w 5687681"/>
              <a:gd name="connsiteY7" fmla="*/ 3841322 h 5708856"/>
              <a:gd name="connsiteX8" fmla="*/ 5651147 w 5687681"/>
              <a:gd name="connsiteY8" fmla="*/ 3896489 h 5708856"/>
              <a:gd name="connsiteX9" fmla="*/ 4734255 w 5687681"/>
              <a:gd name="connsiteY9" fmla="*/ 4737639 h 5708856"/>
              <a:gd name="connsiteX10" fmla="*/ 4532663 w 5687681"/>
              <a:gd name="connsiteY10" fmla="*/ 4898543 h 5708856"/>
              <a:gd name="connsiteX11" fmla="*/ 2876165 w 5687681"/>
              <a:gd name="connsiteY11" fmla="*/ 5708856 h 5708856"/>
              <a:gd name="connsiteX12" fmla="*/ 694066 w 5687681"/>
              <a:gd name="connsiteY12" fmla="*/ 4391717 h 5708856"/>
              <a:gd name="connsiteX13" fmla="*/ 461517 w 5687681"/>
              <a:gd name="connsiteY13" fmla="*/ 4054756 h 5708856"/>
              <a:gd name="connsiteX14" fmla="*/ 0 w 5687681"/>
              <a:gd name="connsiteY14" fmla="*/ 2993139 h 5708856"/>
              <a:gd name="connsiteX15" fmla="*/ 278855 w 5687681"/>
              <a:gd name="connsiteY15" fmla="*/ 1849819 h 5708856"/>
              <a:gd name="connsiteX16" fmla="*/ 1047879 w 5687681"/>
              <a:gd name="connsiteY16" fmla="*/ 867400 h 5708856"/>
              <a:gd name="connsiteX17" fmla="*/ 2159714 w 5687681"/>
              <a:gd name="connsiteY17" fmla="*/ 186098 h 5708856"/>
              <a:gd name="connsiteX18" fmla="*/ 2785137 w 5687681"/>
              <a:gd name="connsiteY18" fmla="*/ 372 h 570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87681" h="5708856">
                <a:moveTo>
                  <a:pt x="2787282" y="0"/>
                </a:moveTo>
                <a:lnTo>
                  <a:pt x="3988996" y="0"/>
                </a:lnTo>
                <a:lnTo>
                  <a:pt x="4236253" y="68070"/>
                </a:lnTo>
                <a:cubicBezTo>
                  <a:pt x="4321147" y="96843"/>
                  <a:pt x="4403628" y="130356"/>
                  <a:pt x="4483543" y="168573"/>
                </a:cubicBezTo>
                <a:cubicBezTo>
                  <a:pt x="4783119" y="311949"/>
                  <a:pt x="5046239" y="521215"/>
                  <a:pt x="5265611" y="790441"/>
                </a:cubicBezTo>
                <a:cubicBezTo>
                  <a:pt x="5433740" y="996857"/>
                  <a:pt x="5573537" y="1235870"/>
                  <a:pt x="5682608" y="1499885"/>
                </a:cubicBezTo>
                <a:lnTo>
                  <a:pt x="5687681" y="1513862"/>
                </a:lnTo>
                <a:lnTo>
                  <a:pt x="5687681" y="3841322"/>
                </a:lnTo>
                <a:lnTo>
                  <a:pt x="5651147" y="3896489"/>
                </a:lnTo>
                <a:cubicBezTo>
                  <a:pt x="5427171" y="4186934"/>
                  <a:pt x="5090625" y="4454446"/>
                  <a:pt x="4734255" y="4737639"/>
                </a:cubicBezTo>
                <a:cubicBezTo>
                  <a:pt x="4668506" y="4789825"/>
                  <a:pt x="4600584" y="4843856"/>
                  <a:pt x="4532663" y="4898543"/>
                </a:cubicBezTo>
                <a:cubicBezTo>
                  <a:pt x="3924681" y="5387974"/>
                  <a:pt x="3480945" y="5708856"/>
                  <a:pt x="2876165" y="5708856"/>
                </a:cubicBezTo>
                <a:cubicBezTo>
                  <a:pt x="1954665" y="5708856"/>
                  <a:pt x="1302047" y="5314966"/>
                  <a:pt x="694066" y="4391717"/>
                </a:cubicBezTo>
                <a:cubicBezTo>
                  <a:pt x="614503" y="4270875"/>
                  <a:pt x="536731" y="4160972"/>
                  <a:pt x="461517" y="4054756"/>
                </a:cubicBezTo>
                <a:cubicBezTo>
                  <a:pt x="149788" y="3614348"/>
                  <a:pt x="0" y="3385316"/>
                  <a:pt x="0" y="2993139"/>
                </a:cubicBezTo>
                <a:cubicBezTo>
                  <a:pt x="0" y="2603731"/>
                  <a:pt x="93889" y="2219065"/>
                  <a:pt x="278855" y="1849819"/>
                </a:cubicBezTo>
                <a:cubicBezTo>
                  <a:pt x="459854" y="1488610"/>
                  <a:pt x="718625" y="1157977"/>
                  <a:pt x="1047879" y="867400"/>
                </a:cubicBezTo>
                <a:cubicBezTo>
                  <a:pt x="1371504" y="581701"/>
                  <a:pt x="1755887" y="346080"/>
                  <a:pt x="2159714" y="186098"/>
                </a:cubicBezTo>
                <a:cubicBezTo>
                  <a:pt x="2367064" y="103803"/>
                  <a:pt x="2576044" y="41801"/>
                  <a:pt x="2785137" y="372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F5CCFC5-858F-4B45-9B10-D49DD0280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5450" y="0"/>
            <a:ext cx="5866550" cy="5788550"/>
          </a:xfrm>
          <a:custGeom>
            <a:avLst/>
            <a:gdLst>
              <a:gd name="connsiteX0" fmla="*/ 2331396 w 5798121"/>
              <a:gd name="connsiteY0" fmla="*/ 0 h 5788550"/>
              <a:gd name="connsiteX1" fmla="*/ 4658651 w 5798121"/>
              <a:gd name="connsiteY1" fmla="*/ 0 h 5788550"/>
              <a:gd name="connsiteX2" fmla="*/ 4682835 w 5798121"/>
              <a:gd name="connsiteY2" fmla="*/ 9816 h 5788550"/>
              <a:gd name="connsiteX3" fmla="*/ 5499667 w 5798121"/>
              <a:gd name="connsiteY3" fmla="*/ 658449 h 5788550"/>
              <a:gd name="connsiteX4" fmla="*/ 5665313 w 5798121"/>
              <a:gd name="connsiteY4" fmla="*/ 884789 h 5788550"/>
              <a:gd name="connsiteX5" fmla="*/ 5798121 w 5798121"/>
              <a:gd name="connsiteY5" fmla="*/ 1110681 h 5788550"/>
              <a:gd name="connsiteX6" fmla="*/ 5798121 w 5798121"/>
              <a:gd name="connsiteY6" fmla="*/ 4016954 h 5788550"/>
              <a:gd name="connsiteX7" fmla="*/ 5706359 w 5798121"/>
              <a:gd name="connsiteY7" fmla="*/ 4121532 h 5788550"/>
              <a:gd name="connsiteX8" fmla="*/ 4944692 w 5798121"/>
              <a:gd name="connsiteY8" fmla="*/ 4775532 h 5788550"/>
              <a:gd name="connsiteX9" fmla="*/ 4734137 w 5798121"/>
              <a:gd name="connsiteY9" fmla="*/ 4943362 h 5788550"/>
              <a:gd name="connsiteX10" fmla="*/ 3004009 w 5798121"/>
              <a:gd name="connsiteY10" fmla="*/ 5788550 h 5788550"/>
              <a:gd name="connsiteX11" fmla="*/ 724917 w 5798121"/>
              <a:gd name="connsiteY11" fmla="*/ 4414722 h 5788550"/>
              <a:gd name="connsiteX12" fmla="*/ 482031 w 5798121"/>
              <a:gd name="connsiteY12" fmla="*/ 4063258 h 5788550"/>
              <a:gd name="connsiteX13" fmla="*/ 0 w 5798121"/>
              <a:gd name="connsiteY13" fmla="*/ 2955950 h 5788550"/>
              <a:gd name="connsiteX14" fmla="*/ 291250 w 5798121"/>
              <a:gd name="connsiteY14" fmla="*/ 1763422 h 5788550"/>
              <a:gd name="connsiteX15" fmla="*/ 1094457 w 5798121"/>
              <a:gd name="connsiteY15" fmla="*/ 738720 h 5788550"/>
              <a:gd name="connsiteX16" fmla="*/ 2255713 w 5798121"/>
              <a:gd name="connsiteY16" fmla="*/ 28095 h 5788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98121" h="5788550">
                <a:moveTo>
                  <a:pt x="2331396" y="0"/>
                </a:moveTo>
                <a:lnTo>
                  <a:pt x="4658651" y="0"/>
                </a:lnTo>
                <a:lnTo>
                  <a:pt x="4682835" y="9816"/>
                </a:lnTo>
                <a:cubicBezTo>
                  <a:pt x="4995727" y="159362"/>
                  <a:pt x="5270543" y="377635"/>
                  <a:pt x="5499667" y="658449"/>
                </a:cubicBezTo>
                <a:cubicBezTo>
                  <a:pt x="5558201" y="730215"/>
                  <a:pt x="5613447" y="805760"/>
                  <a:pt x="5665313" y="884789"/>
                </a:cubicBezTo>
                <a:lnTo>
                  <a:pt x="5798121" y="1110681"/>
                </a:lnTo>
                <a:lnTo>
                  <a:pt x="5798121" y="4016954"/>
                </a:lnTo>
                <a:lnTo>
                  <a:pt x="5706359" y="4121532"/>
                </a:lnTo>
                <a:cubicBezTo>
                  <a:pt x="5491360" y="4341659"/>
                  <a:pt x="5223849" y="4553996"/>
                  <a:pt x="4944692" y="4775532"/>
                </a:cubicBezTo>
                <a:cubicBezTo>
                  <a:pt x="4876021" y="4829964"/>
                  <a:pt x="4805079" y="4886320"/>
                  <a:pt x="4734137" y="4943362"/>
                </a:cubicBezTo>
                <a:cubicBezTo>
                  <a:pt x="4099133" y="5453857"/>
                  <a:pt x="3635672" y="5788550"/>
                  <a:pt x="3004009" y="5788550"/>
                </a:cubicBezTo>
                <a:cubicBezTo>
                  <a:pt x="2041550" y="5788550"/>
                  <a:pt x="1359922" y="5377707"/>
                  <a:pt x="724917" y="4414722"/>
                </a:cubicBezTo>
                <a:cubicBezTo>
                  <a:pt x="641818" y="4288679"/>
                  <a:pt x="560588" y="4174046"/>
                  <a:pt x="482031" y="4063258"/>
                </a:cubicBezTo>
                <a:cubicBezTo>
                  <a:pt x="156446" y="3603895"/>
                  <a:pt x="0" y="3365006"/>
                  <a:pt x="0" y="2955950"/>
                </a:cubicBezTo>
                <a:cubicBezTo>
                  <a:pt x="0" y="2549782"/>
                  <a:pt x="98062" y="2148559"/>
                  <a:pt x="291250" y="1763422"/>
                </a:cubicBezTo>
                <a:cubicBezTo>
                  <a:pt x="480295" y="1386666"/>
                  <a:pt x="750568" y="1041802"/>
                  <a:pt x="1094457" y="738720"/>
                </a:cubicBezTo>
                <a:cubicBezTo>
                  <a:pt x="1432467" y="440725"/>
                  <a:pt x="1833935" y="194963"/>
                  <a:pt x="2255713" y="2809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852D44-5551-C691-EED2-AE292EF66579}"/>
              </a:ext>
            </a:extLst>
          </p:cNvPr>
          <p:cNvSpPr txBox="1"/>
          <p:nvPr/>
        </p:nvSpPr>
        <p:spPr>
          <a:xfrm>
            <a:off x="362524" y="806186"/>
            <a:ext cx="5866550" cy="3467518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Task: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 of the campaigns makes people add more to the cart but do not increase purchases. </a:t>
            </a: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pc="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marketing strategy could you think of to ameliorate such situation for that campaign?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348ECDC-D455-4B71-90F6-2ECC12B79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3734" y="0"/>
            <a:ext cx="5568114" cy="5577748"/>
          </a:xfrm>
          <a:custGeom>
            <a:avLst/>
            <a:gdLst>
              <a:gd name="connsiteX0" fmla="*/ 2959946 w 5568114"/>
              <a:gd name="connsiteY0" fmla="*/ 0 h 5577748"/>
              <a:gd name="connsiteX1" fmla="*/ 3614224 w 5568114"/>
              <a:gd name="connsiteY1" fmla="*/ 0 h 5577748"/>
              <a:gd name="connsiteX2" fmla="*/ 3844432 w 5568114"/>
              <a:gd name="connsiteY2" fmla="*/ 36392 h 5577748"/>
              <a:gd name="connsiteX3" fmla="*/ 4336826 w 5568114"/>
              <a:gd name="connsiteY3" fmla="*/ 203778 h 5577748"/>
              <a:gd name="connsiteX4" fmla="*/ 5093304 w 5568114"/>
              <a:gd name="connsiteY4" fmla="*/ 806978 h 5577748"/>
              <a:gd name="connsiteX5" fmla="*/ 5496656 w 5568114"/>
              <a:gd name="connsiteY5" fmla="*/ 1495125 h 5577748"/>
              <a:gd name="connsiteX6" fmla="*/ 5568114 w 5568114"/>
              <a:gd name="connsiteY6" fmla="*/ 1692569 h 5577748"/>
              <a:gd name="connsiteX7" fmla="*/ 5568114 w 5568114"/>
              <a:gd name="connsiteY7" fmla="*/ 3665503 h 5577748"/>
              <a:gd name="connsiteX8" fmla="*/ 5466225 w 5568114"/>
              <a:gd name="connsiteY8" fmla="*/ 3819786 h 5577748"/>
              <a:gd name="connsiteX9" fmla="*/ 4579336 w 5568114"/>
              <a:gd name="connsiteY9" fmla="*/ 4635686 h 5577748"/>
              <a:gd name="connsiteX10" fmla="*/ 4384340 w 5568114"/>
              <a:gd name="connsiteY10" fmla="*/ 4791760 h 5577748"/>
              <a:gd name="connsiteX11" fmla="*/ 2782048 w 5568114"/>
              <a:gd name="connsiteY11" fmla="*/ 5577748 h 5577748"/>
              <a:gd name="connsiteX12" fmla="*/ 671354 w 5568114"/>
              <a:gd name="connsiteY12" fmla="*/ 4300148 h 5577748"/>
              <a:gd name="connsiteX13" fmla="*/ 446415 w 5568114"/>
              <a:gd name="connsiteY13" fmla="*/ 3973302 h 5577748"/>
              <a:gd name="connsiteX14" fmla="*/ 0 w 5568114"/>
              <a:gd name="connsiteY14" fmla="*/ 2943554 h 5577748"/>
              <a:gd name="connsiteX15" fmla="*/ 269730 w 5568114"/>
              <a:gd name="connsiteY15" fmla="*/ 1834555 h 5577748"/>
              <a:gd name="connsiteX16" fmla="*/ 1013589 w 5568114"/>
              <a:gd name="connsiteY16" fmla="*/ 881627 h 5577748"/>
              <a:gd name="connsiteX17" fmla="*/ 2089042 w 5568114"/>
              <a:gd name="connsiteY17" fmla="*/ 220777 h 5577748"/>
              <a:gd name="connsiteX18" fmla="*/ 2845684 w 5568114"/>
              <a:gd name="connsiteY18" fmla="*/ 14234 h 557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568114" h="5577748">
                <a:moveTo>
                  <a:pt x="2959946" y="0"/>
                </a:moveTo>
                <a:lnTo>
                  <a:pt x="3614224" y="0"/>
                </a:lnTo>
                <a:lnTo>
                  <a:pt x="3844432" y="36392"/>
                </a:lnTo>
                <a:cubicBezTo>
                  <a:pt x="4017699" y="73748"/>
                  <a:pt x="4182227" y="129639"/>
                  <a:pt x="4336826" y="203778"/>
                </a:cubicBezTo>
                <a:cubicBezTo>
                  <a:pt x="4626600" y="342850"/>
                  <a:pt x="4881111" y="545834"/>
                  <a:pt x="5093304" y="806978"/>
                </a:cubicBezTo>
                <a:cubicBezTo>
                  <a:pt x="5255931" y="1007198"/>
                  <a:pt x="5391154" y="1239036"/>
                  <a:pt x="5496656" y="1495125"/>
                </a:cubicBezTo>
                <a:lnTo>
                  <a:pt x="5568114" y="1692569"/>
                </a:lnTo>
                <a:lnTo>
                  <a:pt x="5568114" y="3665503"/>
                </a:lnTo>
                <a:lnTo>
                  <a:pt x="5466225" y="3819786"/>
                </a:lnTo>
                <a:cubicBezTo>
                  <a:pt x="5249576" y="4101511"/>
                  <a:pt x="4924044" y="4360994"/>
                  <a:pt x="4579336" y="4635686"/>
                </a:cubicBezTo>
                <a:cubicBezTo>
                  <a:pt x="4515738" y="4686305"/>
                  <a:pt x="4450038" y="4738713"/>
                  <a:pt x="4384340" y="4791760"/>
                </a:cubicBezTo>
                <a:cubicBezTo>
                  <a:pt x="3796254" y="5266498"/>
                  <a:pt x="3367038" y="5577748"/>
                  <a:pt x="2782048" y="5577748"/>
                </a:cubicBezTo>
                <a:cubicBezTo>
                  <a:pt x="1890703" y="5577748"/>
                  <a:pt x="1259439" y="5195682"/>
                  <a:pt x="671354" y="4300148"/>
                </a:cubicBezTo>
                <a:cubicBezTo>
                  <a:pt x="594395" y="4182934"/>
                  <a:pt x="519167" y="4076330"/>
                  <a:pt x="446415" y="3973302"/>
                </a:cubicBezTo>
                <a:cubicBezTo>
                  <a:pt x="144886" y="3546115"/>
                  <a:pt x="0" y="3323958"/>
                  <a:pt x="0" y="2943554"/>
                </a:cubicBezTo>
                <a:cubicBezTo>
                  <a:pt x="0" y="2565835"/>
                  <a:pt x="90816" y="2192716"/>
                  <a:pt x="269730" y="1834555"/>
                </a:cubicBezTo>
                <a:cubicBezTo>
                  <a:pt x="444806" y="1484188"/>
                  <a:pt x="695109" y="1163480"/>
                  <a:pt x="1013589" y="881627"/>
                </a:cubicBezTo>
                <a:cubicBezTo>
                  <a:pt x="1326624" y="604505"/>
                  <a:pt x="1698428" y="375956"/>
                  <a:pt x="2089042" y="220777"/>
                </a:cubicBezTo>
                <a:cubicBezTo>
                  <a:pt x="2339747" y="120996"/>
                  <a:pt x="2592918" y="51971"/>
                  <a:pt x="2845684" y="1423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Small white light bulbs with one large yellow light bulb drawn on a black surface">
            <a:extLst>
              <a:ext uri="{FF2B5EF4-FFF2-40B4-BE49-F238E27FC236}">
                <a16:creationId xmlns:a16="http://schemas.microsoft.com/office/drawing/2014/main" id="{9676B0A1-9B99-5B01-E392-60F092ECCE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5" r="1" b="1"/>
          <a:stretch>
            <a:fillRect/>
          </a:stretch>
        </p:blipFill>
        <p:spPr>
          <a:xfrm>
            <a:off x="6877878" y="294199"/>
            <a:ext cx="5150794" cy="5001370"/>
          </a:xfrm>
          <a:custGeom>
            <a:avLst/>
            <a:gdLst/>
            <a:ahLst/>
            <a:cxnLst/>
            <a:rect l="l" t="t" r="r" b="b"/>
            <a:pathLst>
              <a:path w="5044104" h="4896924">
                <a:moveTo>
                  <a:pt x="2886613" y="0"/>
                </a:moveTo>
                <a:cubicBezTo>
                  <a:pt x="3218269" y="0"/>
                  <a:pt x="3523512" y="65865"/>
                  <a:pt x="3794011" y="195584"/>
                </a:cubicBezTo>
                <a:cubicBezTo>
                  <a:pt x="4047516" y="317247"/>
                  <a:pt x="4270172" y="494825"/>
                  <a:pt x="4455804" y="723284"/>
                </a:cubicBezTo>
                <a:cubicBezTo>
                  <a:pt x="4835198" y="1190375"/>
                  <a:pt x="5044104" y="1854168"/>
                  <a:pt x="5044104" y="2592438"/>
                </a:cubicBezTo>
                <a:cubicBezTo>
                  <a:pt x="5044104" y="2886985"/>
                  <a:pt x="4963247" y="3123382"/>
                  <a:pt x="4782050" y="3358996"/>
                </a:cubicBezTo>
                <a:cubicBezTo>
                  <a:pt x="4592516" y="3605460"/>
                  <a:pt x="4307730" y="3832465"/>
                  <a:pt x="4006167" y="4072775"/>
                </a:cubicBezTo>
                <a:cubicBezTo>
                  <a:pt x="3950530" y="4117058"/>
                  <a:pt x="3893052" y="4162907"/>
                  <a:pt x="3835576" y="4209314"/>
                </a:cubicBezTo>
                <a:cubicBezTo>
                  <a:pt x="3321099" y="4624632"/>
                  <a:pt x="2945605" y="4896924"/>
                  <a:pt x="2433835" y="4896924"/>
                </a:cubicBezTo>
                <a:cubicBezTo>
                  <a:pt x="1654054" y="4896924"/>
                  <a:pt x="1101803" y="4562680"/>
                  <a:pt x="587325" y="3779234"/>
                </a:cubicBezTo>
                <a:cubicBezTo>
                  <a:pt x="519999" y="3676690"/>
                  <a:pt x="454187" y="3583430"/>
                  <a:pt x="390540" y="3493298"/>
                </a:cubicBezTo>
                <a:cubicBezTo>
                  <a:pt x="126752" y="3119579"/>
                  <a:pt x="0" y="2925228"/>
                  <a:pt x="0" y="2592438"/>
                </a:cubicBezTo>
                <a:cubicBezTo>
                  <a:pt x="0" y="2261996"/>
                  <a:pt x="79450" y="1935577"/>
                  <a:pt x="235969" y="1622244"/>
                </a:cubicBezTo>
                <a:cubicBezTo>
                  <a:pt x="389133" y="1315731"/>
                  <a:pt x="608107" y="1035165"/>
                  <a:pt x="886724" y="788590"/>
                </a:cubicBezTo>
                <a:cubicBezTo>
                  <a:pt x="1160578" y="546153"/>
                  <a:pt x="1485846" y="346211"/>
                  <a:pt x="1827568" y="210454"/>
                </a:cubicBezTo>
                <a:cubicBezTo>
                  <a:pt x="2178491" y="70787"/>
                  <a:pt x="2534934" y="0"/>
                  <a:pt x="28866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81146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8B4743-A8B0-D0AE-3A9F-BF02C0ECE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F7F5D751-A79A-CC86-C893-861A7E494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24E4EA0E-F122-2CA3-E664-0A832E40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F9182C62-DA27-21D5-98DD-58BBC1DA0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45C0596-9A7E-B627-2330-C75665D61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B9361F67-4646-87F4-BA41-70808F827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59C228E0-43C6-7257-55E9-F5ED5839A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4D53AA38-9000-B08B-F40A-CD1CDC6D9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5C653973-FC71-FDD4-8B17-02BD12B09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CF79FC10-FBAD-B749-D6A6-665A42345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Stones balancing on a wood">
            <a:extLst>
              <a:ext uri="{FF2B5EF4-FFF2-40B4-BE49-F238E27FC236}">
                <a16:creationId xmlns:a16="http://schemas.microsoft.com/office/drawing/2014/main" id="{DFEAABB4-ADED-D3BC-60D2-022B0C793F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2" name="Rectangle 91">
            <a:extLst>
              <a:ext uri="{FF2B5EF4-FFF2-40B4-BE49-F238E27FC236}">
                <a16:creationId xmlns:a16="http://schemas.microsoft.com/office/drawing/2014/main" id="{73E07B4C-DDF9-710E-2D65-4F066A5FC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3360" y="0"/>
            <a:ext cx="8168639" cy="6858000"/>
          </a:xfrm>
          <a:prstGeom prst="rect">
            <a:avLst/>
          </a:prstGeom>
          <a:gradFill>
            <a:gsLst>
              <a:gs pos="58000">
                <a:schemeClr val="tx1">
                  <a:alpha val="55000"/>
                </a:schemeClr>
              </a:gs>
              <a:gs pos="33000">
                <a:schemeClr val="tx1">
                  <a:alpha val="40000"/>
                </a:schemeClr>
              </a:gs>
              <a:gs pos="3000">
                <a:schemeClr val="tx1">
                  <a:alpha val="0"/>
                </a:schemeClr>
              </a:gs>
              <a:gs pos="100000">
                <a:schemeClr val="tx1">
                  <a:alpha val="5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8EC3F3-07D2-5D31-941E-49815673129F}"/>
              </a:ext>
            </a:extLst>
          </p:cNvPr>
          <p:cNvSpPr txBox="1"/>
          <p:nvPr/>
        </p:nvSpPr>
        <p:spPr>
          <a:xfrm>
            <a:off x="6095999" y="1346268"/>
            <a:ext cx="5618431" cy="3285207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Discrete Choice Experiment</a:t>
            </a:r>
          </a:p>
        </p:txBody>
      </p:sp>
    </p:spTree>
    <p:extLst>
      <p:ext uri="{BB962C8B-B14F-4D97-AF65-F5344CB8AC3E}">
        <p14:creationId xmlns:p14="http://schemas.microsoft.com/office/powerpoint/2010/main" val="2528381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DF5FD-B4F0-D274-B19B-0FA28746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4BBA999-7799-1CE3-3000-4F96BF18F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3754124-E5FF-0B56-2C8A-804447438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" name="Picture 1" descr="A logo for a restaurant&#10;&#10;AI-generated content may be incorrect.">
            <a:extLst>
              <a:ext uri="{FF2B5EF4-FFF2-40B4-BE49-F238E27FC236}">
                <a16:creationId xmlns:a16="http://schemas.microsoft.com/office/drawing/2014/main" id="{CFC8E893-15AC-9C2E-BE8E-C70597EF3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76" r="1" b="3481"/>
          <a:stretch>
            <a:fillRect/>
          </a:stretch>
        </p:blipFill>
        <p:spPr>
          <a:xfrm>
            <a:off x="20" y="10"/>
            <a:ext cx="9947062" cy="685799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4E22CFD-A28A-4094-0375-359BFB39B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373ACBC8-4AB8-A31C-7A11-5EACC466E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1834" y="0"/>
            <a:ext cx="4980168" cy="6858000"/>
          </a:xfrm>
          <a:custGeom>
            <a:avLst/>
            <a:gdLst>
              <a:gd name="connsiteX0" fmla="*/ 1623023 w 4901771"/>
              <a:gd name="connsiteY0" fmla="*/ 0 h 6858000"/>
              <a:gd name="connsiteX1" fmla="*/ 2716256 w 4901771"/>
              <a:gd name="connsiteY1" fmla="*/ 0 h 6858000"/>
              <a:gd name="connsiteX2" fmla="*/ 3496422 w 4901771"/>
              <a:gd name="connsiteY2" fmla="*/ 0 h 6858000"/>
              <a:gd name="connsiteX3" fmla="*/ 4544484 w 4901771"/>
              <a:gd name="connsiteY3" fmla="*/ 0 h 6858000"/>
              <a:gd name="connsiteX4" fmla="*/ 4710787 w 4901771"/>
              <a:gd name="connsiteY4" fmla="*/ 0 h 6858000"/>
              <a:gd name="connsiteX5" fmla="*/ 4901771 w 4901771"/>
              <a:gd name="connsiteY5" fmla="*/ 0 h 6858000"/>
              <a:gd name="connsiteX6" fmla="*/ 4901771 w 4901771"/>
              <a:gd name="connsiteY6" fmla="*/ 6858000 h 6858000"/>
              <a:gd name="connsiteX7" fmla="*/ 4710787 w 4901771"/>
              <a:gd name="connsiteY7" fmla="*/ 6858000 h 6858000"/>
              <a:gd name="connsiteX8" fmla="*/ 4544484 w 4901771"/>
              <a:gd name="connsiteY8" fmla="*/ 6858000 h 6858000"/>
              <a:gd name="connsiteX9" fmla="*/ 3496422 w 4901771"/>
              <a:gd name="connsiteY9" fmla="*/ 6858000 h 6858000"/>
              <a:gd name="connsiteX10" fmla="*/ 2716256 w 4901771"/>
              <a:gd name="connsiteY10" fmla="*/ 6858000 h 6858000"/>
              <a:gd name="connsiteX11" fmla="*/ 2502754 w 4901771"/>
              <a:gd name="connsiteY11" fmla="*/ 6858000 h 6858000"/>
              <a:gd name="connsiteX12" fmla="*/ 2390998 w 4901771"/>
              <a:gd name="connsiteY12" fmla="*/ 6780599 h 6858000"/>
              <a:gd name="connsiteX13" fmla="*/ 1874350 w 4901771"/>
              <a:gd name="connsiteY13" fmla="*/ 6374814 h 6858000"/>
              <a:gd name="connsiteX14" fmla="*/ 0 w 4901771"/>
              <a:gd name="connsiteY14" fmla="*/ 3621656 h 6858000"/>
              <a:gd name="connsiteX15" fmla="*/ 1600899 w 4901771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9188EBC-099F-206E-277E-CD3651DDE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9E2CF9-6388-6BD0-6A66-D7DCD46E32DA}"/>
              </a:ext>
            </a:extLst>
          </p:cNvPr>
          <p:cNvSpPr txBox="1"/>
          <p:nvPr/>
        </p:nvSpPr>
        <p:spPr>
          <a:xfrm>
            <a:off x="7463791" y="2350107"/>
            <a:ext cx="4728210" cy="1616103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Tx/>
              <a:buSzTx/>
              <a:buFont typeface="Corbel" panose="020B0503020204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Santa Fe hired an advertising and marketing company to evaluate consumer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3818012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0127AE-B29E-4FDF-99D2-A2F1E7003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Baking ingredients on a table">
            <a:extLst>
              <a:ext uri="{FF2B5EF4-FFF2-40B4-BE49-F238E27FC236}">
                <a16:creationId xmlns:a16="http://schemas.microsoft.com/office/drawing/2014/main" id="{47757D13-4C09-E49F-B5C6-C2E93B4C05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81" r="1168" b="-1"/>
          <a:stretch>
            <a:fillRect/>
          </a:stretch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C679FA-B3B4-F77B-0449-81AD20E4CDAE}"/>
              </a:ext>
            </a:extLst>
          </p:cNvPr>
          <p:cNvSpPr txBox="1"/>
          <p:nvPr/>
        </p:nvSpPr>
        <p:spPr>
          <a:xfrm>
            <a:off x="2396596" y="2176009"/>
            <a:ext cx="21709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400" dirty="0" err="1"/>
              <a:t>Menu</a:t>
            </a:r>
            <a:r>
              <a:rPr lang="es-MX" sz="2400" dirty="0"/>
              <a:t> </a:t>
            </a:r>
            <a:r>
              <a:rPr lang="es-MX" sz="2400" dirty="0" err="1"/>
              <a:t>Size</a:t>
            </a:r>
            <a:endParaRPr lang="es-MX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400" dirty="0" err="1"/>
              <a:t>Location</a:t>
            </a:r>
            <a:endParaRPr lang="es-MX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400" dirty="0" err="1"/>
              <a:t>Ambience</a:t>
            </a:r>
            <a:endParaRPr lang="es-MX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400" dirty="0"/>
              <a:t>Price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78DDF-EB63-6CC6-465C-94997F5C0A56}"/>
              </a:ext>
            </a:extLst>
          </p:cNvPr>
          <p:cNvSpPr txBox="1"/>
          <p:nvPr/>
        </p:nvSpPr>
        <p:spPr>
          <a:xfrm>
            <a:off x="162211" y="567886"/>
            <a:ext cx="66396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err="1"/>
              <a:t>What</a:t>
            </a:r>
            <a:r>
              <a:rPr lang="es-MX" sz="2800" dirty="0"/>
              <a:t> mixture </a:t>
            </a:r>
            <a:r>
              <a:rPr lang="es-MX" sz="2800" dirty="0" err="1"/>
              <a:t>of</a:t>
            </a:r>
            <a:r>
              <a:rPr lang="es-MX" sz="2800" dirty="0"/>
              <a:t> </a:t>
            </a:r>
            <a:r>
              <a:rPr lang="es-MX" sz="2800" dirty="0" err="1"/>
              <a:t>features</a:t>
            </a:r>
            <a:r>
              <a:rPr lang="es-MX" sz="2800" dirty="0"/>
              <a:t> Santa Fe </a:t>
            </a:r>
            <a:r>
              <a:rPr lang="es-MX" sz="2800" dirty="0" err="1"/>
              <a:t>clients</a:t>
            </a:r>
            <a:r>
              <a:rPr lang="es-MX" sz="2800" dirty="0"/>
              <a:t> </a:t>
            </a:r>
            <a:r>
              <a:rPr lang="es-MX" sz="2800" dirty="0" err="1"/>
              <a:t>value</a:t>
            </a:r>
            <a:r>
              <a:rPr lang="es-MX" sz="2800" dirty="0"/>
              <a:t> more?</a:t>
            </a:r>
          </a:p>
        </p:txBody>
      </p:sp>
    </p:spTree>
    <p:extLst>
      <p:ext uri="{BB962C8B-B14F-4D97-AF65-F5344CB8AC3E}">
        <p14:creationId xmlns:p14="http://schemas.microsoft.com/office/powerpoint/2010/main" val="2494639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A3F6CF-E786-450A-BD3C-392903E69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09" y="892810"/>
            <a:ext cx="10376906" cy="5072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3DC350-EA74-6EC2-59C0-291C381A5BF3}"/>
              </a:ext>
            </a:extLst>
          </p:cNvPr>
          <p:cNvSpPr txBox="1"/>
          <p:nvPr/>
        </p:nvSpPr>
        <p:spPr>
          <a:xfrm>
            <a:off x="91440" y="240030"/>
            <a:ext cx="1179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 err="1"/>
              <a:t>Each</a:t>
            </a:r>
            <a:r>
              <a:rPr lang="es-MX" sz="2400" dirty="0"/>
              <a:t> </a:t>
            </a:r>
            <a:r>
              <a:rPr lang="es-MX" sz="2400" dirty="0" err="1"/>
              <a:t>respondant</a:t>
            </a:r>
            <a:r>
              <a:rPr lang="es-MX" sz="2400" dirty="0"/>
              <a:t> (n=200) </a:t>
            </a:r>
            <a:r>
              <a:rPr lang="es-MX" sz="2400" dirty="0" err="1"/>
              <a:t>answers</a:t>
            </a:r>
            <a:r>
              <a:rPr lang="es-MX" sz="2400" dirty="0"/>
              <a:t> </a:t>
            </a:r>
            <a:r>
              <a:rPr lang="es-MX" sz="2400" dirty="0" err="1"/>
              <a:t>this</a:t>
            </a:r>
            <a:r>
              <a:rPr lang="es-MX" sz="2400" dirty="0"/>
              <a:t> ten times </a:t>
            </a:r>
            <a:r>
              <a:rPr lang="es-MX" sz="2400" dirty="0" err="1"/>
              <a:t>with</a:t>
            </a:r>
            <a:r>
              <a:rPr lang="es-MX" sz="2400" dirty="0"/>
              <a:t> </a:t>
            </a:r>
            <a:r>
              <a:rPr lang="es-MX" sz="2400" dirty="0" err="1"/>
              <a:t>different</a:t>
            </a:r>
            <a:r>
              <a:rPr lang="es-MX" sz="2400" dirty="0"/>
              <a:t> </a:t>
            </a:r>
            <a:r>
              <a:rPr lang="es-MX" sz="2400" dirty="0" err="1"/>
              <a:t>combinations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4168072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049DCF-2556-CDE8-8BB7-02F6929600B0}"/>
                  </a:ext>
                </a:extLst>
              </p:cNvPr>
              <p:cNvSpPr txBox="1"/>
              <p:nvPr/>
            </p:nvSpPr>
            <p:spPr>
              <a:xfrm>
                <a:off x="4109085" y="2910620"/>
                <a:ext cx="3563989" cy="10367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𝑈𝑡𝑖𝑙𝑖𝑡</m:t>
                      </m:r>
                      <m:sSub>
                        <m:sSubPr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𝐹𝑒𝑎𝑡𝑢𝑟</m:t>
                          </m:r>
                          <m:sSub>
                            <m:sSubPr>
                              <m:ctrlP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049DCF-2556-CDE8-8BB7-02F692960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085" y="2910620"/>
                <a:ext cx="3563989" cy="10367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2ADF483-EFB6-EC75-B435-D0005919C3F7}"/>
              </a:ext>
            </a:extLst>
          </p:cNvPr>
          <p:cNvSpPr txBox="1"/>
          <p:nvPr/>
        </p:nvSpPr>
        <p:spPr>
          <a:xfrm>
            <a:off x="205740" y="868680"/>
            <a:ext cx="119862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Discrete </a:t>
            </a:r>
            <a:r>
              <a:rPr lang="es-MX" sz="2400" dirty="0" err="1"/>
              <a:t>choice</a:t>
            </a:r>
            <a:r>
              <a:rPr lang="es-MX" sz="2400" dirty="0"/>
              <a:t> </a:t>
            </a:r>
            <a:r>
              <a:rPr lang="es-MX" sz="2400" dirty="0" err="1"/>
              <a:t>model</a:t>
            </a:r>
            <a:r>
              <a:rPr lang="es-MX" sz="2400" dirty="0"/>
              <a:t>:</a:t>
            </a:r>
          </a:p>
          <a:p>
            <a:endParaRPr lang="es-MX" sz="2400" dirty="0"/>
          </a:p>
          <a:p>
            <a:r>
              <a:rPr lang="es-MX" sz="2400" dirty="0" err="1"/>
              <a:t>The</a:t>
            </a:r>
            <a:r>
              <a:rPr lang="es-MX" sz="2400" dirty="0"/>
              <a:t> </a:t>
            </a:r>
            <a:r>
              <a:rPr lang="es-MX" sz="2400" dirty="0" err="1"/>
              <a:t>utility</a:t>
            </a:r>
            <a:r>
              <a:rPr lang="es-MX" sz="2400" dirty="0"/>
              <a:t> </a:t>
            </a:r>
            <a:r>
              <a:rPr lang="es-MX" sz="2400" dirty="0" err="1"/>
              <a:t>of</a:t>
            </a:r>
            <a:r>
              <a:rPr lang="es-MX" sz="2400" dirty="0"/>
              <a:t> a particular </a:t>
            </a:r>
            <a:r>
              <a:rPr lang="es-MX" sz="2400" dirty="0" err="1"/>
              <a:t>mix</a:t>
            </a:r>
            <a:r>
              <a:rPr lang="es-MX" sz="2400" dirty="0"/>
              <a:t> i </a:t>
            </a:r>
            <a:r>
              <a:rPr lang="es-MX" sz="2400" dirty="0" err="1"/>
              <a:t>is</a:t>
            </a:r>
            <a:r>
              <a:rPr lang="es-MX" sz="2400" dirty="0"/>
              <a:t> a </a:t>
            </a:r>
            <a:r>
              <a:rPr lang="es-MX" sz="2400" dirty="0" err="1"/>
              <a:t>weighted</a:t>
            </a:r>
            <a:r>
              <a:rPr lang="es-MX" sz="2400" dirty="0"/>
              <a:t> sum </a:t>
            </a:r>
            <a:r>
              <a:rPr lang="es-MX" sz="2400" dirty="0" err="1"/>
              <a:t>of</a:t>
            </a:r>
            <a:r>
              <a:rPr lang="es-MX" sz="2400" dirty="0"/>
              <a:t> </a:t>
            </a:r>
            <a:r>
              <a:rPr lang="es-MX" sz="2400" dirty="0" err="1"/>
              <a:t>the</a:t>
            </a:r>
            <a:r>
              <a:rPr lang="es-MX" sz="2400" dirty="0"/>
              <a:t> </a:t>
            </a:r>
            <a:r>
              <a:rPr lang="es-MX" sz="2400" dirty="0" err="1"/>
              <a:t>features</a:t>
            </a:r>
            <a:r>
              <a:rPr lang="es-MX" sz="2400" dirty="0"/>
              <a:t> </a:t>
            </a:r>
            <a:r>
              <a:rPr lang="es-MX" sz="2400" dirty="0" err="1"/>
              <a:t>available</a:t>
            </a:r>
            <a:r>
              <a:rPr lang="es-MX" sz="2400" dirty="0"/>
              <a:t> in </a:t>
            </a:r>
            <a:r>
              <a:rPr lang="es-MX" sz="2400" dirty="0" err="1"/>
              <a:t>that</a:t>
            </a:r>
            <a:r>
              <a:rPr lang="es-MX" sz="2400" dirty="0"/>
              <a:t> </a:t>
            </a:r>
            <a:r>
              <a:rPr lang="es-MX" sz="2400" dirty="0" err="1"/>
              <a:t>mix</a:t>
            </a:r>
            <a:r>
              <a:rPr lang="es-MX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8733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Vibrant multicolor checkered floor design">
            <a:extLst>
              <a:ext uri="{FF2B5EF4-FFF2-40B4-BE49-F238E27FC236}">
                <a16:creationId xmlns:a16="http://schemas.microsoft.com/office/drawing/2014/main" id="{9B555F22-D7D1-A2BF-AA6C-F86A053D5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05" r="-1" b="1640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28A581D-1BC9-4759-AB42-F7685630E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52" y="3260035"/>
            <a:ext cx="5959692" cy="3597965"/>
          </a:xfrm>
          <a:custGeom>
            <a:avLst/>
            <a:gdLst>
              <a:gd name="connsiteX0" fmla="*/ 3008109 w 5959692"/>
              <a:gd name="connsiteY0" fmla="*/ 42 h 3560169"/>
              <a:gd name="connsiteX1" fmla="*/ 4702247 w 5959692"/>
              <a:gd name="connsiteY1" fmla="*/ 626282 h 3560169"/>
              <a:gd name="connsiteX2" fmla="*/ 5069411 w 5959692"/>
              <a:gd name="connsiteY2" fmla="*/ 865826 h 3560169"/>
              <a:gd name="connsiteX3" fmla="*/ 5895906 w 5959692"/>
              <a:gd name="connsiteY3" fmla="*/ 1594994 h 3560169"/>
              <a:gd name="connsiteX4" fmla="*/ 5959691 w 5959692"/>
              <a:gd name="connsiteY4" fmla="*/ 1728783 h 3560169"/>
              <a:gd name="connsiteX5" fmla="*/ 5959692 w 5959692"/>
              <a:gd name="connsiteY5" fmla="*/ 3560169 h 3560169"/>
              <a:gd name="connsiteX6" fmla="*/ 635 w 5959692"/>
              <a:gd name="connsiteY6" fmla="*/ 3560169 h 3560169"/>
              <a:gd name="connsiteX7" fmla="*/ 0 w 5959692"/>
              <a:gd name="connsiteY7" fmla="*/ 3534810 h 3560169"/>
              <a:gd name="connsiteX8" fmla="*/ 56896 w 5959692"/>
              <a:gd name="connsiteY8" fmla="*/ 3142342 h 3560169"/>
              <a:gd name="connsiteX9" fmla="*/ 605568 w 5959692"/>
              <a:gd name="connsiteY9" fmla="*/ 1932853 h 3560169"/>
              <a:gd name="connsiteX10" fmla="*/ 736162 w 5959692"/>
              <a:gd name="connsiteY10" fmla="*/ 1690788 h 3560169"/>
              <a:gd name="connsiteX11" fmla="*/ 2021319 w 5959692"/>
              <a:gd name="connsiteY11" fmla="*/ 209863 h 3560169"/>
              <a:gd name="connsiteX12" fmla="*/ 3008109 w 5959692"/>
              <a:gd name="connsiteY12" fmla="*/ 42 h 3560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959692" h="3560169">
                <a:moveTo>
                  <a:pt x="3008109" y="42"/>
                </a:moveTo>
                <a:cubicBezTo>
                  <a:pt x="3549058" y="3372"/>
                  <a:pt x="4091345" y="208628"/>
                  <a:pt x="4702247" y="626282"/>
                </a:cubicBezTo>
                <a:cubicBezTo>
                  <a:pt x="4830168" y="713755"/>
                  <a:pt x="4951806" y="791097"/>
                  <a:pt x="5069411" y="865826"/>
                </a:cubicBezTo>
                <a:cubicBezTo>
                  <a:pt x="5495976" y="1136988"/>
                  <a:pt x="5734167" y="1298128"/>
                  <a:pt x="5895906" y="1594994"/>
                </a:cubicBezTo>
                <a:lnTo>
                  <a:pt x="5959691" y="1728783"/>
                </a:lnTo>
                <a:lnTo>
                  <a:pt x="5959692" y="3560169"/>
                </a:lnTo>
                <a:lnTo>
                  <a:pt x="635" y="3560169"/>
                </a:lnTo>
                <a:lnTo>
                  <a:pt x="0" y="3534810"/>
                </a:lnTo>
                <a:cubicBezTo>
                  <a:pt x="2402" y="3407978"/>
                  <a:pt x="21463" y="3278501"/>
                  <a:pt x="56896" y="3142342"/>
                </a:cubicBezTo>
                <a:cubicBezTo>
                  <a:pt x="155720" y="2762537"/>
                  <a:pt x="374193" y="2359525"/>
                  <a:pt x="605568" y="1932853"/>
                </a:cubicBezTo>
                <a:cubicBezTo>
                  <a:pt x="648282" y="1854194"/>
                  <a:pt x="692359" y="1772817"/>
                  <a:pt x="736162" y="1690788"/>
                </a:cubicBezTo>
                <a:cubicBezTo>
                  <a:pt x="1128289" y="956620"/>
                  <a:pt x="1429537" y="456850"/>
                  <a:pt x="2021319" y="209863"/>
                </a:cubicBezTo>
                <a:cubicBezTo>
                  <a:pt x="2359453" y="68739"/>
                  <a:pt x="2683541" y="-1956"/>
                  <a:pt x="3008109" y="42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87CE1C1F-C9E2-4C83-BA54-D7BC5D521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52" y="3406833"/>
            <a:ext cx="5724034" cy="3451167"/>
          </a:xfrm>
          <a:custGeom>
            <a:avLst/>
            <a:gdLst>
              <a:gd name="connsiteX0" fmla="*/ 2808622 w 5724034"/>
              <a:gd name="connsiteY0" fmla="*/ 207 h 3451167"/>
              <a:gd name="connsiteX1" fmla="*/ 4400004 w 5724034"/>
              <a:gd name="connsiteY1" fmla="*/ 607462 h 3451167"/>
              <a:gd name="connsiteX2" fmla="*/ 4745277 w 5724034"/>
              <a:gd name="connsiteY2" fmla="*/ 837612 h 3451167"/>
              <a:gd name="connsiteX3" fmla="*/ 5584627 w 5724034"/>
              <a:gd name="connsiteY3" fmla="*/ 1665805 h 3451167"/>
              <a:gd name="connsiteX4" fmla="*/ 5682689 w 5724034"/>
              <a:gd name="connsiteY4" fmla="*/ 1947596 h 3451167"/>
              <a:gd name="connsiteX5" fmla="*/ 5724034 w 5724034"/>
              <a:gd name="connsiteY5" fmla="*/ 2133764 h 3451167"/>
              <a:gd name="connsiteX6" fmla="*/ 5724034 w 5724034"/>
              <a:gd name="connsiteY6" fmla="*/ 3254784 h 3451167"/>
              <a:gd name="connsiteX7" fmla="*/ 5682668 w 5724034"/>
              <a:gd name="connsiteY7" fmla="*/ 3451167 h 3451167"/>
              <a:gd name="connsiteX8" fmla="*/ 3398 w 5724034"/>
              <a:gd name="connsiteY8" fmla="*/ 3451167 h 3451167"/>
              <a:gd name="connsiteX9" fmla="*/ 0 w 5724034"/>
              <a:gd name="connsiteY9" fmla="*/ 3332475 h 3451167"/>
              <a:gd name="connsiteX10" fmla="*/ 51930 w 5724034"/>
              <a:gd name="connsiteY10" fmla="*/ 2960389 h 3451167"/>
              <a:gd name="connsiteX11" fmla="*/ 562146 w 5724034"/>
              <a:gd name="connsiteY11" fmla="*/ 1816544 h 3451167"/>
              <a:gd name="connsiteX12" fmla="*/ 683754 w 5724034"/>
              <a:gd name="connsiteY12" fmla="*/ 1587775 h 3451167"/>
              <a:gd name="connsiteX13" fmla="*/ 1883792 w 5724034"/>
              <a:gd name="connsiteY13" fmla="*/ 191878 h 3451167"/>
              <a:gd name="connsiteX14" fmla="*/ 2808622 w 5724034"/>
              <a:gd name="connsiteY14" fmla="*/ 207 h 345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24034" h="3451167">
                <a:moveTo>
                  <a:pt x="2808622" y="207"/>
                </a:moveTo>
                <a:cubicBezTo>
                  <a:pt x="3316039" y="7471"/>
                  <a:pt x="3825452" y="206405"/>
                  <a:pt x="4400004" y="607462"/>
                </a:cubicBezTo>
                <a:cubicBezTo>
                  <a:pt x="4520314" y="691458"/>
                  <a:pt x="4634691" y="765791"/>
                  <a:pt x="4745277" y="837612"/>
                </a:cubicBezTo>
                <a:cubicBezTo>
                  <a:pt x="5203686" y="1135457"/>
                  <a:pt x="5430786" y="1295036"/>
                  <a:pt x="5584627" y="1665805"/>
                </a:cubicBezTo>
                <a:cubicBezTo>
                  <a:pt x="5622816" y="1757843"/>
                  <a:pt x="5655511" y="1851832"/>
                  <a:pt x="5682689" y="1947596"/>
                </a:cubicBezTo>
                <a:lnTo>
                  <a:pt x="5724034" y="2133764"/>
                </a:lnTo>
                <a:lnTo>
                  <a:pt x="5724034" y="3254784"/>
                </a:lnTo>
                <a:lnTo>
                  <a:pt x="5682668" y="3451167"/>
                </a:lnTo>
                <a:lnTo>
                  <a:pt x="3398" y="3451167"/>
                </a:lnTo>
                <a:lnTo>
                  <a:pt x="0" y="3332475"/>
                </a:lnTo>
                <a:cubicBezTo>
                  <a:pt x="1789" y="3212109"/>
                  <a:pt x="19193" y="3089357"/>
                  <a:pt x="51930" y="2960389"/>
                </a:cubicBezTo>
                <a:cubicBezTo>
                  <a:pt x="143234" y="2600640"/>
                  <a:pt x="346682" y="2219774"/>
                  <a:pt x="562146" y="1816544"/>
                </a:cubicBezTo>
                <a:cubicBezTo>
                  <a:pt x="601922" y="1742209"/>
                  <a:pt x="642967" y="1665303"/>
                  <a:pt x="683754" y="1587775"/>
                </a:cubicBezTo>
                <a:cubicBezTo>
                  <a:pt x="1048876" y="893902"/>
                  <a:pt x="1329611" y="421821"/>
                  <a:pt x="1883792" y="191878"/>
                </a:cubicBezTo>
                <a:cubicBezTo>
                  <a:pt x="2200442" y="60492"/>
                  <a:pt x="2504173" y="-4151"/>
                  <a:pt x="2808622" y="20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31C0CFE-AC9D-4032-8A9F-36B1BA171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38" y="3568843"/>
            <a:ext cx="5185263" cy="3289157"/>
          </a:xfrm>
          <a:custGeom>
            <a:avLst/>
            <a:gdLst>
              <a:gd name="connsiteX0" fmla="*/ 2789606 w 5185263"/>
              <a:gd name="connsiteY0" fmla="*/ 547 h 3289157"/>
              <a:gd name="connsiteX1" fmla="*/ 3615203 w 5185263"/>
              <a:gd name="connsiteY1" fmla="*/ 212024 h 3289157"/>
              <a:gd name="connsiteX2" fmla="*/ 4640523 w 5185263"/>
              <a:gd name="connsiteY2" fmla="*/ 1554014 h 3289157"/>
              <a:gd name="connsiteX3" fmla="*/ 4740928 w 5185263"/>
              <a:gd name="connsiteY3" fmla="*/ 1771262 h 3289157"/>
              <a:gd name="connsiteX4" fmla="*/ 5154813 w 5185263"/>
              <a:gd name="connsiteY4" fmla="*/ 2853998 h 3289157"/>
              <a:gd name="connsiteX5" fmla="*/ 5185263 w 5185263"/>
              <a:gd name="connsiteY5" fmla="*/ 3088987 h 3289157"/>
              <a:gd name="connsiteX6" fmla="*/ 5179508 w 5185263"/>
              <a:gd name="connsiteY6" fmla="*/ 3289157 h 3289157"/>
              <a:gd name="connsiteX7" fmla="*/ 106551 w 5185263"/>
              <a:gd name="connsiteY7" fmla="*/ 3289157 h 3289157"/>
              <a:gd name="connsiteX8" fmla="*/ 64243 w 5185263"/>
              <a:gd name="connsiteY8" fmla="*/ 3124220 h 3289157"/>
              <a:gd name="connsiteX9" fmla="*/ 275 w 5185263"/>
              <a:gd name="connsiteY9" fmla="*/ 2548847 h 3289157"/>
              <a:gd name="connsiteX10" fmla="*/ 221692 w 5185263"/>
              <a:gd name="connsiteY10" fmla="*/ 1451188 h 3289157"/>
              <a:gd name="connsiteX11" fmla="*/ 1011126 w 5185263"/>
              <a:gd name="connsiteY11" fmla="*/ 710513 h 3289157"/>
              <a:gd name="connsiteX12" fmla="*/ 1331439 w 5185263"/>
              <a:gd name="connsiteY12" fmla="*/ 508693 h 3289157"/>
              <a:gd name="connsiteX13" fmla="*/ 2789606 w 5185263"/>
              <a:gd name="connsiteY13" fmla="*/ 547 h 3289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185263" h="3289157">
                <a:moveTo>
                  <a:pt x="2789606" y="547"/>
                </a:moveTo>
                <a:cubicBezTo>
                  <a:pt x="3064091" y="7389"/>
                  <a:pt x="3335164" y="78419"/>
                  <a:pt x="3615203" y="212024"/>
                </a:cubicBezTo>
                <a:cubicBezTo>
                  <a:pt x="4105311" y="445850"/>
                  <a:pt x="4339344" y="895220"/>
                  <a:pt x="4640523" y="1554014"/>
                </a:cubicBezTo>
                <a:cubicBezTo>
                  <a:pt x="4674166" y="1627622"/>
                  <a:pt x="4708067" y="1700661"/>
                  <a:pt x="4740928" y="1771262"/>
                </a:cubicBezTo>
                <a:cubicBezTo>
                  <a:pt x="4918908" y="2154224"/>
                  <a:pt x="5086959" y="2515945"/>
                  <a:pt x="5154813" y="2853998"/>
                </a:cubicBezTo>
                <a:cubicBezTo>
                  <a:pt x="5171032" y="2934791"/>
                  <a:pt x="5181222" y="3012769"/>
                  <a:pt x="5185263" y="3088987"/>
                </a:cubicBezTo>
                <a:lnTo>
                  <a:pt x="5179508" y="3289157"/>
                </a:lnTo>
                <a:lnTo>
                  <a:pt x="106551" y="3289157"/>
                </a:lnTo>
                <a:lnTo>
                  <a:pt x="64243" y="3124220"/>
                </a:lnTo>
                <a:cubicBezTo>
                  <a:pt x="24356" y="2932449"/>
                  <a:pt x="2942" y="2740198"/>
                  <a:pt x="275" y="2548847"/>
                </a:cubicBezTo>
                <a:cubicBezTo>
                  <a:pt x="-5129" y="2157654"/>
                  <a:pt x="69311" y="1788324"/>
                  <a:pt x="221692" y="1451188"/>
                </a:cubicBezTo>
                <a:cubicBezTo>
                  <a:pt x="375157" y="1111655"/>
                  <a:pt x="586167" y="971279"/>
                  <a:pt x="1011126" y="710513"/>
                </a:cubicBezTo>
                <a:cubicBezTo>
                  <a:pt x="1113643" y="647635"/>
                  <a:pt x="1219676" y="582554"/>
                  <a:pt x="1331439" y="508693"/>
                </a:cubicBezTo>
                <a:cubicBezTo>
                  <a:pt x="1865178" y="156035"/>
                  <a:pt x="2332131" y="-10858"/>
                  <a:pt x="2789606" y="547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066C3-E8D3-B52C-BE97-4567AE3E75B9}"/>
              </a:ext>
            </a:extLst>
          </p:cNvPr>
          <p:cNvSpPr txBox="1"/>
          <p:nvPr/>
        </p:nvSpPr>
        <p:spPr>
          <a:xfrm>
            <a:off x="1052121" y="3870285"/>
            <a:ext cx="3848430" cy="2186393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Let’s move to another statistical software (Python)</a:t>
            </a:r>
          </a:p>
        </p:txBody>
      </p:sp>
    </p:spTree>
    <p:extLst>
      <p:ext uri="{BB962C8B-B14F-4D97-AF65-F5344CB8AC3E}">
        <p14:creationId xmlns:p14="http://schemas.microsoft.com/office/powerpoint/2010/main" val="2615296186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7142</TotalTime>
  <Words>305</Words>
  <Application>Microsoft Office PowerPoint</Application>
  <PresentationFormat>Widescreen</PresentationFormat>
  <Paragraphs>50</Paragraphs>
  <Slides>19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Meiryo</vt:lpstr>
      <vt:lpstr>Arial</vt:lpstr>
      <vt:lpstr>Cambria Math</vt:lpstr>
      <vt:lpstr>Corbel</vt:lpstr>
      <vt:lpstr>Helvetica</vt:lpstr>
      <vt:lpstr>SketchLinesVTI</vt:lpstr>
      <vt:lpstr>SPSS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Alonso Diaz</dc:creator>
  <cp:lastModifiedBy>Santiago Alonso Diaz</cp:lastModifiedBy>
  <cp:revision>3</cp:revision>
  <dcterms:created xsi:type="dcterms:W3CDTF">2025-09-05T18:25:55Z</dcterms:created>
  <dcterms:modified xsi:type="dcterms:W3CDTF">2025-09-10T23:00:24Z</dcterms:modified>
</cp:coreProperties>
</file>